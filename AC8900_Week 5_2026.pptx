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5"/>
  </p:notesMasterIdLst>
  <p:sldIdLst>
    <p:sldId id="536" r:id="rId2"/>
    <p:sldId id="506" r:id="rId3"/>
    <p:sldId id="507" r:id="rId4"/>
    <p:sldId id="508" r:id="rId5"/>
    <p:sldId id="511" r:id="rId6"/>
    <p:sldId id="509" r:id="rId7"/>
    <p:sldId id="514" r:id="rId8"/>
    <p:sldId id="515" r:id="rId9"/>
    <p:sldId id="517" r:id="rId10"/>
    <p:sldId id="518" r:id="rId11"/>
    <p:sldId id="519" r:id="rId12"/>
    <p:sldId id="520" r:id="rId13"/>
    <p:sldId id="537"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61" autoAdjust="0"/>
    <p:restoredTop sz="93505" autoAdjust="0"/>
  </p:normalViewPr>
  <p:slideViewPr>
    <p:cSldViewPr snapToGrid="0">
      <p:cViewPr varScale="1">
        <p:scale>
          <a:sx n="83" d="100"/>
          <a:sy n="83" d="100"/>
        </p:scale>
        <p:origin x="86" y="7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CDB3A-FE59-454B-9252-56DD5BFA7268}" type="datetimeFigureOut">
              <a:rPr lang="zh-CN" altLang="en-US" smtClean="0"/>
              <a:t>2026/10/5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2DA79A-8518-4D97-8E7D-2422CFDB39BE}" type="slidenum">
              <a:rPr lang="zh-CN" altLang="en-US" smtClean="0"/>
              <a:t>‹#›</a:t>
            </a:fld>
            <a:endParaRPr lang="zh-CN" altLang="en-US"/>
          </a:p>
        </p:txBody>
      </p:sp>
    </p:spTree>
    <p:extLst>
      <p:ext uri="{BB962C8B-B14F-4D97-AF65-F5344CB8AC3E}">
        <p14:creationId xmlns:p14="http://schemas.microsoft.com/office/powerpoint/2010/main" val="3798423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AF8E5-950E-8D05-F1AD-04E597554A8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3C001BF-BE91-6D41-059F-610E677B5B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AC541B5-0248-3C37-3F08-6265AA466A45}"/>
              </a:ext>
            </a:extLst>
          </p:cNvPr>
          <p:cNvSpPr>
            <a:spLocks noGrp="1"/>
          </p:cNvSpPr>
          <p:nvPr>
            <p:ph type="dt" sz="half" idx="10"/>
          </p:nvPr>
        </p:nvSpPr>
        <p:spPr/>
        <p:txBody>
          <a:bodyPr/>
          <a:lstStyle/>
          <a:p>
            <a:fld id="{6E807C96-1B00-4843-93DA-9776290FD1B0}" type="datetime1">
              <a:rPr lang="zh-CN" altLang="en-US" smtClean="0"/>
              <a:t>2026/10/5</a:t>
            </a:fld>
            <a:endParaRPr lang="zh-CN" altLang="en-US"/>
          </a:p>
        </p:txBody>
      </p:sp>
      <p:sp>
        <p:nvSpPr>
          <p:cNvPr id="5" name="页脚占位符 4">
            <a:extLst>
              <a:ext uri="{FF2B5EF4-FFF2-40B4-BE49-F238E27FC236}">
                <a16:creationId xmlns:a16="http://schemas.microsoft.com/office/drawing/2014/main" id="{8B2BF54E-797F-CECA-1E44-5DC77CB91B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E6BF6B8-4263-4EB2-3A9C-DBE0874501E8}"/>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375842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03ABE-2716-F60D-CCF4-686518571922}"/>
              </a:ext>
            </a:extLst>
          </p:cNvPr>
          <p:cNvSpPr>
            <a:spLocks noGrp="1"/>
          </p:cNvSpPr>
          <p:nvPr>
            <p:ph type="title" hasCustomPrompt="1"/>
          </p:nvPr>
        </p:nvSpPr>
        <p:spPr/>
        <p:txBody>
          <a:bodyPr/>
          <a:lstStyle>
            <a:lvl1pPr>
              <a:defRPr>
                <a:latin typeface="Century Schoolbook" panose="02040604050505020304" pitchFamily="18" charset="0"/>
                <a:ea typeface="+mj-ea"/>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54EDE80D-4584-2829-C0E0-01DC923E67D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3FC4E90-296F-754A-3429-A4B8A6273BE0}"/>
              </a:ext>
            </a:extLst>
          </p:cNvPr>
          <p:cNvSpPr>
            <a:spLocks noGrp="1"/>
          </p:cNvSpPr>
          <p:nvPr>
            <p:ph type="dt" sz="half" idx="10"/>
          </p:nvPr>
        </p:nvSpPr>
        <p:spPr/>
        <p:txBody>
          <a:bodyPr/>
          <a:lstStyle/>
          <a:p>
            <a:fld id="{5F095013-FAFA-4996-A6F8-1F75D307863F}" type="datetime1">
              <a:rPr lang="zh-CN" altLang="en-US" smtClean="0"/>
              <a:t>2026/10/5</a:t>
            </a:fld>
            <a:endParaRPr lang="zh-CN" altLang="en-US"/>
          </a:p>
        </p:txBody>
      </p:sp>
      <p:sp>
        <p:nvSpPr>
          <p:cNvPr id="5" name="页脚占位符 4">
            <a:extLst>
              <a:ext uri="{FF2B5EF4-FFF2-40B4-BE49-F238E27FC236}">
                <a16:creationId xmlns:a16="http://schemas.microsoft.com/office/drawing/2014/main" id="{3256496B-208A-DC7A-689F-B50B0E940CB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D182A5-68E2-8619-08B1-A137D4D065E0}"/>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505144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2015-A9DB-C5BD-AED1-2F4BD76EFAB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367D0ED-6DBD-1241-4EA2-83C24C70C1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AF94B6-4847-F29C-4437-C01A11BB2AED}"/>
              </a:ext>
            </a:extLst>
          </p:cNvPr>
          <p:cNvSpPr>
            <a:spLocks noGrp="1"/>
          </p:cNvSpPr>
          <p:nvPr>
            <p:ph type="dt" sz="half" idx="10"/>
          </p:nvPr>
        </p:nvSpPr>
        <p:spPr/>
        <p:txBody>
          <a:bodyPr/>
          <a:lstStyle/>
          <a:p>
            <a:fld id="{C5DA246F-282B-4AC5-B038-E15D3F4BC62A}" type="datetime1">
              <a:rPr lang="zh-CN" altLang="en-US" smtClean="0"/>
              <a:t>2026/10/5</a:t>
            </a:fld>
            <a:endParaRPr lang="zh-CN" altLang="en-US"/>
          </a:p>
        </p:txBody>
      </p:sp>
      <p:sp>
        <p:nvSpPr>
          <p:cNvPr id="5" name="页脚占位符 4">
            <a:extLst>
              <a:ext uri="{FF2B5EF4-FFF2-40B4-BE49-F238E27FC236}">
                <a16:creationId xmlns:a16="http://schemas.microsoft.com/office/drawing/2014/main" id="{9E383F9A-6379-FB6D-45E9-A33A7FB8AF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E76AD8-0F76-F8C3-0069-FAF821FC60E8}"/>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593737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CF16F9-7CF8-A31C-2977-732E8683CC1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423127B-BDBF-1F75-88DC-4B9EF35E66F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747B01-8A60-327E-51CC-5E9D648B029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B49217-035F-F370-58DB-83986EB769ED}"/>
              </a:ext>
            </a:extLst>
          </p:cNvPr>
          <p:cNvSpPr>
            <a:spLocks noGrp="1"/>
          </p:cNvSpPr>
          <p:nvPr>
            <p:ph type="dt" sz="half" idx="10"/>
          </p:nvPr>
        </p:nvSpPr>
        <p:spPr/>
        <p:txBody>
          <a:bodyPr/>
          <a:lstStyle/>
          <a:p>
            <a:fld id="{CEC318EE-E09B-4F85-A11A-87FC565B6F76}" type="datetime1">
              <a:rPr lang="zh-CN" altLang="en-US" smtClean="0"/>
              <a:t>2026/10/5</a:t>
            </a:fld>
            <a:endParaRPr lang="zh-CN" altLang="en-US"/>
          </a:p>
        </p:txBody>
      </p:sp>
      <p:sp>
        <p:nvSpPr>
          <p:cNvPr id="6" name="页脚占位符 5">
            <a:extLst>
              <a:ext uri="{FF2B5EF4-FFF2-40B4-BE49-F238E27FC236}">
                <a16:creationId xmlns:a16="http://schemas.microsoft.com/office/drawing/2014/main" id="{BC4F95D7-F535-F7DE-DBC0-86D4EF95634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6769DEA-8A46-3A98-D12E-F75D99B5749D}"/>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88937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4590F8-C2CD-119B-222C-FF42EC96D33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B84F08D-0E1E-7161-4A6F-35249BCFB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046C6C1-5FE4-E211-985B-921646CB361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3D214AA-EBD7-2039-AC7C-CED9B77A64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505F303-336A-1BB1-BAC1-49BA6C53418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3246AF0-1769-6A76-15A5-A7A378D98011}"/>
              </a:ext>
            </a:extLst>
          </p:cNvPr>
          <p:cNvSpPr>
            <a:spLocks noGrp="1"/>
          </p:cNvSpPr>
          <p:nvPr>
            <p:ph type="dt" sz="half" idx="10"/>
          </p:nvPr>
        </p:nvSpPr>
        <p:spPr/>
        <p:txBody>
          <a:bodyPr/>
          <a:lstStyle/>
          <a:p>
            <a:fld id="{26683FC8-A041-48FA-808C-CE8E042B67DD}" type="datetime1">
              <a:rPr lang="zh-CN" altLang="en-US" smtClean="0"/>
              <a:t>2026/10/5</a:t>
            </a:fld>
            <a:endParaRPr lang="zh-CN" altLang="en-US"/>
          </a:p>
        </p:txBody>
      </p:sp>
      <p:sp>
        <p:nvSpPr>
          <p:cNvPr id="8" name="页脚占位符 7">
            <a:extLst>
              <a:ext uri="{FF2B5EF4-FFF2-40B4-BE49-F238E27FC236}">
                <a16:creationId xmlns:a16="http://schemas.microsoft.com/office/drawing/2014/main" id="{C6024905-1D33-213C-5386-082E165434B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417AF8C-C9EF-9258-87F0-8C4BA9C623E2}"/>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3751446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3A7353-97B6-6E96-210C-17E88427366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F1F8CCC-A2A9-6BA4-EC22-A618D9DEC433}"/>
              </a:ext>
            </a:extLst>
          </p:cNvPr>
          <p:cNvSpPr>
            <a:spLocks noGrp="1"/>
          </p:cNvSpPr>
          <p:nvPr>
            <p:ph type="dt" sz="half" idx="10"/>
          </p:nvPr>
        </p:nvSpPr>
        <p:spPr/>
        <p:txBody>
          <a:bodyPr/>
          <a:lstStyle/>
          <a:p>
            <a:fld id="{2AD727EC-4A1D-4900-95E7-13F2A953FD4A}" type="datetime1">
              <a:rPr lang="zh-CN" altLang="en-US" smtClean="0"/>
              <a:t>2026/10/5</a:t>
            </a:fld>
            <a:endParaRPr lang="zh-CN" altLang="en-US"/>
          </a:p>
        </p:txBody>
      </p:sp>
      <p:sp>
        <p:nvSpPr>
          <p:cNvPr id="4" name="页脚占位符 3">
            <a:extLst>
              <a:ext uri="{FF2B5EF4-FFF2-40B4-BE49-F238E27FC236}">
                <a16:creationId xmlns:a16="http://schemas.microsoft.com/office/drawing/2014/main" id="{8CE6B241-992A-787E-6BBA-08093DC518C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2B192DE-3F6C-F363-25F0-E21F63586953}"/>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7234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EC1604-6D29-96D8-BE53-045B3C9629DC}"/>
              </a:ext>
            </a:extLst>
          </p:cNvPr>
          <p:cNvSpPr>
            <a:spLocks noGrp="1"/>
          </p:cNvSpPr>
          <p:nvPr>
            <p:ph type="dt" sz="half" idx="10"/>
          </p:nvPr>
        </p:nvSpPr>
        <p:spPr/>
        <p:txBody>
          <a:bodyPr/>
          <a:lstStyle/>
          <a:p>
            <a:fld id="{E024DACF-18DB-4078-841D-53DE697B8835}" type="datetime1">
              <a:rPr lang="zh-CN" altLang="en-US" smtClean="0"/>
              <a:t>2026/10/5</a:t>
            </a:fld>
            <a:endParaRPr lang="zh-CN" altLang="en-US"/>
          </a:p>
        </p:txBody>
      </p:sp>
      <p:sp>
        <p:nvSpPr>
          <p:cNvPr id="3" name="页脚占位符 2">
            <a:extLst>
              <a:ext uri="{FF2B5EF4-FFF2-40B4-BE49-F238E27FC236}">
                <a16:creationId xmlns:a16="http://schemas.microsoft.com/office/drawing/2014/main" id="{8268A4A1-8B9F-21BF-38C6-F6FB9DE27F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3B7490E-A9A0-5D21-115C-A5B6EE6E32FF}"/>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22221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A19D8A-2E16-D969-FCAF-2FEC91F58FB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91F66DA-BF7F-468D-F35E-A71C2A559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87DCAA3-70AF-342A-47AA-E164EB018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AC662B-295C-7E40-D0FB-669BC4458735}"/>
              </a:ext>
            </a:extLst>
          </p:cNvPr>
          <p:cNvSpPr>
            <a:spLocks noGrp="1"/>
          </p:cNvSpPr>
          <p:nvPr>
            <p:ph type="dt" sz="half" idx="10"/>
          </p:nvPr>
        </p:nvSpPr>
        <p:spPr/>
        <p:txBody>
          <a:bodyPr/>
          <a:lstStyle/>
          <a:p>
            <a:fld id="{5AE4D780-48C9-4A78-9734-20FDE0701464}" type="datetime1">
              <a:rPr lang="zh-CN" altLang="en-US" smtClean="0"/>
              <a:t>2026/10/5</a:t>
            </a:fld>
            <a:endParaRPr lang="zh-CN" altLang="en-US"/>
          </a:p>
        </p:txBody>
      </p:sp>
      <p:sp>
        <p:nvSpPr>
          <p:cNvPr id="6" name="页脚占位符 5">
            <a:extLst>
              <a:ext uri="{FF2B5EF4-FFF2-40B4-BE49-F238E27FC236}">
                <a16:creationId xmlns:a16="http://schemas.microsoft.com/office/drawing/2014/main" id="{14E75EC8-E794-9A65-B963-273A4DA8C3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6987F22-1D1F-D6CC-55AA-CA1E3FDB6FAB}"/>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70126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F17376-E363-BE75-1A46-93CDB424833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FE9ED85-F876-3506-EE52-43B8BCBCBB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CCA28F8-6CBD-CB2A-4B0A-1B84000880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09FBE1-11F2-5D1F-5050-74F49BE9423D}"/>
              </a:ext>
            </a:extLst>
          </p:cNvPr>
          <p:cNvSpPr>
            <a:spLocks noGrp="1"/>
          </p:cNvSpPr>
          <p:nvPr>
            <p:ph type="dt" sz="half" idx="10"/>
          </p:nvPr>
        </p:nvSpPr>
        <p:spPr/>
        <p:txBody>
          <a:bodyPr/>
          <a:lstStyle/>
          <a:p>
            <a:fld id="{B3D856DB-DE9B-4D41-959E-311105BC9F15}" type="datetime1">
              <a:rPr lang="zh-CN" altLang="en-US" smtClean="0"/>
              <a:t>2026/10/5</a:t>
            </a:fld>
            <a:endParaRPr lang="zh-CN" altLang="en-US"/>
          </a:p>
        </p:txBody>
      </p:sp>
      <p:sp>
        <p:nvSpPr>
          <p:cNvPr id="6" name="页脚占位符 5">
            <a:extLst>
              <a:ext uri="{FF2B5EF4-FFF2-40B4-BE49-F238E27FC236}">
                <a16:creationId xmlns:a16="http://schemas.microsoft.com/office/drawing/2014/main" id="{9A8A5285-6A52-553A-ACF2-D60EF0DE6C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80A81E-D540-66B1-93EC-F8490B0FEBD2}"/>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621944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92E624-E2F3-1C9A-D3B3-91DE9B75511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41BDFDD-AF68-0F24-6A93-49859CD47C3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F4C5F0B-7E74-4DC7-F9C5-6C31720F0D14}"/>
              </a:ext>
            </a:extLst>
          </p:cNvPr>
          <p:cNvSpPr>
            <a:spLocks noGrp="1"/>
          </p:cNvSpPr>
          <p:nvPr>
            <p:ph type="dt" sz="half" idx="10"/>
          </p:nvPr>
        </p:nvSpPr>
        <p:spPr/>
        <p:txBody>
          <a:bodyPr/>
          <a:lstStyle/>
          <a:p>
            <a:fld id="{8DF4875F-1CC6-4F12-ABE4-89166A465654}" type="datetime1">
              <a:rPr lang="zh-CN" altLang="en-US" smtClean="0"/>
              <a:t>2026/10/5</a:t>
            </a:fld>
            <a:endParaRPr lang="zh-CN" altLang="en-US"/>
          </a:p>
        </p:txBody>
      </p:sp>
      <p:sp>
        <p:nvSpPr>
          <p:cNvPr id="5" name="页脚占位符 4">
            <a:extLst>
              <a:ext uri="{FF2B5EF4-FFF2-40B4-BE49-F238E27FC236}">
                <a16:creationId xmlns:a16="http://schemas.microsoft.com/office/drawing/2014/main" id="{3632DD33-CCB5-BD84-1823-5A503B95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AECEE8-FAA4-AC6B-81D1-2F2FC2FFBE93}"/>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523764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473442-FD9F-20F9-D423-EBE5FF2C99C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478F7D4-92A6-76D3-0A88-6C45503E079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6E421C-0CB4-301C-08D0-59C03300DD19}"/>
              </a:ext>
            </a:extLst>
          </p:cNvPr>
          <p:cNvSpPr>
            <a:spLocks noGrp="1"/>
          </p:cNvSpPr>
          <p:nvPr>
            <p:ph type="dt" sz="half" idx="10"/>
          </p:nvPr>
        </p:nvSpPr>
        <p:spPr/>
        <p:txBody>
          <a:bodyPr/>
          <a:lstStyle/>
          <a:p>
            <a:fld id="{8BE3E932-BECE-42A3-9851-95B1F01952DC}" type="datetime1">
              <a:rPr lang="zh-CN" altLang="en-US" smtClean="0"/>
              <a:t>2026/10/5</a:t>
            </a:fld>
            <a:endParaRPr lang="zh-CN" altLang="en-US"/>
          </a:p>
        </p:txBody>
      </p:sp>
      <p:sp>
        <p:nvSpPr>
          <p:cNvPr id="5" name="页脚占位符 4">
            <a:extLst>
              <a:ext uri="{FF2B5EF4-FFF2-40B4-BE49-F238E27FC236}">
                <a16:creationId xmlns:a16="http://schemas.microsoft.com/office/drawing/2014/main" id="{79EA325C-ADAC-EFFE-A684-98278D2DDE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DCA15B-E99C-5FAD-0E5E-90E3DE74B525}"/>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863021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49FEDB4-D24A-D053-B174-08C6866C18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zh-CN" altLang="en-US" dirty="0"/>
          </a:p>
        </p:txBody>
      </p:sp>
      <p:sp>
        <p:nvSpPr>
          <p:cNvPr id="3" name="文本占位符 2">
            <a:extLst>
              <a:ext uri="{FF2B5EF4-FFF2-40B4-BE49-F238E27FC236}">
                <a16:creationId xmlns:a16="http://schemas.microsoft.com/office/drawing/2014/main" id="{558B83C5-7A07-2A5A-1F05-47DA1B865E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zh-CN" altLang="en-US" dirty="0"/>
          </a:p>
        </p:txBody>
      </p:sp>
      <p:sp>
        <p:nvSpPr>
          <p:cNvPr id="4" name="日期占位符 3">
            <a:extLst>
              <a:ext uri="{FF2B5EF4-FFF2-40B4-BE49-F238E27FC236}">
                <a16:creationId xmlns:a16="http://schemas.microsoft.com/office/drawing/2014/main" id="{36C5B602-C58B-125C-B0F7-FE8D13927C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0D7607-91AE-4D36-ABF6-34B5F509E9BA}" type="datetime1">
              <a:rPr lang="zh-CN" altLang="en-US" smtClean="0"/>
              <a:t>2026/10/5</a:t>
            </a:fld>
            <a:endParaRPr lang="zh-CN" altLang="en-US"/>
          </a:p>
        </p:txBody>
      </p:sp>
      <p:sp>
        <p:nvSpPr>
          <p:cNvPr id="5" name="页脚占位符 4">
            <a:extLst>
              <a:ext uri="{FF2B5EF4-FFF2-40B4-BE49-F238E27FC236}">
                <a16:creationId xmlns:a16="http://schemas.microsoft.com/office/drawing/2014/main" id="{C7659421-F9E4-C409-345F-BF40647755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3C788FF-D1B0-D606-854D-77FD64E14A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78BC13-B753-4634-A5F7-9F4F7C9ECC5F}" type="slidenum">
              <a:rPr lang="zh-CN" altLang="en-US" smtClean="0"/>
              <a:t>‹#›</a:t>
            </a:fld>
            <a:endParaRPr lang="zh-CN" altLang="en-US"/>
          </a:p>
        </p:txBody>
      </p:sp>
      <p:pic>
        <p:nvPicPr>
          <p:cNvPr id="7" name="Google Shape;66;p14">
            <a:extLst>
              <a:ext uri="{FF2B5EF4-FFF2-40B4-BE49-F238E27FC236}">
                <a16:creationId xmlns:a16="http://schemas.microsoft.com/office/drawing/2014/main" id="{31B9E400-573C-4C14-D997-522C8F8B5466}"/>
              </a:ext>
            </a:extLst>
          </p:cNvPr>
          <p:cNvPicPr preferRelativeResize="0"/>
          <p:nvPr userDrawn="1"/>
        </p:nvPicPr>
        <p:blipFill rotWithShape="1">
          <a:blip r:embed="rId13">
            <a:alphaModFix/>
          </a:blip>
          <a:srcRect/>
          <a:stretch/>
        </p:blipFill>
        <p:spPr>
          <a:xfrm>
            <a:off x="8926725" y="86421"/>
            <a:ext cx="3005534" cy="715037"/>
          </a:xfrm>
          <a:prstGeom prst="rect">
            <a:avLst/>
          </a:prstGeom>
          <a:noFill/>
          <a:ln>
            <a:noFill/>
          </a:ln>
        </p:spPr>
      </p:pic>
    </p:spTree>
    <p:extLst>
      <p:ext uri="{BB962C8B-B14F-4D97-AF65-F5344CB8AC3E}">
        <p14:creationId xmlns:p14="http://schemas.microsoft.com/office/powerpoint/2010/main" val="3459532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Century Schoolbook" panose="020406040505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Schoolbook" panose="020406040505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Schoolbook" panose="020406040505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Schoolbook" panose="020406040505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Schoolbook" panose="020406040505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Schoolbook" panose="020406040505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A1678161-9BED-4F29-94F3-A403FCC37B8F}"/>
              </a:ext>
            </a:extLst>
          </p:cNvPr>
          <p:cNvSpPr txBox="1"/>
          <p:nvPr/>
        </p:nvSpPr>
        <p:spPr>
          <a:xfrm>
            <a:off x="2757984" y="1605174"/>
            <a:ext cx="7920880" cy="523220"/>
          </a:xfrm>
          <a:prstGeom prst="rect">
            <a:avLst/>
          </a:prstGeom>
          <a:noFill/>
        </p:spPr>
        <p:txBody>
          <a:bodyPr wrap="square">
            <a:spAutoFit/>
          </a:bodyPr>
          <a:lstStyle/>
          <a:p>
            <a:pPr algn="ctr"/>
            <a:r>
              <a:rPr lang="en-US" altLang="zh-CN" sz="2800" b="1" dirty="0">
                <a:latin typeface="Century Schoolbook" panose="02040604050505020304" pitchFamily="18" charset="0"/>
              </a:rPr>
              <a:t>Week 5: Internal Control Quality</a:t>
            </a:r>
            <a:endParaRPr lang="zh-CN" altLang="en-US" sz="2800" b="1" dirty="0">
              <a:latin typeface="Century Schoolbook" panose="02040604050505020304" pitchFamily="18" charset="0"/>
            </a:endParaRPr>
          </a:p>
        </p:txBody>
      </p:sp>
      <p:sp>
        <p:nvSpPr>
          <p:cNvPr id="11" name="文本框 10">
            <a:extLst>
              <a:ext uri="{FF2B5EF4-FFF2-40B4-BE49-F238E27FC236}">
                <a16:creationId xmlns:a16="http://schemas.microsoft.com/office/drawing/2014/main" id="{7676D187-D426-44F8-A333-69F37245056A}"/>
              </a:ext>
            </a:extLst>
          </p:cNvPr>
          <p:cNvSpPr txBox="1"/>
          <p:nvPr/>
        </p:nvSpPr>
        <p:spPr>
          <a:xfrm>
            <a:off x="1307306" y="3234404"/>
            <a:ext cx="9144000" cy="1754326"/>
          </a:xfrm>
          <a:prstGeom prst="rect">
            <a:avLst/>
          </a:prstGeom>
          <a:noFill/>
        </p:spPr>
        <p:txBody>
          <a:bodyPr wrap="square">
            <a:spAutoFit/>
          </a:bodyPr>
          <a:lstStyle/>
          <a:p>
            <a:pPr algn="ctr"/>
            <a:r>
              <a:rPr lang="en-US" altLang="zh-CN" dirty="0">
                <a:latin typeface="Century Schoolbook" panose="02040604050505020304" pitchFamily="18" charset="0"/>
              </a:rPr>
              <a:t>Dr Zheng Wang</a:t>
            </a:r>
          </a:p>
          <a:p>
            <a:pPr algn="ctr"/>
            <a:endParaRPr lang="en-US" altLang="zh-CN" dirty="0">
              <a:latin typeface="Century Schoolbook" panose="02040604050505020304" pitchFamily="18" charset="0"/>
            </a:endParaRPr>
          </a:p>
          <a:p>
            <a:pPr algn="ctr"/>
            <a:r>
              <a:rPr lang="en-US" altLang="zh-CN" dirty="0">
                <a:latin typeface="Century Schoolbook" panose="02040604050505020304" pitchFamily="18" charset="0"/>
              </a:rPr>
              <a:t>AC8900</a:t>
            </a:r>
          </a:p>
          <a:p>
            <a:pPr algn="ctr"/>
            <a:r>
              <a:rPr lang="en-US" altLang="zh-CN" dirty="0">
                <a:latin typeface="Century Schoolbook" panose="02040604050505020304" pitchFamily="18" charset="0"/>
              </a:rPr>
              <a:t>Semester A 2026/2027</a:t>
            </a:r>
          </a:p>
          <a:p>
            <a:pPr algn="ctr"/>
            <a:endParaRPr lang="en-US" altLang="zh-CN" dirty="0">
              <a:latin typeface="Century Schoolbook" panose="02040604050505020304" pitchFamily="18" charset="0"/>
            </a:endParaRPr>
          </a:p>
          <a:p>
            <a:pPr algn="ctr"/>
            <a:endParaRPr lang="en-US" altLang="zh-CN" dirty="0">
              <a:latin typeface="Century Schoolbook" panose="02040604050505020304" pitchFamily="18" charset="0"/>
            </a:endParaRPr>
          </a:p>
        </p:txBody>
      </p:sp>
      <p:sp>
        <p:nvSpPr>
          <p:cNvPr id="3" name="Date Placeholder 2">
            <a:extLst>
              <a:ext uri="{FF2B5EF4-FFF2-40B4-BE49-F238E27FC236}">
                <a16:creationId xmlns:a16="http://schemas.microsoft.com/office/drawing/2014/main" id="{1E675BC2-5E82-4461-8CE7-B909ABD01D5C}"/>
              </a:ext>
            </a:extLst>
          </p:cNvPr>
          <p:cNvSpPr>
            <a:spLocks noGrp="1"/>
          </p:cNvSpPr>
          <p:nvPr>
            <p:ph type="dt" sz="half" idx="10"/>
          </p:nvPr>
        </p:nvSpPr>
        <p:spPr/>
        <p:txBody>
          <a:bodyPr/>
          <a:lstStyle/>
          <a:p>
            <a:pPr lvl="0" eaLnBrk="1" hangingPunct="1">
              <a:buNone/>
            </a:pPr>
            <a:fld id="{71C52769-6B22-46DD-9153-0353FF374DBB}" type="datetime1">
              <a:rPr lang="en-US" smtClean="0">
                <a:latin typeface="Calibri" panose="020F0502020204030204" pitchFamily="34" charset="0"/>
                <a:ea typeface="PMingLiU" panose="02020500000000000000" pitchFamily="18" charset="-120"/>
                <a:cs typeface="Arial" panose="020B0604020202020204" pitchFamily="34" charset="0"/>
              </a:rPr>
              <a:t>10/5/2026</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
        <p:nvSpPr>
          <p:cNvPr id="4" name="Slide Number Placeholder 3">
            <a:extLst>
              <a:ext uri="{FF2B5EF4-FFF2-40B4-BE49-F238E27FC236}">
                <a16:creationId xmlns:a16="http://schemas.microsoft.com/office/drawing/2014/main" id="{A9880582-84BC-41AD-B560-8417D6BA4DFA}"/>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69336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303EE-7D9B-9C2D-B65B-743A5873826D}"/>
              </a:ext>
            </a:extLst>
          </p:cNvPr>
          <p:cNvSpPr>
            <a:spLocks noGrp="1"/>
          </p:cNvSpPr>
          <p:nvPr>
            <p:ph type="title"/>
          </p:nvPr>
        </p:nvSpPr>
        <p:spPr/>
        <p:txBody>
          <a:bodyPr/>
          <a:lstStyle/>
          <a:p>
            <a:r>
              <a:rPr lang="en-US" dirty="0"/>
              <a:t>Internal Control Weakness</a:t>
            </a:r>
          </a:p>
        </p:txBody>
      </p:sp>
      <p:sp>
        <p:nvSpPr>
          <p:cNvPr id="3" name="Content Placeholder 2">
            <a:extLst>
              <a:ext uri="{FF2B5EF4-FFF2-40B4-BE49-F238E27FC236}">
                <a16:creationId xmlns:a16="http://schemas.microsoft.com/office/drawing/2014/main" id="{565DC0A4-F634-7561-1230-73E3EF345A34}"/>
              </a:ext>
            </a:extLst>
          </p:cNvPr>
          <p:cNvSpPr>
            <a:spLocks noGrp="1"/>
          </p:cNvSpPr>
          <p:nvPr>
            <p:ph idx="1"/>
          </p:nvPr>
        </p:nvSpPr>
        <p:spPr/>
        <p:txBody>
          <a:bodyPr/>
          <a:lstStyle/>
          <a:p>
            <a:r>
              <a:rPr lang="en-HK" dirty="0">
                <a:effectLst/>
              </a:rPr>
              <a:t>The U.S. Congress passed the Sarbanes-Oxley Act (SOX) in July 2002. Section 404 of SOX (SOX 404) requires company management to assess the effectiveness of internal controls over financial reporting and to provide periodic auditor-attested evaluations of internal control effectiveness. </a:t>
            </a:r>
          </a:p>
          <a:p>
            <a:r>
              <a:rPr lang="en-HK" dirty="0">
                <a:effectLst/>
              </a:rPr>
              <a:t>The major rationale behind this requirement is that lack of adequate internal controls </a:t>
            </a:r>
            <a:r>
              <a:rPr lang="en-HK" b="1" dirty="0">
                <a:effectLst/>
              </a:rPr>
              <a:t>leads to poor financial reporting and increases information risk, which in turn increases the cost of external financing </a:t>
            </a:r>
            <a:r>
              <a:rPr lang="en-HK" dirty="0">
                <a:effectLst/>
              </a:rPr>
              <a:t>(e.g., </a:t>
            </a:r>
            <a:r>
              <a:rPr lang="en-HK" dirty="0">
                <a:solidFill>
                  <a:srgbClr val="0000FF"/>
                </a:solidFill>
                <a:effectLst/>
              </a:rPr>
              <a:t>U.S. House of Representatives 2005)</a:t>
            </a:r>
            <a:r>
              <a:rPr lang="en-HK" dirty="0">
                <a:effectLst/>
              </a:rPr>
              <a:t>. </a:t>
            </a:r>
          </a:p>
          <a:p>
            <a:endParaRPr lang="en-HK" dirty="0">
              <a:effectLst/>
            </a:endParaRPr>
          </a:p>
          <a:p>
            <a:endParaRPr lang="en-HK" dirty="0"/>
          </a:p>
          <a:p>
            <a:endParaRPr lang="en-US" dirty="0"/>
          </a:p>
        </p:txBody>
      </p:sp>
      <p:sp>
        <p:nvSpPr>
          <p:cNvPr id="4" name="Date Placeholder 3">
            <a:extLst>
              <a:ext uri="{FF2B5EF4-FFF2-40B4-BE49-F238E27FC236}">
                <a16:creationId xmlns:a16="http://schemas.microsoft.com/office/drawing/2014/main" id="{6018B749-C6B1-948E-1A61-41CA7FAA2353}"/>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B642A610-BAB5-D94A-0C96-1D6B320C98B1}"/>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45614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7AC2-B66A-C536-8AD2-205DF9A684E9}"/>
              </a:ext>
            </a:extLst>
          </p:cNvPr>
          <p:cNvSpPr>
            <a:spLocks noGrp="1"/>
          </p:cNvSpPr>
          <p:nvPr>
            <p:ph type="title"/>
          </p:nvPr>
        </p:nvSpPr>
        <p:spPr/>
        <p:txBody>
          <a:bodyPr/>
          <a:lstStyle/>
          <a:p>
            <a:r>
              <a:rPr lang="en-US" dirty="0"/>
              <a:t>Researches on Internal Control Weakness</a:t>
            </a:r>
          </a:p>
        </p:txBody>
      </p:sp>
      <p:sp>
        <p:nvSpPr>
          <p:cNvPr id="3" name="Content Placeholder 2">
            <a:extLst>
              <a:ext uri="{FF2B5EF4-FFF2-40B4-BE49-F238E27FC236}">
                <a16:creationId xmlns:a16="http://schemas.microsoft.com/office/drawing/2014/main" id="{412036C2-8561-874F-218E-7E3CD034658A}"/>
              </a:ext>
            </a:extLst>
          </p:cNvPr>
          <p:cNvSpPr>
            <a:spLocks noGrp="1"/>
          </p:cNvSpPr>
          <p:nvPr>
            <p:ph idx="1"/>
          </p:nvPr>
        </p:nvSpPr>
        <p:spPr>
          <a:xfrm>
            <a:off x="995680" y="1830387"/>
            <a:ext cx="8229600" cy="4525963"/>
          </a:xfrm>
        </p:spPr>
        <p:txBody>
          <a:bodyPr>
            <a:normAutofit lnSpcReduction="10000"/>
          </a:bodyPr>
          <a:lstStyle/>
          <a:p>
            <a:r>
              <a:rPr lang="en-HK" dirty="0"/>
              <a:t>Direct effect on financial reporting quality:</a:t>
            </a:r>
          </a:p>
          <a:p>
            <a:pPr lvl="1"/>
            <a:r>
              <a:rPr lang="en-HK" dirty="0"/>
              <a:t>e</a:t>
            </a:r>
            <a:r>
              <a:rPr lang="en-HK" dirty="0">
                <a:effectLst/>
              </a:rPr>
              <a:t>.g. accrual quality (</a:t>
            </a:r>
            <a:r>
              <a:rPr lang="en-US" sz="1800" dirty="0">
                <a:solidFill>
                  <a:srgbClr val="000000"/>
                </a:solidFill>
                <a:ea typeface="SimSun" panose="02010600030101010101" pitchFamily="2" charset="-122"/>
              </a:rPr>
              <a:t>Doyle, J. T., W. Ge, and S. </a:t>
            </a:r>
            <a:r>
              <a:rPr lang="en-US" sz="1800" dirty="0" err="1">
                <a:solidFill>
                  <a:srgbClr val="000000"/>
                </a:solidFill>
                <a:ea typeface="SimSun" panose="02010600030101010101" pitchFamily="2" charset="-122"/>
              </a:rPr>
              <a:t>McVay</a:t>
            </a:r>
            <a:r>
              <a:rPr lang="en-US" sz="1800" dirty="0">
                <a:solidFill>
                  <a:srgbClr val="000000"/>
                </a:solidFill>
                <a:ea typeface="SimSun" panose="02010600030101010101" pitchFamily="2" charset="-122"/>
              </a:rPr>
              <a:t>. 2007a</a:t>
            </a:r>
            <a:r>
              <a:rPr lang="en-HK" sz="1800" dirty="0">
                <a:solidFill>
                  <a:srgbClr val="000000"/>
                </a:solidFill>
                <a:ea typeface="SimSun" panose="02010600030101010101" pitchFamily="2" charset="-122"/>
              </a:rPr>
              <a:t>);</a:t>
            </a:r>
            <a:r>
              <a:rPr lang="en-HK" dirty="0">
                <a:solidFill>
                  <a:srgbClr val="000000"/>
                </a:solidFill>
                <a:ea typeface="SimSun" panose="02010600030101010101" pitchFamily="2" charset="-122"/>
              </a:rPr>
              <a:t> conservatism (e.g., </a:t>
            </a:r>
            <a:r>
              <a:rPr lang="en-US" sz="1800" dirty="0">
                <a:ea typeface="SimSun" panose="02010600030101010101" pitchFamily="2" charset="-122"/>
              </a:rPr>
              <a:t>Goh, B. W., and D. Li. 2011). </a:t>
            </a:r>
            <a:endParaRPr lang="en-HK" dirty="0">
              <a:effectLst/>
              <a:ea typeface="SimSun" panose="02010600030101010101" pitchFamily="2" charset="-122"/>
            </a:endParaRPr>
          </a:p>
          <a:p>
            <a:endParaRPr lang="en-HK" dirty="0">
              <a:ea typeface="SimSun" panose="02010600030101010101" pitchFamily="2" charset="-122"/>
            </a:endParaRPr>
          </a:p>
          <a:p>
            <a:r>
              <a:rPr lang="en-HK" dirty="0">
                <a:ea typeface="SimSun" panose="02010600030101010101" pitchFamily="2" charset="-122"/>
              </a:rPr>
              <a:t>Direct effect on auditing:</a:t>
            </a:r>
          </a:p>
          <a:p>
            <a:pPr lvl="1"/>
            <a:r>
              <a:rPr lang="en-US" dirty="0">
                <a:effectLst/>
                <a:ea typeface="SimSun" panose="02010600030101010101" pitchFamily="2" charset="-122"/>
              </a:rPr>
              <a:t>Audit delay (</a:t>
            </a:r>
            <a:r>
              <a:rPr lang="en-US" dirty="0" err="1">
                <a:effectLst/>
                <a:ea typeface="SimSun" panose="02010600030101010101" pitchFamily="2" charset="-122"/>
              </a:rPr>
              <a:t>Ettredge</a:t>
            </a:r>
            <a:r>
              <a:rPr lang="en-US" dirty="0">
                <a:effectLst/>
                <a:ea typeface="SimSun" panose="02010600030101010101" pitchFamily="2" charset="-122"/>
              </a:rPr>
              <a:t>, M., C. Li and L. Sun. 2006)</a:t>
            </a:r>
          </a:p>
          <a:p>
            <a:pPr lvl="1"/>
            <a:r>
              <a:rPr lang="en-HK" dirty="0">
                <a:effectLst/>
              </a:rPr>
              <a:t>Audit effort and pricing (</a:t>
            </a:r>
            <a:r>
              <a:rPr lang="en-US" dirty="0">
                <a:solidFill>
                  <a:srgbClr val="000000"/>
                </a:solidFill>
                <a:effectLst/>
                <a:ea typeface="SimSun" panose="02010600030101010101" pitchFamily="2" charset="-122"/>
              </a:rPr>
              <a:t>Hogan, C., and M. Wilkins. 2008</a:t>
            </a:r>
            <a:r>
              <a:rPr lang="en-HK" dirty="0">
                <a:solidFill>
                  <a:srgbClr val="000000"/>
                </a:solidFill>
                <a:ea typeface="SimSun" panose="02010600030101010101" pitchFamily="2" charset="-122"/>
              </a:rPr>
              <a:t>; </a:t>
            </a:r>
            <a:r>
              <a:rPr lang="en-US" dirty="0" err="1">
                <a:solidFill>
                  <a:srgbClr val="000000"/>
                </a:solidFill>
                <a:effectLst/>
                <a:ea typeface="SimSun" panose="02010600030101010101" pitchFamily="2" charset="-122"/>
              </a:rPr>
              <a:t>Hoitash</a:t>
            </a:r>
            <a:r>
              <a:rPr lang="en-US" dirty="0">
                <a:solidFill>
                  <a:srgbClr val="000000"/>
                </a:solidFill>
                <a:effectLst/>
                <a:ea typeface="SimSun" panose="02010600030101010101" pitchFamily="2" charset="-122"/>
              </a:rPr>
              <a:t>, R., U. </a:t>
            </a:r>
            <a:r>
              <a:rPr lang="en-US" dirty="0" err="1">
                <a:solidFill>
                  <a:srgbClr val="000000"/>
                </a:solidFill>
                <a:effectLst/>
                <a:ea typeface="SimSun" panose="02010600030101010101" pitchFamily="2" charset="-122"/>
              </a:rPr>
              <a:t>Hoitash</a:t>
            </a:r>
            <a:r>
              <a:rPr lang="en-US" dirty="0">
                <a:solidFill>
                  <a:srgbClr val="000000"/>
                </a:solidFill>
                <a:effectLst/>
                <a:ea typeface="SimSun" panose="02010600030101010101" pitchFamily="2" charset="-122"/>
              </a:rPr>
              <a:t>, and J. Bedard. 2008</a:t>
            </a:r>
            <a:r>
              <a:rPr lang="en-HK" dirty="0">
                <a:solidFill>
                  <a:srgbClr val="000000"/>
                </a:solidFill>
                <a:ea typeface="SimSun" panose="02010600030101010101" pitchFamily="2" charset="-122"/>
              </a:rPr>
              <a:t>). </a:t>
            </a:r>
          </a:p>
          <a:p>
            <a:endParaRPr lang="en-HK" dirty="0"/>
          </a:p>
          <a:p>
            <a:r>
              <a:rPr lang="en-HK" dirty="0"/>
              <a:t>Direct effect on CFO compensation (</a:t>
            </a:r>
            <a:r>
              <a:rPr lang="en-US" dirty="0" err="1">
                <a:solidFill>
                  <a:srgbClr val="000000"/>
                </a:solidFill>
                <a:ea typeface="SimSun" panose="02010600030101010101" pitchFamily="2" charset="-122"/>
              </a:rPr>
              <a:t>Hoitash</a:t>
            </a:r>
            <a:r>
              <a:rPr lang="en-US" dirty="0">
                <a:solidFill>
                  <a:srgbClr val="000000"/>
                </a:solidFill>
                <a:ea typeface="SimSun" panose="02010600030101010101" pitchFamily="2" charset="-122"/>
              </a:rPr>
              <a:t>, R., </a:t>
            </a:r>
            <a:r>
              <a:rPr lang="en-US" dirty="0" err="1">
                <a:solidFill>
                  <a:srgbClr val="000000"/>
                </a:solidFill>
                <a:ea typeface="SimSun" panose="02010600030101010101" pitchFamily="2" charset="-122"/>
              </a:rPr>
              <a:t>Hoitash</a:t>
            </a:r>
            <a:r>
              <a:rPr lang="en-US" dirty="0">
                <a:solidFill>
                  <a:srgbClr val="000000"/>
                </a:solidFill>
                <a:ea typeface="SimSun" panose="02010600030101010101" pitchFamily="2" charset="-122"/>
              </a:rPr>
              <a:t>, U., Johnstone, K. M. 2012);</a:t>
            </a:r>
            <a:endParaRPr lang="en-HK" dirty="0"/>
          </a:p>
          <a:p>
            <a:pPr lvl="1"/>
            <a:endParaRPr lang="en-HK" dirty="0">
              <a:effectLst/>
            </a:endParaRPr>
          </a:p>
        </p:txBody>
      </p:sp>
      <p:sp>
        <p:nvSpPr>
          <p:cNvPr id="4" name="Date Placeholder 3">
            <a:extLst>
              <a:ext uri="{FF2B5EF4-FFF2-40B4-BE49-F238E27FC236}">
                <a16:creationId xmlns:a16="http://schemas.microsoft.com/office/drawing/2014/main" id="{26138280-2E81-11F7-92AA-C4E625FD5AA1}"/>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BF47E2E7-FBE8-5F05-6548-294DF9C0DF95}"/>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3</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18012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7AC2-B66A-C536-8AD2-205DF9A684E9}"/>
              </a:ext>
            </a:extLst>
          </p:cNvPr>
          <p:cNvSpPr>
            <a:spLocks noGrp="1"/>
          </p:cNvSpPr>
          <p:nvPr>
            <p:ph type="title"/>
          </p:nvPr>
        </p:nvSpPr>
        <p:spPr>
          <a:xfrm>
            <a:off x="1133764" y="587086"/>
            <a:ext cx="8229600" cy="1143000"/>
          </a:xfrm>
        </p:spPr>
        <p:txBody>
          <a:bodyPr>
            <a:normAutofit fontScale="90000"/>
          </a:bodyPr>
          <a:lstStyle/>
          <a:p>
            <a:r>
              <a:rPr lang="en-US" dirty="0"/>
              <a:t>Researches on Internal Control Weakness</a:t>
            </a:r>
          </a:p>
        </p:txBody>
      </p:sp>
      <p:sp>
        <p:nvSpPr>
          <p:cNvPr id="3" name="Content Placeholder 2">
            <a:extLst>
              <a:ext uri="{FF2B5EF4-FFF2-40B4-BE49-F238E27FC236}">
                <a16:creationId xmlns:a16="http://schemas.microsoft.com/office/drawing/2014/main" id="{412036C2-8561-874F-218E-7E3CD034658A}"/>
              </a:ext>
            </a:extLst>
          </p:cNvPr>
          <p:cNvSpPr>
            <a:spLocks noGrp="1"/>
          </p:cNvSpPr>
          <p:nvPr>
            <p:ph idx="1"/>
          </p:nvPr>
        </p:nvSpPr>
        <p:spPr>
          <a:xfrm>
            <a:off x="1133764" y="1902835"/>
            <a:ext cx="8229600" cy="4525963"/>
          </a:xfrm>
        </p:spPr>
        <p:txBody>
          <a:bodyPr/>
          <a:lstStyle/>
          <a:p>
            <a:r>
              <a:rPr lang="en-HK" sz="2200" dirty="0"/>
              <a:t>Internal control weakness is auditor-attested evaluations of material weakness in internal control, a direct signal of a low-quality financial reporting system or even integrity. </a:t>
            </a:r>
          </a:p>
          <a:p>
            <a:r>
              <a:rPr lang="en-HK" sz="2200" dirty="0"/>
              <a:t>Cost of capital: equity and debt</a:t>
            </a:r>
          </a:p>
          <a:p>
            <a:pPr lvl="1"/>
            <a:r>
              <a:rPr lang="en-HK" sz="2200" dirty="0">
                <a:solidFill>
                  <a:srgbClr val="000000"/>
                </a:solidFill>
                <a:effectLst/>
                <a:ea typeface="SimSun" panose="02010600030101010101" pitchFamily="2" charset="-122"/>
              </a:rPr>
              <a:t>Cost of Equity: </a:t>
            </a:r>
            <a:r>
              <a:rPr lang="en-US" sz="2200" dirty="0" err="1">
                <a:solidFill>
                  <a:srgbClr val="000000"/>
                </a:solidFill>
                <a:effectLst/>
                <a:ea typeface="SimSun" panose="02010600030101010101" pitchFamily="2" charset="-122"/>
              </a:rPr>
              <a:t>Ogneva</a:t>
            </a:r>
            <a:r>
              <a:rPr lang="en-US" sz="2200" dirty="0">
                <a:solidFill>
                  <a:srgbClr val="000000"/>
                </a:solidFill>
                <a:effectLst/>
                <a:ea typeface="SimSun" panose="02010600030101010101" pitchFamily="2" charset="-122"/>
              </a:rPr>
              <a:t>, M., K. R. Subramanyam, and K. </a:t>
            </a:r>
            <a:r>
              <a:rPr lang="en-US" sz="2200" dirty="0" err="1">
                <a:solidFill>
                  <a:srgbClr val="000000"/>
                </a:solidFill>
                <a:effectLst/>
                <a:ea typeface="SimSun" panose="02010600030101010101" pitchFamily="2" charset="-122"/>
              </a:rPr>
              <a:t>Raghunandan</a:t>
            </a:r>
            <a:r>
              <a:rPr lang="en-US" sz="2200" dirty="0">
                <a:solidFill>
                  <a:srgbClr val="000000"/>
                </a:solidFill>
                <a:effectLst/>
                <a:ea typeface="SimSun" panose="02010600030101010101" pitchFamily="2" charset="-122"/>
              </a:rPr>
              <a:t>. 2007</a:t>
            </a:r>
            <a:r>
              <a:rPr lang="en-HK" sz="2200" dirty="0">
                <a:effectLst/>
              </a:rPr>
              <a:t> </a:t>
            </a:r>
          </a:p>
          <a:p>
            <a:pPr lvl="1"/>
            <a:r>
              <a:rPr lang="en-HK" sz="2200" dirty="0"/>
              <a:t>Cost of debt: Kim, Song and Zhang (2011); </a:t>
            </a:r>
            <a:r>
              <a:rPr lang="en-US" sz="2200" dirty="0">
                <a:effectLst/>
                <a:ea typeface="SimSun" panose="02010600030101010101" pitchFamily="2" charset="-122"/>
              </a:rPr>
              <a:t>Costello, A. M., and R. Wittenberg-Moerman (2011)</a:t>
            </a:r>
            <a:r>
              <a:rPr lang="en-HK" sz="2200" dirty="0">
                <a:effectLst/>
              </a:rPr>
              <a:t> </a:t>
            </a:r>
            <a:endParaRPr lang="en-HK" sz="2200" dirty="0"/>
          </a:p>
          <a:p>
            <a:r>
              <a:rPr lang="en-HK" sz="2200" dirty="0"/>
              <a:t>Rent extraction:</a:t>
            </a:r>
          </a:p>
          <a:p>
            <a:pPr lvl="1"/>
            <a:r>
              <a:rPr lang="en-US" sz="2200" dirty="0">
                <a:solidFill>
                  <a:srgbClr val="000000"/>
                </a:solidFill>
                <a:effectLst/>
                <a:ea typeface="SimSun" panose="02010600030101010101" pitchFamily="2" charset="-122"/>
              </a:rPr>
              <a:t>insider trading (</a:t>
            </a:r>
            <a:r>
              <a:rPr lang="en-US" sz="2200" dirty="0" err="1">
                <a:effectLst/>
                <a:ea typeface="SimSun" panose="02010600030101010101" pitchFamily="2" charset="-122"/>
              </a:rPr>
              <a:t>Skaife</a:t>
            </a:r>
            <a:r>
              <a:rPr lang="en-US" sz="2200" dirty="0">
                <a:effectLst/>
                <a:ea typeface="SimSun" panose="02010600030101010101" pitchFamily="2" charset="-122"/>
              </a:rPr>
              <a:t>, H. A., D. </a:t>
            </a:r>
            <a:r>
              <a:rPr lang="en-US" sz="2200" dirty="0" err="1">
                <a:effectLst/>
                <a:ea typeface="SimSun" panose="02010600030101010101" pitchFamily="2" charset="-122"/>
              </a:rPr>
              <a:t>Veenman</a:t>
            </a:r>
            <a:r>
              <a:rPr lang="en-US" sz="2200" dirty="0">
                <a:effectLst/>
                <a:ea typeface="SimSun" panose="02010600030101010101" pitchFamily="2" charset="-122"/>
              </a:rPr>
              <a:t>, and D. </a:t>
            </a:r>
            <a:r>
              <a:rPr lang="en-US" sz="2200" dirty="0" err="1">
                <a:effectLst/>
                <a:ea typeface="SimSun" panose="02010600030101010101" pitchFamily="2" charset="-122"/>
              </a:rPr>
              <a:t>Wangerin</a:t>
            </a:r>
            <a:r>
              <a:rPr lang="en-US" sz="2200" dirty="0">
                <a:effectLst/>
                <a:ea typeface="SimSun" panose="02010600030101010101" pitchFamily="2" charset="-122"/>
              </a:rPr>
              <a:t>. 2013</a:t>
            </a:r>
            <a:r>
              <a:rPr lang="en-HK" sz="2200" dirty="0">
                <a:effectLst/>
              </a:rPr>
              <a:t> ); value of cash holdings (Gao and Jia 2015). </a:t>
            </a:r>
            <a:endParaRPr lang="en-HK" sz="2200" dirty="0"/>
          </a:p>
          <a:p>
            <a:endParaRPr lang="en-US" dirty="0"/>
          </a:p>
        </p:txBody>
      </p:sp>
      <p:sp>
        <p:nvSpPr>
          <p:cNvPr id="4" name="Date Placeholder 3">
            <a:extLst>
              <a:ext uri="{FF2B5EF4-FFF2-40B4-BE49-F238E27FC236}">
                <a16:creationId xmlns:a16="http://schemas.microsoft.com/office/drawing/2014/main" id="{26138280-2E81-11F7-92AA-C4E625FD5AA1}"/>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BF47E2E7-FBE8-5F05-6548-294DF9C0DF95}"/>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4</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569106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7AC2-B66A-C536-8AD2-205DF9A684E9}"/>
              </a:ext>
            </a:extLst>
          </p:cNvPr>
          <p:cNvSpPr>
            <a:spLocks noGrp="1"/>
          </p:cNvSpPr>
          <p:nvPr>
            <p:ph type="title"/>
          </p:nvPr>
        </p:nvSpPr>
        <p:spPr>
          <a:xfrm>
            <a:off x="1981200" y="565383"/>
            <a:ext cx="8229600" cy="1143000"/>
          </a:xfrm>
        </p:spPr>
        <p:txBody>
          <a:bodyPr>
            <a:normAutofit fontScale="90000"/>
          </a:bodyPr>
          <a:lstStyle/>
          <a:p>
            <a:r>
              <a:rPr lang="en-US" dirty="0"/>
              <a:t>Researches on Internal Control Weakness</a:t>
            </a:r>
          </a:p>
        </p:txBody>
      </p:sp>
      <p:sp>
        <p:nvSpPr>
          <p:cNvPr id="3" name="Content Placeholder 2">
            <a:extLst>
              <a:ext uri="{FF2B5EF4-FFF2-40B4-BE49-F238E27FC236}">
                <a16:creationId xmlns:a16="http://schemas.microsoft.com/office/drawing/2014/main" id="{412036C2-8561-874F-218E-7E3CD034658A}"/>
              </a:ext>
            </a:extLst>
          </p:cNvPr>
          <p:cNvSpPr>
            <a:spLocks noGrp="1"/>
          </p:cNvSpPr>
          <p:nvPr>
            <p:ph idx="1"/>
          </p:nvPr>
        </p:nvSpPr>
        <p:spPr>
          <a:xfrm>
            <a:off x="1981200" y="2012949"/>
            <a:ext cx="8229600" cy="4525963"/>
          </a:xfrm>
        </p:spPr>
        <p:txBody>
          <a:bodyPr>
            <a:normAutofit fontScale="92500" lnSpcReduction="10000"/>
          </a:bodyPr>
          <a:lstStyle/>
          <a:p>
            <a:r>
              <a:rPr lang="en-HK" dirty="0"/>
              <a:t>ICW disclosures reflect the quality of a firm’s entire information production system including the quality of both inside and publicly reported accounting information. </a:t>
            </a:r>
          </a:p>
          <a:p>
            <a:pPr lvl="1"/>
            <a:r>
              <a:rPr lang="en-US" sz="2000" dirty="0"/>
              <a:t>Management forecasts (</a:t>
            </a:r>
            <a:r>
              <a:rPr lang="en-US" sz="2000" dirty="0">
                <a:ea typeface="SimSun" panose="02010600030101010101" pitchFamily="2" charset="-122"/>
              </a:rPr>
              <a:t>Feng, M., C. Li, and S. </a:t>
            </a:r>
            <a:r>
              <a:rPr lang="en-US" sz="2000" dirty="0" err="1">
                <a:ea typeface="SimSun" panose="02010600030101010101" pitchFamily="2" charset="-122"/>
              </a:rPr>
              <a:t>McVay</a:t>
            </a:r>
            <a:r>
              <a:rPr lang="en-US" sz="2000" dirty="0">
                <a:ea typeface="SimSun" panose="02010600030101010101" pitchFamily="2" charset="-122"/>
              </a:rPr>
              <a:t>. 2009</a:t>
            </a:r>
            <a:r>
              <a:rPr lang="en-HK" sz="2000" dirty="0">
                <a:ea typeface="SimSun" panose="02010600030101010101" pitchFamily="2" charset="-122"/>
              </a:rPr>
              <a:t>); </a:t>
            </a:r>
            <a:r>
              <a:rPr lang="en-US" sz="2000" dirty="0"/>
              <a:t>Internal capital allocation (</a:t>
            </a:r>
            <a:r>
              <a:rPr lang="en-US" sz="2000" dirty="0">
                <a:ea typeface="SimSun" panose="02010600030101010101" pitchFamily="2" charset="-122"/>
              </a:rPr>
              <a:t>D’Mello, R., Gao, X., and Jia, Y. 2017</a:t>
            </a:r>
            <a:r>
              <a:rPr lang="en-HK" sz="2000" dirty="0"/>
              <a:t>); A</a:t>
            </a:r>
            <a:r>
              <a:rPr lang="en-HK" sz="2000" dirty="0">
                <a:ea typeface="SimSun" panose="02010600030101010101" pitchFamily="2" charset="-122"/>
              </a:rPr>
              <a:t>cquisition (</a:t>
            </a:r>
            <a:r>
              <a:rPr lang="en-US" sz="2000" dirty="0">
                <a:ea typeface="SimSun" panose="02010600030101010101" pitchFamily="2" charset="-122"/>
              </a:rPr>
              <a:t>Barnes, B., and Harp, N. 2018</a:t>
            </a:r>
            <a:r>
              <a:rPr lang="en-HK" sz="2000" dirty="0">
                <a:ea typeface="SimSun" panose="02010600030101010101" pitchFamily="2" charset="-122"/>
              </a:rPr>
              <a:t>); Tax avoidance (Gallemore and Labro 2015). </a:t>
            </a:r>
          </a:p>
          <a:p>
            <a:r>
              <a:rPr lang="en-HK" dirty="0"/>
              <a:t>Remediation:</a:t>
            </a:r>
          </a:p>
          <a:p>
            <a:pPr lvl="1"/>
            <a:r>
              <a:rPr lang="en-HK" dirty="0"/>
              <a:t>Accrual quality (</a:t>
            </a:r>
            <a:r>
              <a:rPr lang="en-US" sz="1800" dirty="0">
                <a:ea typeface="SimSun" panose="02010600030101010101" pitchFamily="2" charset="-122"/>
              </a:rPr>
              <a:t>Ashbaugh-</a:t>
            </a:r>
            <a:r>
              <a:rPr lang="en-US" sz="1800" dirty="0" err="1">
                <a:ea typeface="SimSun" panose="02010600030101010101" pitchFamily="2" charset="-122"/>
              </a:rPr>
              <a:t>Skaife</a:t>
            </a:r>
            <a:r>
              <a:rPr lang="en-US" sz="1800" dirty="0">
                <a:ea typeface="SimSun" panose="02010600030101010101" pitchFamily="2" charset="-122"/>
              </a:rPr>
              <a:t>, H., D. W. Collins, W. R. Kinney Jr, and R. LaFond. 2008</a:t>
            </a:r>
            <a:r>
              <a:rPr lang="en-HK" sz="1800" dirty="0">
                <a:ea typeface="SimSun" panose="02010600030101010101" pitchFamily="2" charset="-122"/>
              </a:rPr>
              <a:t>)</a:t>
            </a:r>
            <a:endParaRPr lang="en-HK" dirty="0"/>
          </a:p>
          <a:p>
            <a:pPr lvl="1"/>
            <a:r>
              <a:rPr lang="en-HK" dirty="0"/>
              <a:t>Investment efficiency (</a:t>
            </a:r>
            <a:r>
              <a:rPr lang="en-US" sz="1800" dirty="0">
                <a:ea typeface="SimSun" panose="02010600030101010101" pitchFamily="2" charset="-122"/>
              </a:rPr>
              <a:t>Cheng, M., D. Dhaliwal, and Y. Zhang. 2013</a:t>
            </a:r>
            <a:r>
              <a:rPr lang="en-HK" sz="1800" dirty="0">
                <a:ea typeface="SimSun" panose="02010600030101010101" pitchFamily="2" charset="-122"/>
              </a:rPr>
              <a:t>). </a:t>
            </a:r>
          </a:p>
          <a:p>
            <a:pPr lvl="1"/>
            <a:r>
              <a:rPr lang="en-HK" dirty="0">
                <a:ea typeface="SimSun" panose="02010600030101010101" pitchFamily="2" charset="-122"/>
              </a:rPr>
              <a:t>Hiring (</a:t>
            </a:r>
            <a:r>
              <a:rPr lang="en-US" sz="1800" dirty="0">
                <a:ea typeface="SimSun" panose="02010600030101010101" pitchFamily="2" charset="-122"/>
              </a:rPr>
              <a:t>Janet Gao; Kenneth Merkley; Joseph Pacelli; Joseph H. Schroeder. 2023</a:t>
            </a:r>
            <a:r>
              <a:rPr lang="en-HK" sz="1800" dirty="0">
                <a:ea typeface="SimSun" panose="02010600030101010101" pitchFamily="2" charset="-122"/>
              </a:rPr>
              <a:t>).</a:t>
            </a:r>
          </a:p>
          <a:p>
            <a:endParaRPr lang="en-US" dirty="0"/>
          </a:p>
          <a:p>
            <a:endParaRPr lang="en-US" dirty="0"/>
          </a:p>
        </p:txBody>
      </p:sp>
      <p:sp>
        <p:nvSpPr>
          <p:cNvPr id="4" name="Date Placeholder 3">
            <a:extLst>
              <a:ext uri="{FF2B5EF4-FFF2-40B4-BE49-F238E27FC236}">
                <a16:creationId xmlns:a16="http://schemas.microsoft.com/office/drawing/2014/main" id="{26138280-2E81-11F7-92AA-C4E625FD5AA1}"/>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BF47E2E7-FBE8-5F05-6548-294DF9C0DF95}"/>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5</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75280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BAD4C-F875-D65D-BA91-19BF636ED70D}"/>
              </a:ext>
            </a:extLst>
          </p:cNvPr>
          <p:cNvSpPr>
            <a:spLocks noGrp="1"/>
          </p:cNvSpPr>
          <p:nvPr>
            <p:ph type="title"/>
          </p:nvPr>
        </p:nvSpPr>
        <p:spPr/>
        <p:txBody>
          <a:bodyPr/>
          <a:lstStyle/>
          <a:p>
            <a:r>
              <a:rPr lang="en-US" dirty="0"/>
              <a:t>Cheng et al. (2013)</a:t>
            </a:r>
          </a:p>
        </p:txBody>
      </p:sp>
      <p:sp>
        <p:nvSpPr>
          <p:cNvPr id="3" name="Content Placeholder 2">
            <a:extLst>
              <a:ext uri="{FF2B5EF4-FFF2-40B4-BE49-F238E27FC236}">
                <a16:creationId xmlns:a16="http://schemas.microsoft.com/office/drawing/2014/main" id="{54F5BC25-3F60-2EDD-A935-0021B26D3AB3}"/>
              </a:ext>
            </a:extLst>
          </p:cNvPr>
          <p:cNvSpPr>
            <a:spLocks noGrp="1"/>
          </p:cNvSpPr>
          <p:nvPr>
            <p:ph idx="1"/>
          </p:nvPr>
        </p:nvSpPr>
        <p:spPr>
          <a:xfrm>
            <a:off x="838200" y="1760537"/>
            <a:ext cx="8229600" cy="4525963"/>
          </a:xfrm>
        </p:spPr>
        <p:txBody>
          <a:bodyPr>
            <a:normAutofit fontScale="77500" lnSpcReduction="20000"/>
          </a:bodyPr>
          <a:lstStyle/>
          <a:p>
            <a:r>
              <a:rPr lang="en-HK" dirty="0"/>
              <a:t>An ICW suggests that there is an information problem in the firm's financial reporting system. Given this information problem and the findings from Biddle et al. (2009), we predict that firms that disclose ICWs (ICW firms) exhibit inefficient investment </a:t>
            </a:r>
            <a:r>
              <a:rPr lang="en-HK" dirty="0" err="1"/>
              <a:t>behavior</a:t>
            </a:r>
            <a:r>
              <a:rPr lang="en-HK" dirty="0"/>
              <a:t> prior to the disclosure. </a:t>
            </a:r>
          </a:p>
          <a:p>
            <a:r>
              <a:rPr lang="en-HK" dirty="0"/>
              <a:t>More importantly, because an ICW provides an adverse public signal, these firms are expected to address their past financial reporting problems subsequent to the disclosure. Thus, firms should show an increase in the quality of their financial reporting from the pre-disclosure period to the post-disclosure period. If the improvement in the quality of financial reporting increases investment efficiency, we predict that the pre-disclosure inefficiency in investment by the ICW firms will be mitigated or eliminated in the post-disclosure period.</a:t>
            </a:r>
            <a:endParaRPr lang="en-US" dirty="0"/>
          </a:p>
        </p:txBody>
      </p:sp>
      <p:sp>
        <p:nvSpPr>
          <p:cNvPr id="4" name="Date Placeholder 3">
            <a:extLst>
              <a:ext uri="{FF2B5EF4-FFF2-40B4-BE49-F238E27FC236}">
                <a16:creationId xmlns:a16="http://schemas.microsoft.com/office/drawing/2014/main" id="{6A8364AE-501E-A43F-9347-EC8E68492C5E}"/>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3313E1DE-3D8C-62EE-0AE2-E93BAF2CA73D}"/>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6</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370836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E90BC-3FA1-4032-9936-6CEA8EC244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C23AC2-118B-47B5-B9DB-D15027536953}"/>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F40D99D7-7DC5-4AEA-8325-C50D7DC7E590}"/>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1582EB52-DBC9-4446-8CC5-65D4DAC38A8D}"/>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7</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D1821AE4-8BDD-41C5-9F24-45BCA3496C75}"/>
              </a:ext>
            </a:extLst>
          </p:cNvPr>
          <p:cNvPicPr>
            <a:picLocks noChangeAspect="1"/>
          </p:cNvPicPr>
          <p:nvPr/>
        </p:nvPicPr>
        <p:blipFill>
          <a:blip r:embed="rId2"/>
          <a:stretch>
            <a:fillRect/>
          </a:stretch>
        </p:blipFill>
        <p:spPr>
          <a:xfrm>
            <a:off x="2425709" y="-27384"/>
            <a:ext cx="7340583" cy="6858000"/>
          </a:xfrm>
          <a:prstGeom prst="rect">
            <a:avLst/>
          </a:prstGeom>
        </p:spPr>
      </p:pic>
    </p:spTree>
    <p:extLst>
      <p:ext uri="{BB962C8B-B14F-4D97-AF65-F5344CB8AC3E}">
        <p14:creationId xmlns:p14="http://schemas.microsoft.com/office/powerpoint/2010/main" val="2404728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904825C-B473-4058-8D86-AD01BDEAE3D4}"/>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86218F7D-AE84-41CE-BE24-528CF32E7932}"/>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8</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3D8024EA-F715-4971-9AA7-6B3771B07478}"/>
              </a:ext>
            </a:extLst>
          </p:cNvPr>
          <p:cNvPicPr>
            <a:picLocks noChangeAspect="1"/>
          </p:cNvPicPr>
          <p:nvPr/>
        </p:nvPicPr>
        <p:blipFill>
          <a:blip r:embed="rId2"/>
          <a:stretch>
            <a:fillRect/>
          </a:stretch>
        </p:blipFill>
        <p:spPr>
          <a:xfrm>
            <a:off x="1767281" y="1745673"/>
            <a:ext cx="8657439" cy="3366655"/>
          </a:xfrm>
          <a:prstGeom prst="rect">
            <a:avLst/>
          </a:prstGeom>
        </p:spPr>
      </p:pic>
    </p:spTree>
    <p:extLst>
      <p:ext uri="{BB962C8B-B14F-4D97-AF65-F5344CB8AC3E}">
        <p14:creationId xmlns:p14="http://schemas.microsoft.com/office/powerpoint/2010/main" val="3348117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DD540-E422-46B9-85F1-AA0B9D6EB460}"/>
              </a:ext>
            </a:extLst>
          </p:cNvPr>
          <p:cNvSpPr>
            <a:spLocks noGrp="1"/>
          </p:cNvSpPr>
          <p:nvPr>
            <p:ph type="title"/>
          </p:nvPr>
        </p:nvSpPr>
        <p:spPr/>
        <p:txBody>
          <a:bodyPr/>
          <a:lstStyle/>
          <a:p>
            <a:r>
              <a:rPr lang="en-HK" dirty="0"/>
              <a:t>Kim, Song and Zhang (2011)</a:t>
            </a:r>
            <a:endParaRPr lang="en-US" dirty="0"/>
          </a:p>
        </p:txBody>
      </p:sp>
      <p:sp>
        <p:nvSpPr>
          <p:cNvPr id="3" name="Content Placeholder 2">
            <a:extLst>
              <a:ext uri="{FF2B5EF4-FFF2-40B4-BE49-F238E27FC236}">
                <a16:creationId xmlns:a16="http://schemas.microsoft.com/office/drawing/2014/main" id="{F0FAD9C8-D295-49D6-8A61-EF06F39BBD41}"/>
              </a:ext>
            </a:extLst>
          </p:cNvPr>
          <p:cNvSpPr>
            <a:spLocks noGrp="1"/>
          </p:cNvSpPr>
          <p:nvPr>
            <p:ph idx="1"/>
          </p:nvPr>
        </p:nvSpPr>
        <p:spPr>
          <a:xfrm>
            <a:off x="1389297" y="1690688"/>
            <a:ext cx="8229600" cy="4525963"/>
          </a:xfrm>
        </p:spPr>
        <p:txBody>
          <a:bodyPr>
            <a:normAutofit fontScale="77500" lnSpcReduction="20000"/>
          </a:bodyPr>
          <a:lstStyle/>
          <a:p>
            <a:pPr marL="0" indent="0">
              <a:buNone/>
            </a:pPr>
            <a:r>
              <a:rPr lang="en-HK" b="1" dirty="0"/>
              <a:t>Abstract:</a:t>
            </a:r>
            <a:r>
              <a:rPr lang="en-HK" dirty="0"/>
              <a:t> Using a sample of borrowing firms that disclosed internal control weaknesses (ICW) under Section 404 of the Sarbanes-Oxley Act, this study compares various features of loan contracts between firms with ICW and those without ICW. Our results show the following. First, the loan spread is higher for ICW firms than for non-ICW firms by about 28 basis points, after controlling for other known determinants of loan contract terms. Second, firms with more severe, company-level ICW pay significantly higher loan rates than those with less severe, account-level ICW. Third, lenders impose tighter nonprice terms on firms with ICW than on those without ICW. Fourth, fewer lenders are attracted to loan contracts involving firms with ICW. Finally, our within-firm analyses show that banks increase loan rates charged to ICW firms after their disclosure of internal control problems and that banks reduce loan rates after firms remediate previously reported ICW.</a:t>
            </a:r>
            <a:endParaRPr lang="en-US" dirty="0"/>
          </a:p>
        </p:txBody>
      </p:sp>
      <p:sp>
        <p:nvSpPr>
          <p:cNvPr id="4" name="Date Placeholder 3">
            <a:extLst>
              <a:ext uri="{FF2B5EF4-FFF2-40B4-BE49-F238E27FC236}">
                <a16:creationId xmlns:a16="http://schemas.microsoft.com/office/drawing/2014/main" id="{3760C9D0-6BDF-4458-BCF7-BFDC047FECC6}"/>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325AEBB4-50EF-4861-BF36-D9210C27F558}"/>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9</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3294666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ED554C0-7B3E-49B0-BE66-C763732238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13287" y="136526"/>
            <a:ext cx="4189108" cy="5989638"/>
          </a:xfrm>
        </p:spPr>
      </p:pic>
      <p:sp>
        <p:nvSpPr>
          <p:cNvPr id="4" name="Date Placeholder 3">
            <a:extLst>
              <a:ext uri="{FF2B5EF4-FFF2-40B4-BE49-F238E27FC236}">
                <a16:creationId xmlns:a16="http://schemas.microsoft.com/office/drawing/2014/main" id="{FA8F740C-C75C-4AD0-AFC5-E8B456C8B70E}"/>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F4C6D4CD-9525-42CB-BD85-32147F75E91B}"/>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10</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3263395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9BA63-EF69-72B0-B32C-054174FB46A8}"/>
              </a:ext>
            </a:extLst>
          </p:cNvPr>
          <p:cNvSpPr>
            <a:spLocks noGrp="1"/>
          </p:cNvSpPr>
          <p:nvPr>
            <p:ph type="title"/>
          </p:nvPr>
        </p:nvSpPr>
        <p:spPr/>
        <p:txBody>
          <a:bodyPr/>
          <a:lstStyle/>
          <a:p>
            <a:r>
              <a:rPr lang="en-HK" b="1" dirty="0"/>
              <a:t>Shroff (2020)</a:t>
            </a:r>
            <a:br>
              <a:rPr lang="en-HK" b="1" dirty="0"/>
            </a:br>
            <a:endParaRPr lang="en-US" dirty="0"/>
          </a:p>
        </p:txBody>
      </p:sp>
      <p:sp>
        <p:nvSpPr>
          <p:cNvPr id="3" name="Content Placeholder 2">
            <a:extLst>
              <a:ext uri="{FF2B5EF4-FFF2-40B4-BE49-F238E27FC236}">
                <a16:creationId xmlns:a16="http://schemas.microsoft.com/office/drawing/2014/main" id="{834F1DAD-3CC1-E3F6-7A2B-622D69621F8F}"/>
              </a:ext>
            </a:extLst>
          </p:cNvPr>
          <p:cNvSpPr>
            <a:spLocks noGrp="1"/>
          </p:cNvSpPr>
          <p:nvPr>
            <p:ph idx="1"/>
          </p:nvPr>
        </p:nvSpPr>
        <p:spPr>
          <a:xfrm>
            <a:off x="995085" y="1340947"/>
            <a:ext cx="8229600" cy="4525963"/>
          </a:xfrm>
        </p:spPr>
        <p:txBody>
          <a:bodyPr>
            <a:normAutofit fontScale="70000" lnSpcReduction="20000"/>
          </a:bodyPr>
          <a:lstStyle/>
          <a:p>
            <a:r>
              <a:rPr lang="en-HK" dirty="0"/>
              <a:t>This paper examines the effect of the Public Company Accounting Oversight Board (PCAOB) international inspection program on companies' financing and investing decisions. Difference-in-differences regression estimates suggest that companies respond to their auditor receiving a “deficiency-free” inspection report by issuing additional external capital amounting to 1.4 percent of assets and increasing investment by 0.5 percent of assets. These effects are larger for (1) financially constrained companies and (2) companies located in countries where there is no regulator or the regulator does not conduct inspections. Further, the effect on financing decisions is stronger in countries with (1) low corruption, (2) strong rule of law, and (3) high regulatory quality. </a:t>
            </a:r>
            <a:r>
              <a:rPr lang="en-HK" dirty="0">
                <a:solidFill>
                  <a:srgbClr val="FF0000"/>
                </a:solidFill>
              </a:rPr>
              <a:t>Descriptive evidence suggests that inspections increase the use of financial covenants in debt contracts</a:t>
            </a:r>
            <a:r>
              <a:rPr lang="en-HK" dirty="0"/>
              <a:t>, which is likely one of the mechanisms through which inspections generate real effects. This paper documents the value of PCAOB inspections in mitigating financing frictions for non-U.S. companies.</a:t>
            </a:r>
            <a:endParaRPr lang="en-US" dirty="0"/>
          </a:p>
        </p:txBody>
      </p:sp>
      <p:sp>
        <p:nvSpPr>
          <p:cNvPr id="4" name="Date Placeholder 3">
            <a:extLst>
              <a:ext uri="{FF2B5EF4-FFF2-40B4-BE49-F238E27FC236}">
                <a16:creationId xmlns:a16="http://schemas.microsoft.com/office/drawing/2014/main" id="{380DF6A8-2275-3D15-0D3B-3CC1907FF692}"/>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0CFE792D-7E81-F419-7D47-0E406135A912}"/>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11</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3988755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7EE2-4273-2837-9340-EB19566D165E}"/>
              </a:ext>
            </a:extLst>
          </p:cNvPr>
          <p:cNvSpPr>
            <a:spLocks noGrp="1"/>
          </p:cNvSpPr>
          <p:nvPr>
            <p:ph type="title"/>
          </p:nvPr>
        </p:nvSpPr>
        <p:spPr/>
        <p:txBody>
          <a:bodyPr/>
          <a:lstStyle/>
          <a:p>
            <a:r>
              <a:rPr lang="en-US" dirty="0"/>
              <a:t>Robin, Wu, and Zhang (2016)</a:t>
            </a:r>
          </a:p>
        </p:txBody>
      </p:sp>
      <p:sp>
        <p:nvSpPr>
          <p:cNvPr id="3" name="Content Placeholder 2">
            <a:extLst>
              <a:ext uri="{FF2B5EF4-FFF2-40B4-BE49-F238E27FC236}">
                <a16:creationId xmlns:a16="http://schemas.microsoft.com/office/drawing/2014/main" id="{715346F6-7110-5134-90DD-06C28DD404F6}"/>
              </a:ext>
            </a:extLst>
          </p:cNvPr>
          <p:cNvSpPr>
            <a:spLocks noGrp="1"/>
          </p:cNvSpPr>
          <p:nvPr>
            <p:ph idx="1"/>
          </p:nvPr>
        </p:nvSpPr>
        <p:spPr/>
        <p:txBody>
          <a:bodyPr>
            <a:normAutofit fontScale="85000" lnSpcReduction="20000"/>
          </a:bodyPr>
          <a:lstStyle/>
          <a:p>
            <a:r>
              <a:rPr lang="en-HK" dirty="0"/>
              <a:t>This study examines the impact of auditor quality on financial covenants in debt contracts. We conjecture that high-quality auditors have two related effects on these debt covenants: (</a:t>
            </a:r>
            <a:r>
              <a:rPr lang="en-HK" dirty="0" err="1"/>
              <a:t>i</a:t>
            </a:r>
            <a:r>
              <a:rPr lang="en-HK" dirty="0"/>
              <a:t>) they encourage fewer and less restrictive covenants by providing assurance to lenders at contract inception and, consequently, (ii) they ensure a lower probability of eventual covenant violations. Consistent with the conjectures, </a:t>
            </a:r>
            <a:r>
              <a:rPr lang="en-HK" dirty="0">
                <a:solidFill>
                  <a:srgbClr val="FF0000"/>
                </a:solidFill>
              </a:rPr>
              <a:t>we find that auditor quality is negatively associated with the intensity and tightness of financial covenants.</a:t>
            </a:r>
            <a:r>
              <a:rPr lang="en-HK" dirty="0"/>
              <a:t> Specifically, high-quality auditors are associated with fewer covenants (especially performance covenants) and less binding covenants. Additionally, we find that auditor quality is negatively associated with the likelihood of covenant violations. In an ancillary test, we provide evidence that high-quality auditors mitigate the detrimental effect of covenant violations on the cost of borrowing. Together, these findings highlight the important role of auditors in debt contracting.</a:t>
            </a:r>
            <a:endParaRPr lang="en-US" dirty="0"/>
          </a:p>
        </p:txBody>
      </p:sp>
      <p:sp>
        <p:nvSpPr>
          <p:cNvPr id="4" name="Date Placeholder 3">
            <a:extLst>
              <a:ext uri="{FF2B5EF4-FFF2-40B4-BE49-F238E27FC236}">
                <a16:creationId xmlns:a16="http://schemas.microsoft.com/office/drawing/2014/main" id="{04B5DB32-5D82-169B-6D17-AF6E4B699937}"/>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10/5/2026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EE460F43-D952-CC50-E016-7F4AB207286C}"/>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12</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776819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AB7440-9E7D-415D-F9E5-2E6330B5EE4E}"/>
              </a:ext>
            </a:extLst>
          </p:cNvPr>
          <p:cNvSpPr>
            <a:spLocks noGrp="1"/>
          </p:cNvSpPr>
          <p:nvPr>
            <p:ph idx="1"/>
          </p:nvPr>
        </p:nvSpPr>
        <p:spPr/>
        <p:txBody>
          <a:bodyPr/>
          <a:lstStyle/>
          <a:p>
            <a:r>
              <a:rPr lang="en-US" b="1" dirty="0">
                <a:solidFill>
                  <a:schemeClr val="accent1">
                    <a:lumMod val="50000"/>
                  </a:schemeClr>
                </a:solidFill>
              </a:rPr>
              <a:t>Week 5 Homework: Internal control quality and conservatism: positive or negative relationship </a:t>
            </a:r>
            <a:endParaRPr lang="en-HK" b="1" dirty="0">
              <a:solidFill>
                <a:schemeClr val="accent1">
                  <a:lumMod val="50000"/>
                </a:schemeClr>
              </a:solidFill>
            </a:endParaRPr>
          </a:p>
        </p:txBody>
      </p:sp>
      <p:sp>
        <p:nvSpPr>
          <p:cNvPr id="4" name="Date Placeholder 3">
            <a:extLst>
              <a:ext uri="{FF2B5EF4-FFF2-40B4-BE49-F238E27FC236}">
                <a16:creationId xmlns:a16="http://schemas.microsoft.com/office/drawing/2014/main" id="{D303154B-4FCA-5650-600F-9BAA41810932}"/>
              </a:ext>
            </a:extLst>
          </p:cNvPr>
          <p:cNvSpPr>
            <a:spLocks noGrp="1"/>
          </p:cNvSpPr>
          <p:nvPr>
            <p:ph type="dt" sz="half" idx="10"/>
          </p:nvPr>
        </p:nvSpPr>
        <p:spPr/>
        <p:txBody>
          <a:bodyPr/>
          <a:lstStyle/>
          <a:p>
            <a:fld id="{5F095013-FAFA-4996-A6F8-1F75D307863F}" type="datetime1">
              <a:rPr lang="zh-CN" altLang="en-US" smtClean="0"/>
              <a:t>2026/10/5</a:t>
            </a:fld>
            <a:endParaRPr lang="zh-CN" altLang="en-US"/>
          </a:p>
        </p:txBody>
      </p:sp>
      <p:sp>
        <p:nvSpPr>
          <p:cNvPr id="5" name="Slide Number Placeholder 4">
            <a:extLst>
              <a:ext uri="{FF2B5EF4-FFF2-40B4-BE49-F238E27FC236}">
                <a16:creationId xmlns:a16="http://schemas.microsoft.com/office/drawing/2014/main" id="{70A64306-F285-87D1-1A2F-3F6EC24932A9}"/>
              </a:ext>
            </a:extLst>
          </p:cNvPr>
          <p:cNvSpPr>
            <a:spLocks noGrp="1"/>
          </p:cNvSpPr>
          <p:nvPr>
            <p:ph type="sldNum" sz="quarter" idx="12"/>
          </p:nvPr>
        </p:nvSpPr>
        <p:spPr/>
        <p:txBody>
          <a:bodyPr/>
          <a:lstStyle/>
          <a:p>
            <a:fld id="{1778BC13-B753-4634-A5F7-9F4F7C9ECC5F}" type="slidenum">
              <a:rPr lang="zh-CN" altLang="en-US" smtClean="0"/>
              <a:t>13</a:t>
            </a:fld>
            <a:endParaRPr lang="zh-CN" altLang="en-US"/>
          </a:p>
        </p:txBody>
      </p:sp>
    </p:spTree>
    <p:extLst>
      <p:ext uri="{BB962C8B-B14F-4D97-AF65-F5344CB8AC3E}">
        <p14:creationId xmlns:p14="http://schemas.microsoft.com/office/powerpoint/2010/main" val="379180130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8210</TotalTime>
  <Words>1219</Words>
  <Application>Microsoft Office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等线</vt:lpstr>
      <vt:lpstr>PMingLiU</vt:lpstr>
      <vt:lpstr>SimSun</vt:lpstr>
      <vt:lpstr>Arial</vt:lpstr>
      <vt:lpstr>Calibri</vt:lpstr>
      <vt:lpstr>Century Schoolbook</vt:lpstr>
      <vt:lpstr>Office 主题​​</vt:lpstr>
      <vt:lpstr>PowerPoint Presentation</vt:lpstr>
      <vt:lpstr>Internal Control Weakness</vt:lpstr>
      <vt:lpstr>Researches on Internal Control Weakness</vt:lpstr>
      <vt:lpstr>Researches on Internal Control Weakness</vt:lpstr>
      <vt:lpstr>Researches on Internal Control Weakness</vt:lpstr>
      <vt:lpstr>Cheng et al. (2013)</vt:lpstr>
      <vt:lpstr>PowerPoint Presentation</vt:lpstr>
      <vt:lpstr>PowerPoint Presentation</vt:lpstr>
      <vt:lpstr>Kim, Song and Zhang (2011)</vt:lpstr>
      <vt:lpstr>PowerPoint Presentation</vt:lpstr>
      <vt:lpstr>Shroff (2020) </vt:lpstr>
      <vt:lpstr>Robin, Wu, and Zhang (2016)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Gaole</dc:creator>
  <cp:lastModifiedBy>Prof. WANG Zheng</cp:lastModifiedBy>
  <cp:revision>363</cp:revision>
  <dcterms:created xsi:type="dcterms:W3CDTF">2023-10-03T09:09:50Z</dcterms:created>
  <dcterms:modified xsi:type="dcterms:W3CDTF">2026-10-05T10:31:30Z</dcterms:modified>
</cp:coreProperties>
</file>