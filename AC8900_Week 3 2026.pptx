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27"/>
  </p:notesMasterIdLst>
  <p:sldIdLst>
    <p:sldId id="545" r:id="rId2"/>
    <p:sldId id="519" r:id="rId3"/>
    <p:sldId id="520" r:id="rId4"/>
    <p:sldId id="1824" r:id="rId5"/>
    <p:sldId id="1825" r:id="rId6"/>
    <p:sldId id="496" r:id="rId7"/>
    <p:sldId id="497" r:id="rId8"/>
    <p:sldId id="1826" r:id="rId9"/>
    <p:sldId id="498" r:id="rId10"/>
    <p:sldId id="500" r:id="rId11"/>
    <p:sldId id="502" r:id="rId12"/>
    <p:sldId id="1828" r:id="rId13"/>
    <p:sldId id="1827" r:id="rId14"/>
    <p:sldId id="499" r:id="rId15"/>
    <p:sldId id="501" r:id="rId16"/>
    <p:sldId id="371" r:id="rId17"/>
    <p:sldId id="546" r:id="rId18"/>
    <p:sldId id="1787" r:id="rId19"/>
    <p:sldId id="1747" r:id="rId20"/>
    <p:sldId id="1815" r:id="rId21"/>
    <p:sldId id="1814" r:id="rId22"/>
    <p:sldId id="1822" r:id="rId23"/>
    <p:sldId id="1823" r:id="rId24"/>
    <p:sldId id="1819" r:id="rId25"/>
    <p:sldId id="1821"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D6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61" autoAdjust="0"/>
    <p:restoredTop sz="93505" autoAdjust="0"/>
  </p:normalViewPr>
  <p:slideViewPr>
    <p:cSldViewPr snapToGrid="0">
      <p:cViewPr varScale="1">
        <p:scale>
          <a:sx n="83" d="100"/>
          <a:sy n="83" d="100"/>
        </p:scale>
        <p:origin x="86" y="7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6CDB3A-FE59-454B-9252-56DD5BFA7268}" type="datetimeFigureOut">
              <a:rPr lang="zh-CN" altLang="en-US" smtClean="0"/>
              <a:t>2026/9/21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2DA79A-8518-4D97-8E7D-2422CFDB39BE}" type="slidenum">
              <a:rPr lang="zh-CN" altLang="en-US" smtClean="0"/>
              <a:t>‹#›</a:t>
            </a:fld>
            <a:endParaRPr lang="zh-CN" altLang="en-US"/>
          </a:p>
        </p:txBody>
      </p:sp>
    </p:spTree>
    <p:extLst>
      <p:ext uri="{BB962C8B-B14F-4D97-AF65-F5344CB8AC3E}">
        <p14:creationId xmlns:p14="http://schemas.microsoft.com/office/powerpoint/2010/main" val="37984238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lstStyle/>
          <a:p>
            <a:r>
              <a:rPr lang="en-HK" dirty="0"/>
              <a:t>after implementation of SFAS 131 in December 1998, firms that define primary operating segments by industry are required to disclose only geographic sales and assets; disclosure of geographic earnings is voluntary (FASB 1997). </a:t>
            </a:r>
            <a:endParaRPr lang="en-US" dirty="0"/>
          </a:p>
        </p:txBody>
      </p:sp>
    </p:spTree>
    <p:extLst>
      <p:ext uri="{BB962C8B-B14F-4D97-AF65-F5344CB8AC3E}">
        <p14:creationId xmlns:p14="http://schemas.microsoft.com/office/powerpoint/2010/main" val="16170700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600932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860261A4-C970-4A39-9D17-B66122BF50CD}" type="slidenum">
              <a:rPr lang="zh-CN" altLang="en-US" smtClean="0"/>
              <a:t>18</a:t>
            </a:fld>
            <a:endParaRPr lang="zh-CN" altLang="en-US"/>
          </a:p>
        </p:txBody>
      </p:sp>
    </p:spTree>
    <p:extLst>
      <p:ext uri="{BB962C8B-B14F-4D97-AF65-F5344CB8AC3E}">
        <p14:creationId xmlns:p14="http://schemas.microsoft.com/office/powerpoint/2010/main" val="16713018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860261A4-C970-4A39-9D17-B66122BF50CD}" type="slidenum">
              <a:rPr lang="zh-CN" altLang="en-US" smtClean="0"/>
              <a:t>19</a:t>
            </a:fld>
            <a:endParaRPr lang="zh-CN" altLang="en-US"/>
          </a:p>
        </p:txBody>
      </p:sp>
    </p:spTree>
    <p:extLst>
      <p:ext uri="{BB962C8B-B14F-4D97-AF65-F5344CB8AC3E}">
        <p14:creationId xmlns:p14="http://schemas.microsoft.com/office/powerpoint/2010/main" val="28621472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860261A4-C970-4A39-9D17-B66122BF50CD}" type="slidenum">
              <a:rPr lang="zh-CN" altLang="en-US" smtClean="0"/>
              <a:t>20</a:t>
            </a:fld>
            <a:endParaRPr lang="zh-CN" altLang="en-US"/>
          </a:p>
        </p:txBody>
      </p:sp>
    </p:spTree>
    <p:extLst>
      <p:ext uri="{BB962C8B-B14F-4D97-AF65-F5344CB8AC3E}">
        <p14:creationId xmlns:p14="http://schemas.microsoft.com/office/powerpoint/2010/main" val="26338874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860261A4-C970-4A39-9D17-B66122BF50CD}" type="slidenum">
              <a:rPr lang="zh-CN" altLang="en-US" smtClean="0"/>
              <a:t>21</a:t>
            </a:fld>
            <a:endParaRPr lang="zh-CN" altLang="en-US"/>
          </a:p>
        </p:txBody>
      </p:sp>
    </p:spTree>
    <p:extLst>
      <p:ext uri="{BB962C8B-B14F-4D97-AF65-F5344CB8AC3E}">
        <p14:creationId xmlns:p14="http://schemas.microsoft.com/office/powerpoint/2010/main" val="2003168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860261A4-C970-4A39-9D17-B66122BF50CD}" type="slidenum">
              <a:rPr lang="zh-CN" altLang="en-US" smtClean="0"/>
              <a:t>24</a:t>
            </a:fld>
            <a:endParaRPr lang="zh-CN" altLang="en-US"/>
          </a:p>
        </p:txBody>
      </p:sp>
    </p:spTree>
    <p:extLst>
      <p:ext uri="{BB962C8B-B14F-4D97-AF65-F5344CB8AC3E}">
        <p14:creationId xmlns:p14="http://schemas.microsoft.com/office/powerpoint/2010/main" val="39308890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860261A4-C970-4A39-9D17-B66122BF50CD}" type="slidenum">
              <a:rPr lang="zh-CN" altLang="en-US" smtClean="0"/>
              <a:t>25</a:t>
            </a:fld>
            <a:endParaRPr lang="zh-CN" altLang="en-US"/>
          </a:p>
        </p:txBody>
      </p:sp>
    </p:spTree>
    <p:extLst>
      <p:ext uri="{BB962C8B-B14F-4D97-AF65-F5344CB8AC3E}">
        <p14:creationId xmlns:p14="http://schemas.microsoft.com/office/powerpoint/2010/main" val="23945676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0AF8E5-950E-8D05-F1AD-04E597554A8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3C001BF-BE91-6D41-059F-610E677B5B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AC541B5-0248-3C37-3F08-6265AA466A45}"/>
              </a:ext>
            </a:extLst>
          </p:cNvPr>
          <p:cNvSpPr>
            <a:spLocks noGrp="1"/>
          </p:cNvSpPr>
          <p:nvPr>
            <p:ph type="dt" sz="half" idx="10"/>
          </p:nvPr>
        </p:nvSpPr>
        <p:spPr/>
        <p:txBody>
          <a:bodyPr/>
          <a:lstStyle/>
          <a:p>
            <a:fld id="{6E807C96-1B00-4843-93DA-9776290FD1B0}" type="datetime1">
              <a:rPr lang="zh-CN" altLang="en-US" smtClean="0"/>
              <a:t>2026/9/21</a:t>
            </a:fld>
            <a:endParaRPr lang="zh-CN" altLang="en-US"/>
          </a:p>
        </p:txBody>
      </p:sp>
      <p:sp>
        <p:nvSpPr>
          <p:cNvPr id="5" name="页脚占位符 4">
            <a:extLst>
              <a:ext uri="{FF2B5EF4-FFF2-40B4-BE49-F238E27FC236}">
                <a16:creationId xmlns:a16="http://schemas.microsoft.com/office/drawing/2014/main" id="{8B2BF54E-797F-CECA-1E44-5DC77CB91BC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E6BF6B8-4263-4EB2-3A9C-DBE0874501E8}"/>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3758420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A03ABE-2716-F60D-CCF4-686518571922}"/>
              </a:ext>
            </a:extLst>
          </p:cNvPr>
          <p:cNvSpPr>
            <a:spLocks noGrp="1"/>
          </p:cNvSpPr>
          <p:nvPr>
            <p:ph type="title" hasCustomPrompt="1"/>
          </p:nvPr>
        </p:nvSpPr>
        <p:spPr/>
        <p:txBody>
          <a:bodyPr/>
          <a:lstStyle>
            <a:lvl1pPr>
              <a:defRPr>
                <a:latin typeface="Century Schoolbook" panose="02040604050505020304" pitchFamily="18" charset="0"/>
                <a:ea typeface="+mj-ea"/>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54EDE80D-4584-2829-C0E0-01DC923E67D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3FC4E90-296F-754A-3429-A4B8A6273BE0}"/>
              </a:ext>
            </a:extLst>
          </p:cNvPr>
          <p:cNvSpPr>
            <a:spLocks noGrp="1"/>
          </p:cNvSpPr>
          <p:nvPr>
            <p:ph type="dt" sz="half" idx="10"/>
          </p:nvPr>
        </p:nvSpPr>
        <p:spPr/>
        <p:txBody>
          <a:bodyPr/>
          <a:lstStyle/>
          <a:p>
            <a:fld id="{5F095013-FAFA-4996-A6F8-1F75D307863F}" type="datetime1">
              <a:rPr lang="zh-CN" altLang="en-US" smtClean="0"/>
              <a:t>2026/9/21</a:t>
            </a:fld>
            <a:endParaRPr lang="zh-CN" altLang="en-US"/>
          </a:p>
        </p:txBody>
      </p:sp>
      <p:sp>
        <p:nvSpPr>
          <p:cNvPr id="5" name="页脚占位符 4">
            <a:extLst>
              <a:ext uri="{FF2B5EF4-FFF2-40B4-BE49-F238E27FC236}">
                <a16:creationId xmlns:a16="http://schemas.microsoft.com/office/drawing/2014/main" id="{3256496B-208A-DC7A-689F-B50B0E940CB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4D182A5-68E2-8619-08B1-A137D4D065E0}"/>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505144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452015-A9DB-C5BD-AED1-2F4BD76EFAB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367D0ED-6DBD-1241-4EA2-83C24C70C1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5AF94B6-4847-F29C-4437-C01A11BB2AED}"/>
              </a:ext>
            </a:extLst>
          </p:cNvPr>
          <p:cNvSpPr>
            <a:spLocks noGrp="1"/>
          </p:cNvSpPr>
          <p:nvPr>
            <p:ph type="dt" sz="half" idx="10"/>
          </p:nvPr>
        </p:nvSpPr>
        <p:spPr/>
        <p:txBody>
          <a:bodyPr/>
          <a:lstStyle/>
          <a:p>
            <a:fld id="{C5DA246F-282B-4AC5-B038-E15D3F4BC62A}" type="datetime1">
              <a:rPr lang="zh-CN" altLang="en-US" smtClean="0"/>
              <a:t>2026/9/21</a:t>
            </a:fld>
            <a:endParaRPr lang="zh-CN" altLang="en-US"/>
          </a:p>
        </p:txBody>
      </p:sp>
      <p:sp>
        <p:nvSpPr>
          <p:cNvPr id="5" name="页脚占位符 4">
            <a:extLst>
              <a:ext uri="{FF2B5EF4-FFF2-40B4-BE49-F238E27FC236}">
                <a16:creationId xmlns:a16="http://schemas.microsoft.com/office/drawing/2014/main" id="{9E383F9A-6379-FB6D-45E9-A33A7FB8AFE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0E76AD8-0F76-F8C3-0069-FAF821FC60E8}"/>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1593737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CF16F9-7CF8-A31C-2977-732E8683CC1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423127B-BDBF-1F75-88DC-4B9EF35E66FB}"/>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4747B01-8A60-327E-51CC-5E9D648B029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9B49217-035F-F370-58DB-83986EB769ED}"/>
              </a:ext>
            </a:extLst>
          </p:cNvPr>
          <p:cNvSpPr>
            <a:spLocks noGrp="1"/>
          </p:cNvSpPr>
          <p:nvPr>
            <p:ph type="dt" sz="half" idx="10"/>
          </p:nvPr>
        </p:nvSpPr>
        <p:spPr/>
        <p:txBody>
          <a:bodyPr/>
          <a:lstStyle/>
          <a:p>
            <a:fld id="{CEC318EE-E09B-4F85-A11A-87FC565B6F76}" type="datetime1">
              <a:rPr lang="zh-CN" altLang="en-US" smtClean="0"/>
              <a:t>2026/9/21</a:t>
            </a:fld>
            <a:endParaRPr lang="zh-CN" altLang="en-US"/>
          </a:p>
        </p:txBody>
      </p:sp>
      <p:sp>
        <p:nvSpPr>
          <p:cNvPr id="6" name="页脚占位符 5">
            <a:extLst>
              <a:ext uri="{FF2B5EF4-FFF2-40B4-BE49-F238E27FC236}">
                <a16:creationId xmlns:a16="http://schemas.microsoft.com/office/drawing/2014/main" id="{BC4F95D7-F535-F7DE-DBC0-86D4EF95634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6769DEA-8A46-3A98-D12E-F75D99B5749D}"/>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288937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4590F8-C2CD-119B-222C-FF42EC96D33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B84F08D-0E1E-7161-4A6F-35249BCFB2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046C6C1-5FE4-E211-985B-921646CB361D}"/>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3D214AA-EBD7-2039-AC7C-CED9B77A64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505F303-336A-1BB1-BAC1-49BA6C53418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3246AF0-1769-6A76-15A5-A7A378D98011}"/>
              </a:ext>
            </a:extLst>
          </p:cNvPr>
          <p:cNvSpPr>
            <a:spLocks noGrp="1"/>
          </p:cNvSpPr>
          <p:nvPr>
            <p:ph type="dt" sz="half" idx="10"/>
          </p:nvPr>
        </p:nvSpPr>
        <p:spPr/>
        <p:txBody>
          <a:bodyPr/>
          <a:lstStyle/>
          <a:p>
            <a:fld id="{26683FC8-A041-48FA-808C-CE8E042B67DD}" type="datetime1">
              <a:rPr lang="zh-CN" altLang="en-US" smtClean="0"/>
              <a:t>2026/9/21</a:t>
            </a:fld>
            <a:endParaRPr lang="zh-CN" altLang="en-US"/>
          </a:p>
        </p:txBody>
      </p:sp>
      <p:sp>
        <p:nvSpPr>
          <p:cNvPr id="8" name="页脚占位符 7">
            <a:extLst>
              <a:ext uri="{FF2B5EF4-FFF2-40B4-BE49-F238E27FC236}">
                <a16:creationId xmlns:a16="http://schemas.microsoft.com/office/drawing/2014/main" id="{C6024905-1D33-213C-5386-082E165434B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417AF8C-C9EF-9258-87F0-8C4BA9C623E2}"/>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3751446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3A7353-97B6-6E96-210C-17E88427366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F1F8CCC-A2A9-6BA4-EC22-A618D9DEC433}"/>
              </a:ext>
            </a:extLst>
          </p:cNvPr>
          <p:cNvSpPr>
            <a:spLocks noGrp="1"/>
          </p:cNvSpPr>
          <p:nvPr>
            <p:ph type="dt" sz="half" idx="10"/>
          </p:nvPr>
        </p:nvSpPr>
        <p:spPr/>
        <p:txBody>
          <a:bodyPr/>
          <a:lstStyle/>
          <a:p>
            <a:fld id="{2AD727EC-4A1D-4900-95E7-13F2A953FD4A}" type="datetime1">
              <a:rPr lang="zh-CN" altLang="en-US" smtClean="0"/>
              <a:t>2026/9/21</a:t>
            </a:fld>
            <a:endParaRPr lang="zh-CN" altLang="en-US"/>
          </a:p>
        </p:txBody>
      </p:sp>
      <p:sp>
        <p:nvSpPr>
          <p:cNvPr id="4" name="页脚占位符 3">
            <a:extLst>
              <a:ext uri="{FF2B5EF4-FFF2-40B4-BE49-F238E27FC236}">
                <a16:creationId xmlns:a16="http://schemas.microsoft.com/office/drawing/2014/main" id="{8CE6B241-992A-787E-6BBA-08093DC518C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2B192DE-3F6C-F363-25F0-E21F63586953}"/>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272346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EEC1604-6D29-96D8-BE53-045B3C9629DC}"/>
              </a:ext>
            </a:extLst>
          </p:cNvPr>
          <p:cNvSpPr>
            <a:spLocks noGrp="1"/>
          </p:cNvSpPr>
          <p:nvPr>
            <p:ph type="dt" sz="half" idx="10"/>
          </p:nvPr>
        </p:nvSpPr>
        <p:spPr/>
        <p:txBody>
          <a:bodyPr/>
          <a:lstStyle/>
          <a:p>
            <a:fld id="{E024DACF-18DB-4078-841D-53DE697B8835}" type="datetime1">
              <a:rPr lang="zh-CN" altLang="en-US" smtClean="0"/>
              <a:t>2026/9/21</a:t>
            </a:fld>
            <a:endParaRPr lang="zh-CN" altLang="en-US"/>
          </a:p>
        </p:txBody>
      </p:sp>
      <p:sp>
        <p:nvSpPr>
          <p:cNvPr id="3" name="页脚占位符 2">
            <a:extLst>
              <a:ext uri="{FF2B5EF4-FFF2-40B4-BE49-F238E27FC236}">
                <a16:creationId xmlns:a16="http://schemas.microsoft.com/office/drawing/2014/main" id="{8268A4A1-8B9F-21BF-38C6-F6FB9DE27F38}"/>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3B7490E-A9A0-5D21-115C-A5B6EE6E32FF}"/>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12222189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A19D8A-2E16-D969-FCAF-2FEC91F58FB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91F66DA-BF7F-468D-F35E-A71C2A5593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87DCAA3-70AF-342A-47AA-E164EB0181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9AC662B-295C-7E40-D0FB-669BC4458735}"/>
              </a:ext>
            </a:extLst>
          </p:cNvPr>
          <p:cNvSpPr>
            <a:spLocks noGrp="1"/>
          </p:cNvSpPr>
          <p:nvPr>
            <p:ph type="dt" sz="half" idx="10"/>
          </p:nvPr>
        </p:nvSpPr>
        <p:spPr/>
        <p:txBody>
          <a:bodyPr/>
          <a:lstStyle/>
          <a:p>
            <a:fld id="{5AE4D780-48C9-4A78-9734-20FDE0701464}" type="datetime1">
              <a:rPr lang="zh-CN" altLang="en-US" smtClean="0"/>
              <a:t>2026/9/21</a:t>
            </a:fld>
            <a:endParaRPr lang="zh-CN" altLang="en-US"/>
          </a:p>
        </p:txBody>
      </p:sp>
      <p:sp>
        <p:nvSpPr>
          <p:cNvPr id="6" name="页脚占位符 5">
            <a:extLst>
              <a:ext uri="{FF2B5EF4-FFF2-40B4-BE49-F238E27FC236}">
                <a16:creationId xmlns:a16="http://schemas.microsoft.com/office/drawing/2014/main" id="{14E75EC8-E794-9A65-B963-273A4DA8C3F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6987F22-1D1F-D6CC-55AA-CA1E3FDB6FAB}"/>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2701261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F17376-E363-BE75-1A46-93CDB424833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FE9ED85-F876-3506-EE52-43B8BCBCBB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CCA28F8-6CBD-CB2A-4B0A-1B84000880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009FBE1-11F2-5D1F-5050-74F49BE9423D}"/>
              </a:ext>
            </a:extLst>
          </p:cNvPr>
          <p:cNvSpPr>
            <a:spLocks noGrp="1"/>
          </p:cNvSpPr>
          <p:nvPr>
            <p:ph type="dt" sz="half" idx="10"/>
          </p:nvPr>
        </p:nvSpPr>
        <p:spPr/>
        <p:txBody>
          <a:bodyPr/>
          <a:lstStyle/>
          <a:p>
            <a:fld id="{B3D856DB-DE9B-4D41-959E-311105BC9F15}" type="datetime1">
              <a:rPr lang="zh-CN" altLang="en-US" smtClean="0"/>
              <a:t>2026/9/21</a:t>
            </a:fld>
            <a:endParaRPr lang="zh-CN" altLang="en-US"/>
          </a:p>
        </p:txBody>
      </p:sp>
      <p:sp>
        <p:nvSpPr>
          <p:cNvPr id="6" name="页脚占位符 5">
            <a:extLst>
              <a:ext uri="{FF2B5EF4-FFF2-40B4-BE49-F238E27FC236}">
                <a16:creationId xmlns:a16="http://schemas.microsoft.com/office/drawing/2014/main" id="{9A8A5285-6A52-553A-ACF2-D60EF0DE6C3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980A81E-D540-66B1-93EC-F8490B0FEBD2}"/>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16219447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92E624-E2F3-1C9A-D3B3-91DE9B75511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41BDFDD-AF68-0F24-6A93-49859CD47C3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F4C5F0B-7E74-4DC7-F9C5-6C31720F0D14}"/>
              </a:ext>
            </a:extLst>
          </p:cNvPr>
          <p:cNvSpPr>
            <a:spLocks noGrp="1"/>
          </p:cNvSpPr>
          <p:nvPr>
            <p:ph type="dt" sz="half" idx="10"/>
          </p:nvPr>
        </p:nvSpPr>
        <p:spPr/>
        <p:txBody>
          <a:bodyPr/>
          <a:lstStyle/>
          <a:p>
            <a:fld id="{8DF4875F-1CC6-4F12-ABE4-89166A465654}" type="datetime1">
              <a:rPr lang="zh-CN" altLang="en-US" smtClean="0"/>
              <a:t>2026/9/21</a:t>
            </a:fld>
            <a:endParaRPr lang="zh-CN" altLang="en-US"/>
          </a:p>
        </p:txBody>
      </p:sp>
      <p:sp>
        <p:nvSpPr>
          <p:cNvPr id="5" name="页脚占位符 4">
            <a:extLst>
              <a:ext uri="{FF2B5EF4-FFF2-40B4-BE49-F238E27FC236}">
                <a16:creationId xmlns:a16="http://schemas.microsoft.com/office/drawing/2014/main" id="{3632DD33-CCB5-BD84-1823-5A503B95942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CAECEE8-FAA4-AC6B-81D1-2F2FC2FFBE93}"/>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5237645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9473442-FD9F-20F9-D423-EBE5FF2C99C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478F7D4-92A6-76D3-0A88-6C45503E0797}"/>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C6E421C-0CB4-301C-08D0-59C03300DD19}"/>
              </a:ext>
            </a:extLst>
          </p:cNvPr>
          <p:cNvSpPr>
            <a:spLocks noGrp="1"/>
          </p:cNvSpPr>
          <p:nvPr>
            <p:ph type="dt" sz="half" idx="10"/>
          </p:nvPr>
        </p:nvSpPr>
        <p:spPr/>
        <p:txBody>
          <a:bodyPr/>
          <a:lstStyle/>
          <a:p>
            <a:fld id="{8BE3E932-BECE-42A3-9851-95B1F01952DC}" type="datetime1">
              <a:rPr lang="zh-CN" altLang="en-US" smtClean="0"/>
              <a:t>2026/9/21</a:t>
            </a:fld>
            <a:endParaRPr lang="zh-CN" altLang="en-US"/>
          </a:p>
        </p:txBody>
      </p:sp>
      <p:sp>
        <p:nvSpPr>
          <p:cNvPr id="5" name="页脚占位符 4">
            <a:extLst>
              <a:ext uri="{FF2B5EF4-FFF2-40B4-BE49-F238E27FC236}">
                <a16:creationId xmlns:a16="http://schemas.microsoft.com/office/drawing/2014/main" id="{79EA325C-ADAC-EFFE-A684-98278D2DDE7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7DCA15B-E99C-5FAD-0E5E-90E3DE74B525}"/>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18630214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7_Section Header">
    <p:spTree>
      <p:nvGrpSpPr>
        <p:cNvPr id="1" name=""/>
        <p:cNvGrpSpPr/>
        <p:nvPr/>
      </p:nvGrpSpPr>
      <p:grpSpPr>
        <a:xfrm>
          <a:off x="0" y="0"/>
          <a:ext cx="0" cy="0"/>
          <a:chOff x="0" y="0"/>
          <a:chExt cx="0" cy="0"/>
        </a:xfrm>
      </p:grpSpPr>
      <p:sp>
        <p:nvSpPr>
          <p:cNvPr id="163" name="Click to edit master title style"/>
          <p:cNvSpPr txBox="1">
            <a:spLocks noGrp="1"/>
          </p:cNvSpPr>
          <p:nvPr>
            <p:ph type="title" hasCustomPrompt="1"/>
          </p:nvPr>
        </p:nvSpPr>
        <p:spPr>
          <a:xfrm>
            <a:off x="738910" y="1882589"/>
            <a:ext cx="10714183" cy="2017060"/>
          </a:xfrm>
          <a:prstGeom prst="rect">
            <a:avLst/>
          </a:prstGeom>
        </p:spPr>
        <p:txBody>
          <a:bodyPr anchor="t"/>
          <a:lstStyle>
            <a:lvl1pPr>
              <a:defRPr sz="2500" b="1">
                <a:solidFill>
                  <a:srgbClr val="637052"/>
                </a:solidFill>
              </a:defRPr>
            </a:lvl1pPr>
          </a:lstStyle>
          <a:p>
            <a:r>
              <a:t>Click to edit master title style</a:t>
            </a:r>
          </a:p>
        </p:txBody>
      </p:sp>
      <p:sp>
        <p:nvSpPr>
          <p:cNvPr id="169" name="Slide Number"/>
          <p:cNvSpPr txBox="1">
            <a:spLocks noGrp="1"/>
          </p:cNvSpPr>
          <p:nvPr>
            <p:ph type="sldNum" sz="quarter" idx="2"/>
          </p:nvPr>
        </p:nvSpPr>
        <p:spPr>
          <a:xfrm>
            <a:off x="9347200" y="6445250"/>
            <a:ext cx="2844800" cy="368301"/>
          </a:xfrm>
          <a:prstGeom prst="rect">
            <a:avLst/>
          </a:prstGeo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53371884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49FEDB4-D24A-D053-B174-08C6866C18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endParaRPr lang="zh-CN" altLang="en-US" dirty="0"/>
          </a:p>
        </p:txBody>
      </p:sp>
      <p:sp>
        <p:nvSpPr>
          <p:cNvPr id="3" name="文本占位符 2">
            <a:extLst>
              <a:ext uri="{FF2B5EF4-FFF2-40B4-BE49-F238E27FC236}">
                <a16:creationId xmlns:a16="http://schemas.microsoft.com/office/drawing/2014/main" id="{558B83C5-7A07-2A5A-1F05-47DA1B865E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endParaRPr lang="zh-CN" altLang="en-US" dirty="0"/>
          </a:p>
        </p:txBody>
      </p:sp>
      <p:sp>
        <p:nvSpPr>
          <p:cNvPr id="4" name="日期占位符 3">
            <a:extLst>
              <a:ext uri="{FF2B5EF4-FFF2-40B4-BE49-F238E27FC236}">
                <a16:creationId xmlns:a16="http://schemas.microsoft.com/office/drawing/2014/main" id="{36C5B602-C58B-125C-B0F7-FE8D13927C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0D7607-91AE-4D36-ABF6-34B5F509E9BA}" type="datetime1">
              <a:rPr lang="zh-CN" altLang="en-US" smtClean="0"/>
              <a:t>2026/9/21</a:t>
            </a:fld>
            <a:endParaRPr lang="zh-CN" altLang="en-US"/>
          </a:p>
        </p:txBody>
      </p:sp>
      <p:sp>
        <p:nvSpPr>
          <p:cNvPr id="5" name="页脚占位符 4">
            <a:extLst>
              <a:ext uri="{FF2B5EF4-FFF2-40B4-BE49-F238E27FC236}">
                <a16:creationId xmlns:a16="http://schemas.microsoft.com/office/drawing/2014/main" id="{C7659421-F9E4-C409-345F-BF40647755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B3C788FF-D1B0-D606-854D-77FD64E14A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78BC13-B753-4634-A5F7-9F4F7C9ECC5F}" type="slidenum">
              <a:rPr lang="zh-CN" altLang="en-US" smtClean="0"/>
              <a:t>‹#›</a:t>
            </a:fld>
            <a:endParaRPr lang="zh-CN" altLang="en-US"/>
          </a:p>
        </p:txBody>
      </p:sp>
      <p:pic>
        <p:nvPicPr>
          <p:cNvPr id="7" name="Google Shape;66;p14">
            <a:extLst>
              <a:ext uri="{FF2B5EF4-FFF2-40B4-BE49-F238E27FC236}">
                <a16:creationId xmlns:a16="http://schemas.microsoft.com/office/drawing/2014/main" id="{31B9E400-573C-4C14-D997-522C8F8B5466}"/>
              </a:ext>
            </a:extLst>
          </p:cNvPr>
          <p:cNvPicPr preferRelativeResize="0"/>
          <p:nvPr userDrawn="1"/>
        </p:nvPicPr>
        <p:blipFill rotWithShape="1">
          <a:blip r:embed="rId14">
            <a:alphaModFix/>
          </a:blip>
          <a:srcRect/>
          <a:stretch/>
        </p:blipFill>
        <p:spPr>
          <a:xfrm>
            <a:off x="8926725" y="86421"/>
            <a:ext cx="3005534" cy="715037"/>
          </a:xfrm>
          <a:prstGeom prst="rect">
            <a:avLst/>
          </a:prstGeom>
          <a:noFill/>
          <a:ln>
            <a:noFill/>
          </a:ln>
        </p:spPr>
      </p:pic>
    </p:spTree>
    <p:extLst>
      <p:ext uri="{BB962C8B-B14F-4D97-AF65-F5344CB8AC3E}">
        <p14:creationId xmlns:p14="http://schemas.microsoft.com/office/powerpoint/2010/main" val="34595327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l" defTabSz="914400" rtl="0" eaLnBrk="1" latinLnBrk="0" hangingPunct="1">
        <a:lnSpc>
          <a:spcPct val="90000"/>
        </a:lnSpc>
        <a:spcBef>
          <a:spcPct val="0"/>
        </a:spcBef>
        <a:buNone/>
        <a:defRPr sz="4400" kern="1200">
          <a:solidFill>
            <a:schemeClr val="tx1"/>
          </a:solidFill>
          <a:latin typeface="Century Schoolbook" panose="020406040505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entury Schoolbook" panose="020406040505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entury Schoolbook" panose="020406040505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Schoolbook" panose="020406040505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Schoolbook" panose="020406040505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Schoolbook" panose="020406040505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0C3D55-AA85-8738-C0C5-45819DDDFE56}"/>
              </a:ext>
            </a:extLst>
          </p:cNvPr>
          <p:cNvSpPr>
            <a:spLocks noGrp="1"/>
          </p:cNvSpPr>
          <p:nvPr>
            <p:ph idx="1"/>
          </p:nvPr>
        </p:nvSpPr>
        <p:spPr/>
        <p:txBody>
          <a:bodyPr/>
          <a:lstStyle/>
          <a:p>
            <a:pPr marL="0" indent="0">
              <a:buNone/>
            </a:pPr>
            <a:r>
              <a:rPr lang="en-US" b="1" dirty="0">
                <a:solidFill>
                  <a:schemeClr val="accent1"/>
                </a:solidFill>
              </a:rPr>
              <a:t>Week 2 homework question:</a:t>
            </a:r>
          </a:p>
          <a:p>
            <a:r>
              <a:rPr lang="en-US" dirty="0"/>
              <a:t>Proprietary cost of disclosure is often defined as the economic losses incurred when product market competitors exploit the disclosed information to the disadvantage of the disclosing firm. What other sources could give rise to the proprietary cost of disclosure? </a:t>
            </a:r>
          </a:p>
        </p:txBody>
      </p:sp>
      <p:sp>
        <p:nvSpPr>
          <p:cNvPr id="4" name="Date Placeholder 3">
            <a:extLst>
              <a:ext uri="{FF2B5EF4-FFF2-40B4-BE49-F238E27FC236}">
                <a16:creationId xmlns:a16="http://schemas.microsoft.com/office/drawing/2014/main" id="{D54E5C6F-316E-EC90-4C7F-59EB8A958ACE}"/>
              </a:ext>
            </a:extLst>
          </p:cNvPr>
          <p:cNvSpPr>
            <a:spLocks noGrp="1"/>
          </p:cNvSpPr>
          <p:nvPr>
            <p:ph type="dt" sz="half" idx="10"/>
          </p:nvPr>
        </p:nvSpPr>
        <p:spPr/>
        <p:txBody>
          <a:bodyPr/>
          <a:lstStyle/>
          <a:p>
            <a:fld id="{5F095013-FAFA-4996-A6F8-1F75D307863F}" type="datetime1">
              <a:rPr lang="zh-CN" altLang="en-US" smtClean="0"/>
              <a:t>2026/9/21</a:t>
            </a:fld>
            <a:endParaRPr lang="zh-CN" altLang="en-US"/>
          </a:p>
        </p:txBody>
      </p:sp>
      <p:sp>
        <p:nvSpPr>
          <p:cNvPr id="5" name="Slide Number Placeholder 4">
            <a:extLst>
              <a:ext uri="{FF2B5EF4-FFF2-40B4-BE49-F238E27FC236}">
                <a16:creationId xmlns:a16="http://schemas.microsoft.com/office/drawing/2014/main" id="{21A55532-CA8F-A549-A2AB-2B71C436BC6F}"/>
              </a:ext>
            </a:extLst>
          </p:cNvPr>
          <p:cNvSpPr>
            <a:spLocks noGrp="1"/>
          </p:cNvSpPr>
          <p:nvPr>
            <p:ph type="sldNum" sz="quarter" idx="12"/>
          </p:nvPr>
        </p:nvSpPr>
        <p:spPr/>
        <p:txBody>
          <a:bodyPr/>
          <a:lstStyle/>
          <a:p>
            <a:fld id="{1778BC13-B753-4634-A5F7-9F4F7C9ECC5F}" type="slidenum">
              <a:rPr lang="zh-CN" altLang="en-US" smtClean="0"/>
              <a:t>1</a:t>
            </a:fld>
            <a:endParaRPr lang="zh-CN" altLang="en-US"/>
          </a:p>
        </p:txBody>
      </p:sp>
    </p:spTree>
    <p:extLst>
      <p:ext uri="{BB962C8B-B14F-4D97-AF65-F5344CB8AC3E}">
        <p14:creationId xmlns:p14="http://schemas.microsoft.com/office/powerpoint/2010/main" val="3044545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C5186-F45F-4288-B3BF-349A2BEEAF63}"/>
              </a:ext>
            </a:extLst>
          </p:cNvPr>
          <p:cNvSpPr>
            <a:spLocks noGrp="1"/>
          </p:cNvSpPr>
          <p:nvPr>
            <p:ph type="title"/>
          </p:nvPr>
        </p:nvSpPr>
        <p:spPr/>
        <p:txBody>
          <a:bodyPr/>
          <a:lstStyle/>
          <a:p>
            <a:r>
              <a:rPr lang="en-US" dirty="0"/>
              <a:t>Sources of Proprietary Cost</a:t>
            </a:r>
          </a:p>
        </p:txBody>
      </p:sp>
      <p:sp>
        <p:nvSpPr>
          <p:cNvPr id="3" name="Content Placeholder 2">
            <a:extLst>
              <a:ext uri="{FF2B5EF4-FFF2-40B4-BE49-F238E27FC236}">
                <a16:creationId xmlns:a16="http://schemas.microsoft.com/office/drawing/2014/main" id="{2971A368-12DB-434A-A5EF-C9A542FAAAEC}"/>
              </a:ext>
            </a:extLst>
          </p:cNvPr>
          <p:cNvSpPr>
            <a:spLocks noGrp="1"/>
          </p:cNvSpPr>
          <p:nvPr>
            <p:ph idx="1"/>
          </p:nvPr>
        </p:nvSpPr>
        <p:spPr/>
        <p:txBody>
          <a:bodyPr/>
          <a:lstStyle/>
          <a:p>
            <a:r>
              <a:rPr lang="en-US" dirty="0"/>
              <a:t>Product Market</a:t>
            </a:r>
          </a:p>
          <a:p>
            <a:r>
              <a:rPr lang="en-US" dirty="0"/>
              <a:t>Employees</a:t>
            </a:r>
          </a:p>
          <a:p>
            <a:r>
              <a:rPr lang="en-US" dirty="0"/>
              <a:t>Regulators</a:t>
            </a:r>
          </a:p>
          <a:p>
            <a:r>
              <a:rPr lang="en-US" dirty="0"/>
              <a:t>The Public</a:t>
            </a:r>
          </a:p>
        </p:txBody>
      </p:sp>
      <p:sp>
        <p:nvSpPr>
          <p:cNvPr id="4" name="Date Placeholder 3">
            <a:extLst>
              <a:ext uri="{FF2B5EF4-FFF2-40B4-BE49-F238E27FC236}">
                <a16:creationId xmlns:a16="http://schemas.microsoft.com/office/drawing/2014/main" id="{A7D2E2D0-8710-49A9-BD36-4E47EA0C765A}"/>
              </a:ext>
            </a:extLst>
          </p:cNvPr>
          <p:cNvSpPr>
            <a:spLocks noGrp="1"/>
          </p:cNvSpPr>
          <p:nvPr>
            <p:ph type="dt" sz="half" idx="10"/>
          </p:nvPr>
        </p:nvSpPr>
        <p:spPr/>
        <p:txBody>
          <a:bodyPr/>
          <a:lstStyle/>
          <a:p>
            <a:fld id="{448298FE-1495-AF43-BB23-0A2399910544}" type="datetime1">
              <a:rPr lang="en-HK" smtClean="0">
                <a:ea typeface="PMingLiU" panose="02020500000000000000" pitchFamily="18" charset="-120"/>
                <a:cs typeface="Arial" panose="020B0604020202020204" pitchFamily="34" charset="0"/>
              </a:rPr>
              <a:t>21/9/2026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85AB5793-0ED0-42EA-89A8-347E41DC523E}"/>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2</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3254995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3FD52-C5C9-4783-A1FE-60D7C15812E4}"/>
              </a:ext>
            </a:extLst>
          </p:cNvPr>
          <p:cNvSpPr>
            <a:spLocks noGrp="1"/>
          </p:cNvSpPr>
          <p:nvPr>
            <p:ph type="title"/>
          </p:nvPr>
        </p:nvSpPr>
        <p:spPr/>
        <p:txBody>
          <a:bodyPr>
            <a:normAutofit/>
          </a:bodyPr>
          <a:lstStyle/>
          <a:p>
            <a:r>
              <a:rPr lang="en-US" sz="3000" dirty="0"/>
              <a:t>Proprietary Cost of Disclosure Arising from the Labor Market</a:t>
            </a:r>
          </a:p>
        </p:txBody>
      </p:sp>
      <p:sp>
        <p:nvSpPr>
          <p:cNvPr id="3" name="Slide Number Placeholder 2">
            <a:extLst>
              <a:ext uri="{FF2B5EF4-FFF2-40B4-BE49-F238E27FC236}">
                <a16:creationId xmlns:a16="http://schemas.microsoft.com/office/drawing/2014/main" id="{760DC41D-3229-4849-BBBB-6BDD62CC8370}"/>
              </a:ext>
            </a:extLst>
          </p:cNvPr>
          <p:cNvSpPr>
            <a:spLocks noGrp="1"/>
          </p:cNvSpPr>
          <p:nvPr>
            <p:ph type="sldNum" sz="quarter" idx="2"/>
          </p:nvPr>
        </p:nvSpPr>
        <p:spPr/>
        <p:txBody>
          <a:bodyPr/>
          <a:lstStyle/>
          <a:p>
            <a:fld id="{86CB4B4D-7CA3-9044-876B-883B54F8677D}" type="slidenum">
              <a:rPr lang="en-US" smtClean="0"/>
              <a:pPr/>
              <a:t>3</a:t>
            </a:fld>
            <a:endParaRPr lang="en-US" dirty="0"/>
          </a:p>
        </p:txBody>
      </p:sp>
    </p:spTree>
    <p:extLst>
      <p:ext uri="{BB962C8B-B14F-4D97-AF65-F5344CB8AC3E}">
        <p14:creationId xmlns:p14="http://schemas.microsoft.com/office/powerpoint/2010/main" val="3455849192"/>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EA35F-1A15-943D-CA79-8BB85281BC20}"/>
              </a:ext>
            </a:extLst>
          </p:cNvPr>
          <p:cNvSpPr>
            <a:spLocks noGrp="1"/>
          </p:cNvSpPr>
          <p:nvPr>
            <p:ph type="title"/>
          </p:nvPr>
        </p:nvSpPr>
        <p:spPr/>
        <p:txBody>
          <a:bodyPr>
            <a:noAutofit/>
          </a:bodyPr>
          <a:lstStyle/>
          <a:p>
            <a:r>
              <a:rPr lang="en-HK" sz="3000" dirty="0"/>
              <a:t>Bova, F., Dou, Y., &amp; Hope, O. K. (2015). Employee ownership and firm disclosure. </a:t>
            </a:r>
            <a:r>
              <a:rPr lang="en-HK" sz="3000" i="1" dirty="0"/>
              <a:t>Contemporary Accounting Research</a:t>
            </a:r>
            <a:r>
              <a:rPr lang="en-HK" sz="3000" dirty="0"/>
              <a:t>, </a:t>
            </a:r>
            <a:r>
              <a:rPr lang="en-HK" sz="3000" i="1" dirty="0"/>
              <a:t>32</a:t>
            </a:r>
            <a:r>
              <a:rPr lang="en-HK" sz="3000" dirty="0"/>
              <a:t>(2), 639-673.</a:t>
            </a:r>
          </a:p>
        </p:txBody>
      </p:sp>
      <p:sp>
        <p:nvSpPr>
          <p:cNvPr id="3" name="Content Placeholder 2">
            <a:extLst>
              <a:ext uri="{FF2B5EF4-FFF2-40B4-BE49-F238E27FC236}">
                <a16:creationId xmlns:a16="http://schemas.microsoft.com/office/drawing/2014/main" id="{AFD8633A-34F9-BE7C-F573-16016A9875BC}"/>
              </a:ext>
            </a:extLst>
          </p:cNvPr>
          <p:cNvSpPr>
            <a:spLocks noGrp="1"/>
          </p:cNvSpPr>
          <p:nvPr>
            <p:ph idx="1"/>
          </p:nvPr>
        </p:nvSpPr>
        <p:spPr/>
        <p:txBody>
          <a:bodyPr>
            <a:normAutofit fontScale="85000" lnSpcReduction="20000"/>
          </a:bodyPr>
          <a:lstStyle/>
          <a:p>
            <a:r>
              <a:rPr lang="en-HK" b="1" dirty="0"/>
              <a:t>Abstract</a:t>
            </a:r>
          </a:p>
          <a:p>
            <a:r>
              <a:rPr lang="en-HK" dirty="0"/>
              <a:t>Evidence suggests that managers have an incentive to keep information opaque with the market when negotiating with employees who can extract above-market rents from the firm. We argue that employee ownership should mitigate this incentive to extract above-market rents and, in turn, alleviate the firm’s need to keep information opaque. Consistent with our expectations and using a number of proxies for disclosure, we find that firms whose non-manager employees have strong bargaining power provide less disclosure. However, this effect is mitigated, the greater the equity in company common stock held by non-manager employees. Our results suggest a novel capital market benefit to employee ownership. Specifically, employee ownership for non-manager employees appears to benefit the firm by not only aligning goals between the firm and its employees, but by also increasing disclosure from the firm to all of its stakeholders by mitigating the firm’s need to keep information opaque.</a:t>
            </a:r>
          </a:p>
          <a:p>
            <a:pPr marL="0" indent="0">
              <a:buNone/>
            </a:pPr>
            <a:endParaRPr lang="en-HK" dirty="0"/>
          </a:p>
        </p:txBody>
      </p:sp>
      <p:sp>
        <p:nvSpPr>
          <p:cNvPr id="4" name="Date Placeholder 3">
            <a:extLst>
              <a:ext uri="{FF2B5EF4-FFF2-40B4-BE49-F238E27FC236}">
                <a16:creationId xmlns:a16="http://schemas.microsoft.com/office/drawing/2014/main" id="{68CD4CC1-E87E-BC91-576B-51E0C4476551}"/>
              </a:ext>
            </a:extLst>
          </p:cNvPr>
          <p:cNvSpPr>
            <a:spLocks noGrp="1"/>
          </p:cNvSpPr>
          <p:nvPr>
            <p:ph type="dt" sz="half" idx="10"/>
          </p:nvPr>
        </p:nvSpPr>
        <p:spPr/>
        <p:txBody>
          <a:bodyPr/>
          <a:lstStyle/>
          <a:p>
            <a:fld id="{5F095013-FAFA-4996-A6F8-1F75D307863F}" type="datetime1">
              <a:rPr lang="zh-CN" altLang="en-US" smtClean="0"/>
              <a:t>2026/9/21</a:t>
            </a:fld>
            <a:endParaRPr lang="zh-CN" altLang="en-US"/>
          </a:p>
        </p:txBody>
      </p:sp>
      <p:sp>
        <p:nvSpPr>
          <p:cNvPr id="5" name="Slide Number Placeholder 4">
            <a:extLst>
              <a:ext uri="{FF2B5EF4-FFF2-40B4-BE49-F238E27FC236}">
                <a16:creationId xmlns:a16="http://schemas.microsoft.com/office/drawing/2014/main" id="{48254AA8-0A17-167F-734F-13C499901476}"/>
              </a:ext>
            </a:extLst>
          </p:cNvPr>
          <p:cNvSpPr>
            <a:spLocks noGrp="1"/>
          </p:cNvSpPr>
          <p:nvPr>
            <p:ph type="sldNum" sz="quarter" idx="12"/>
          </p:nvPr>
        </p:nvSpPr>
        <p:spPr/>
        <p:txBody>
          <a:bodyPr/>
          <a:lstStyle/>
          <a:p>
            <a:fld id="{1778BC13-B753-4634-A5F7-9F4F7C9ECC5F}" type="slidenum">
              <a:rPr lang="zh-CN" altLang="en-US" smtClean="0"/>
              <a:t>4</a:t>
            </a:fld>
            <a:endParaRPr lang="zh-CN" altLang="en-US"/>
          </a:p>
        </p:txBody>
      </p:sp>
    </p:spTree>
    <p:extLst>
      <p:ext uri="{BB962C8B-B14F-4D97-AF65-F5344CB8AC3E}">
        <p14:creationId xmlns:p14="http://schemas.microsoft.com/office/powerpoint/2010/main" val="2162491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9C166B3-6FCF-4D74-7A2B-2BF5B33A3C9A}"/>
              </a:ext>
            </a:extLst>
          </p:cNvPr>
          <p:cNvSpPr>
            <a:spLocks noGrp="1"/>
          </p:cNvSpPr>
          <p:nvPr>
            <p:ph type="dt" sz="half" idx="10"/>
          </p:nvPr>
        </p:nvSpPr>
        <p:spPr/>
        <p:txBody>
          <a:bodyPr/>
          <a:lstStyle/>
          <a:p>
            <a:fld id="{5F095013-FAFA-4996-A6F8-1F75D307863F}" type="datetime1">
              <a:rPr lang="zh-CN" altLang="en-US" smtClean="0"/>
              <a:t>2026/9/21</a:t>
            </a:fld>
            <a:endParaRPr lang="zh-CN" altLang="en-US"/>
          </a:p>
        </p:txBody>
      </p:sp>
      <p:sp>
        <p:nvSpPr>
          <p:cNvPr id="5" name="Slide Number Placeholder 4">
            <a:extLst>
              <a:ext uri="{FF2B5EF4-FFF2-40B4-BE49-F238E27FC236}">
                <a16:creationId xmlns:a16="http://schemas.microsoft.com/office/drawing/2014/main" id="{23A43800-9C53-2BED-D896-DCC2E5044346}"/>
              </a:ext>
            </a:extLst>
          </p:cNvPr>
          <p:cNvSpPr>
            <a:spLocks noGrp="1"/>
          </p:cNvSpPr>
          <p:nvPr>
            <p:ph type="sldNum" sz="quarter" idx="12"/>
          </p:nvPr>
        </p:nvSpPr>
        <p:spPr/>
        <p:txBody>
          <a:bodyPr/>
          <a:lstStyle/>
          <a:p>
            <a:fld id="{1778BC13-B753-4634-A5F7-9F4F7C9ECC5F}" type="slidenum">
              <a:rPr lang="zh-CN" altLang="en-US" smtClean="0"/>
              <a:t>5</a:t>
            </a:fld>
            <a:endParaRPr lang="zh-CN" altLang="en-US"/>
          </a:p>
        </p:txBody>
      </p:sp>
      <p:pic>
        <p:nvPicPr>
          <p:cNvPr id="7" name="Picture 6">
            <a:extLst>
              <a:ext uri="{FF2B5EF4-FFF2-40B4-BE49-F238E27FC236}">
                <a16:creationId xmlns:a16="http://schemas.microsoft.com/office/drawing/2014/main" id="{3E0E8BCF-2CE0-5FAD-BBB5-C385938E711D}"/>
              </a:ext>
            </a:extLst>
          </p:cNvPr>
          <p:cNvPicPr>
            <a:picLocks noChangeAspect="1"/>
          </p:cNvPicPr>
          <p:nvPr/>
        </p:nvPicPr>
        <p:blipFill>
          <a:blip r:embed="rId2"/>
          <a:stretch>
            <a:fillRect/>
          </a:stretch>
        </p:blipFill>
        <p:spPr>
          <a:xfrm rot="5400000">
            <a:off x="2740809" y="-1372703"/>
            <a:ext cx="6230526" cy="10035746"/>
          </a:xfrm>
          <a:prstGeom prst="rect">
            <a:avLst/>
          </a:prstGeom>
        </p:spPr>
      </p:pic>
    </p:spTree>
    <p:extLst>
      <p:ext uri="{BB962C8B-B14F-4D97-AF65-F5344CB8AC3E}">
        <p14:creationId xmlns:p14="http://schemas.microsoft.com/office/powerpoint/2010/main" val="2059643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31C7B-2560-474E-B2FE-C3C38950951D}"/>
              </a:ext>
            </a:extLst>
          </p:cNvPr>
          <p:cNvSpPr>
            <a:spLocks noGrp="1"/>
          </p:cNvSpPr>
          <p:nvPr>
            <p:ph type="title"/>
          </p:nvPr>
        </p:nvSpPr>
        <p:spPr>
          <a:xfrm>
            <a:off x="530824" y="1115146"/>
            <a:ext cx="9962172" cy="1143000"/>
          </a:xfrm>
        </p:spPr>
        <p:txBody>
          <a:bodyPr>
            <a:noAutofit/>
          </a:bodyPr>
          <a:lstStyle/>
          <a:p>
            <a:r>
              <a:rPr lang="en-HK" sz="3000" dirty="0" err="1"/>
              <a:t>Aobdia</a:t>
            </a:r>
            <a:r>
              <a:rPr lang="en-HK" sz="3000" dirty="0"/>
              <a:t>, D., &amp; Cheng, L. (2018). Unionization, product market competition, and strategic disclosure. </a:t>
            </a:r>
            <a:r>
              <a:rPr lang="en-HK" sz="3000" i="1" dirty="0"/>
              <a:t>Journal of Accounting and Economics</a:t>
            </a:r>
            <a:r>
              <a:rPr lang="en-HK" sz="3000" dirty="0"/>
              <a:t>, </a:t>
            </a:r>
            <a:r>
              <a:rPr lang="en-HK" sz="3000" i="1" dirty="0"/>
              <a:t>65</a:t>
            </a:r>
            <a:r>
              <a:rPr lang="en-HK" sz="3000" dirty="0"/>
              <a:t>(2-3), 331-357.</a:t>
            </a:r>
            <a:br>
              <a:rPr lang="en-US" sz="3000" dirty="0"/>
            </a:br>
            <a:endParaRPr lang="en-US" sz="3000" dirty="0"/>
          </a:p>
        </p:txBody>
      </p:sp>
      <p:sp>
        <p:nvSpPr>
          <p:cNvPr id="3" name="Content Placeholder 2">
            <a:extLst>
              <a:ext uri="{FF2B5EF4-FFF2-40B4-BE49-F238E27FC236}">
                <a16:creationId xmlns:a16="http://schemas.microsoft.com/office/drawing/2014/main" id="{643C8F7C-55B9-4627-846D-7546CD0EAC32}"/>
              </a:ext>
            </a:extLst>
          </p:cNvPr>
          <p:cNvSpPr>
            <a:spLocks noGrp="1"/>
          </p:cNvSpPr>
          <p:nvPr>
            <p:ph idx="1"/>
          </p:nvPr>
        </p:nvSpPr>
        <p:spPr>
          <a:xfrm>
            <a:off x="530824" y="2506662"/>
            <a:ext cx="10515600" cy="4351338"/>
          </a:xfrm>
        </p:spPr>
        <p:txBody>
          <a:bodyPr/>
          <a:lstStyle/>
          <a:p>
            <a:r>
              <a:rPr lang="en-HK" dirty="0"/>
              <a:t>We find that non-unionized firms disclose more information and more good news when renegotiations are ongoing. </a:t>
            </a:r>
          </a:p>
          <a:p>
            <a:r>
              <a:rPr lang="en-HK" dirty="0"/>
              <a:t>This </a:t>
            </a:r>
            <a:r>
              <a:rPr lang="en-HK" dirty="0" err="1"/>
              <a:t>behavior</a:t>
            </a:r>
            <a:r>
              <a:rPr lang="en-HK" dirty="0"/>
              <a:t> is stronger for larger firms, firms with fewer peers in the industry, and firms more similar to their renegotiating rivals. </a:t>
            </a:r>
          </a:p>
          <a:p>
            <a:r>
              <a:rPr lang="en-HK" dirty="0"/>
              <a:t>We also find some evidence that unionized firms are harmed by this </a:t>
            </a:r>
            <a:r>
              <a:rPr lang="en-HK" dirty="0" err="1"/>
              <a:t>behavior</a:t>
            </a:r>
            <a:r>
              <a:rPr lang="en-HK" dirty="0"/>
              <a:t> and that non-unionized firms benefit from their increased disclosures. </a:t>
            </a:r>
            <a:endParaRPr lang="en-US" dirty="0"/>
          </a:p>
        </p:txBody>
      </p:sp>
      <p:sp>
        <p:nvSpPr>
          <p:cNvPr id="4" name="Date Placeholder 3">
            <a:extLst>
              <a:ext uri="{FF2B5EF4-FFF2-40B4-BE49-F238E27FC236}">
                <a16:creationId xmlns:a16="http://schemas.microsoft.com/office/drawing/2014/main" id="{347B932A-E5D9-4368-8A6A-40C03DD4BEA8}"/>
              </a:ext>
            </a:extLst>
          </p:cNvPr>
          <p:cNvSpPr>
            <a:spLocks noGrp="1"/>
          </p:cNvSpPr>
          <p:nvPr>
            <p:ph type="dt" sz="half" idx="10"/>
          </p:nvPr>
        </p:nvSpPr>
        <p:spPr/>
        <p:txBody>
          <a:bodyPr/>
          <a:lstStyle/>
          <a:p>
            <a:fld id="{9F4E985F-B539-824A-B1CA-95F2C8CFA591}" type="datetime1">
              <a:rPr lang="en-HK" smtClean="0">
                <a:ea typeface="PMingLiU" panose="02020500000000000000" pitchFamily="18" charset="-120"/>
                <a:cs typeface="Arial" panose="020B0604020202020204" pitchFamily="34" charset="0"/>
              </a:rPr>
              <a:t>21/9/2026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1888B4BB-67EA-4EDE-94EE-6D9A6C5E9F0F}"/>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6</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3888117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FB65955-D6C9-4FC4-9AD7-0B321593355E}"/>
              </a:ext>
            </a:extLst>
          </p:cNvPr>
          <p:cNvSpPr>
            <a:spLocks noGrp="1"/>
          </p:cNvSpPr>
          <p:nvPr>
            <p:ph type="dt" sz="half" idx="10"/>
          </p:nvPr>
        </p:nvSpPr>
        <p:spPr/>
        <p:txBody>
          <a:bodyPr/>
          <a:lstStyle/>
          <a:p>
            <a:fld id="{56567829-F40A-D847-B7C4-82E73F59C62F}" type="datetime1">
              <a:rPr lang="en-HK" smtClean="0">
                <a:ea typeface="PMingLiU" panose="02020500000000000000" pitchFamily="18" charset="-120"/>
                <a:cs typeface="Arial" panose="020B0604020202020204" pitchFamily="34" charset="0"/>
              </a:rPr>
              <a:t>21/9/2026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F709BBAF-A145-4AE0-B907-A4744E3AC065}"/>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7</a:t>
            </a:fld>
            <a:endParaRPr lang="en-US" dirty="0">
              <a:latin typeface="Calibri" panose="020F0502020204030204" pitchFamily="34" charset="0"/>
              <a:ea typeface="PMingLiU" panose="02020500000000000000" pitchFamily="18" charset="-120"/>
              <a:cs typeface="Arial" panose="020B0604020202020204" pitchFamily="34" charset="0"/>
            </a:endParaRPr>
          </a:p>
        </p:txBody>
      </p:sp>
      <p:pic>
        <p:nvPicPr>
          <p:cNvPr id="6" name="Picture 5">
            <a:extLst>
              <a:ext uri="{FF2B5EF4-FFF2-40B4-BE49-F238E27FC236}">
                <a16:creationId xmlns:a16="http://schemas.microsoft.com/office/drawing/2014/main" id="{9B801B2E-7CD3-454A-8616-164B315C1E53}"/>
              </a:ext>
            </a:extLst>
          </p:cNvPr>
          <p:cNvPicPr>
            <a:picLocks noChangeAspect="1"/>
          </p:cNvPicPr>
          <p:nvPr/>
        </p:nvPicPr>
        <p:blipFill>
          <a:blip r:embed="rId2"/>
          <a:stretch>
            <a:fillRect/>
          </a:stretch>
        </p:blipFill>
        <p:spPr>
          <a:xfrm>
            <a:off x="1524000" y="1156257"/>
            <a:ext cx="9144000" cy="4545487"/>
          </a:xfrm>
          <a:prstGeom prst="rect">
            <a:avLst/>
          </a:prstGeom>
        </p:spPr>
      </p:pic>
    </p:spTree>
    <p:extLst>
      <p:ext uri="{BB962C8B-B14F-4D97-AF65-F5344CB8AC3E}">
        <p14:creationId xmlns:p14="http://schemas.microsoft.com/office/powerpoint/2010/main" val="1690645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D863331-4FC7-2FC1-8120-FD516D59EA9A}"/>
              </a:ext>
            </a:extLst>
          </p:cNvPr>
          <p:cNvSpPr>
            <a:spLocks noGrp="1"/>
          </p:cNvSpPr>
          <p:nvPr>
            <p:ph type="dt" sz="half" idx="10"/>
          </p:nvPr>
        </p:nvSpPr>
        <p:spPr/>
        <p:txBody>
          <a:bodyPr/>
          <a:lstStyle/>
          <a:p>
            <a:fld id="{5F095013-FAFA-4996-A6F8-1F75D307863F}" type="datetime1">
              <a:rPr lang="zh-CN" altLang="en-US" smtClean="0"/>
              <a:t>2026/9/21</a:t>
            </a:fld>
            <a:endParaRPr lang="zh-CN" altLang="en-US"/>
          </a:p>
        </p:txBody>
      </p:sp>
      <p:sp>
        <p:nvSpPr>
          <p:cNvPr id="5" name="Slide Number Placeholder 4">
            <a:extLst>
              <a:ext uri="{FF2B5EF4-FFF2-40B4-BE49-F238E27FC236}">
                <a16:creationId xmlns:a16="http://schemas.microsoft.com/office/drawing/2014/main" id="{E87B6100-B3A5-876D-066C-96463D693D21}"/>
              </a:ext>
            </a:extLst>
          </p:cNvPr>
          <p:cNvSpPr>
            <a:spLocks noGrp="1"/>
          </p:cNvSpPr>
          <p:nvPr>
            <p:ph type="sldNum" sz="quarter" idx="12"/>
          </p:nvPr>
        </p:nvSpPr>
        <p:spPr/>
        <p:txBody>
          <a:bodyPr/>
          <a:lstStyle/>
          <a:p>
            <a:fld id="{1778BC13-B753-4634-A5F7-9F4F7C9ECC5F}" type="slidenum">
              <a:rPr lang="zh-CN" altLang="en-US" smtClean="0"/>
              <a:t>8</a:t>
            </a:fld>
            <a:endParaRPr lang="zh-CN" altLang="en-US"/>
          </a:p>
        </p:txBody>
      </p:sp>
      <p:pic>
        <p:nvPicPr>
          <p:cNvPr id="7" name="Picture 6">
            <a:extLst>
              <a:ext uri="{FF2B5EF4-FFF2-40B4-BE49-F238E27FC236}">
                <a16:creationId xmlns:a16="http://schemas.microsoft.com/office/drawing/2014/main" id="{A5C03DC5-5637-C9DF-9A4E-5234875D1B95}"/>
              </a:ext>
            </a:extLst>
          </p:cNvPr>
          <p:cNvPicPr>
            <a:picLocks noChangeAspect="1"/>
          </p:cNvPicPr>
          <p:nvPr/>
        </p:nvPicPr>
        <p:blipFill>
          <a:blip r:embed="rId2"/>
          <a:stretch>
            <a:fillRect/>
          </a:stretch>
        </p:blipFill>
        <p:spPr>
          <a:xfrm>
            <a:off x="334565" y="679622"/>
            <a:ext cx="11056779" cy="5276335"/>
          </a:xfrm>
          <a:prstGeom prst="rect">
            <a:avLst/>
          </a:prstGeom>
        </p:spPr>
      </p:pic>
    </p:spTree>
    <p:extLst>
      <p:ext uri="{BB962C8B-B14F-4D97-AF65-F5344CB8AC3E}">
        <p14:creationId xmlns:p14="http://schemas.microsoft.com/office/powerpoint/2010/main" val="25238106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36FDF-51FB-41AA-BCE7-1579ED0E30E8}"/>
              </a:ext>
            </a:extLst>
          </p:cNvPr>
          <p:cNvSpPr>
            <a:spLocks noGrp="1"/>
          </p:cNvSpPr>
          <p:nvPr>
            <p:ph type="title"/>
          </p:nvPr>
        </p:nvSpPr>
        <p:spPr/>
        <p:txBody>
          <a:bodyPr>
            <a:normAutofit/>
          </a:bodyPr>
          <a:lstStyle/>
          <a:p>
            <a:r>
              <a:rPr lang="en-US" sz="3000" dirty="0"/>
              <a:t>Proprietary Cost Caused by Attention from Regulators</a:t>
            </a:r>
          </a:p>
        </p:txBody>
      </p:sp>
      <p:sp>
        <p:nvSpPr>
          <p:cNvPr id="3" name="Slide Number Placeholder 2">
            <a:extLst>
              <a:ext uri="{FF2B5EF4-FFF2-40B4-BE49-F238E27FC236}">
                <a16:creationId xmlns:a16="http://schemas.microsoft.com/office/drawing/2014/main" id="{E9910FAD-428B-4270-B2FE-CBA33FB25CD7}"/>
              </a:ext>
            </a:extLst>
          </p:cNvPr>
          <p:cNvSpPr>
            <a:spLocks noGrp="1"/>
          </p:cNvSpPr>
          <p:nvPr>
            <p:ph type="sldNum" sz="quarter" idx="2"/>
          </p:nvPr>
        </p:nvSpPr>
        <p:spPr/>
        <p:txBody>
          <a:bodyPr/>
          <a:lstStyle/>
          <a:p>
            <a:fld id="{86CB4B4D-7CA3-9044-876B-883B54F8677D}" type="slidenum">
              <a:rPr lang="en-US" smtClean="0"/>
              <a:pPr/>
              <a:t>9</a:t>
            </a:fld>
            <a:endParaRPr lang="en-US" dirty="0"/>
          </a:p>
        </p:txBody>
      </p:sp>
    </p:spTree>
    <p:extLst>
      <p:ext uri="{BB962C8B-B14F-4D97-AF65-F5344CB8AC3E}">
        <p14:creationId xmlns:p14="http://schemas.microsoft.com/office/powerpoint/2010/main" val="1605540209"/>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F766E-63AA-4F48-94E9-271A2FE5B31B}"/>
              </a:ext>
            </a:extLst>
          </p:cNvPr>
          <p:cNvSpPr>
            <a:spLocks noGrp="1"/>
          </p:cNvSpPr>
          <p:nvPr>
            <p:ph type="title"/>
          </p:nvPr>
        </p:nvSpPr>
        <p:spPr>
          <a:xfrm>
            <a:off x="838199" y="365125"/>
            <a:ext cx="8490527" cy="1325563"/>
          </a:xfrm>
        </p:spPr>
        <p:txBody>
          <a:bodyPr>
            <a:noAutofit/>
          </a:bodyPr>
          <a:lstStyle/>
          <a:p>
            <a:r>
              <a:rPr lang="en-HK" sz="2800" dirty="0"/>
              <a:t>Hope, O. K., Ma, M. S., &amp; Thomas, W. B. (2013). Tax avoidance and geographic earnings disclosure. </a:t>
            </a:r>
            <a:r>
              <a:rPr lang="en-HK" sz="2800" i="1" dirty="0"/>
              <a:t>Journal of accounting and economics</a:t>
            </a:r>
            <a:r>
              <a:rPr lang="en-HK" sz="2800" dirty="0"/>
              <a:t>, </a:t>
            </a:r>
            <a:r>
              <a:rPr lang="en-HK" sz="2800" i="1" dirty="0"/>
              <a:t>56</a:t>
            </a:r>
            <a:r>
              <a:rPr lang="en-HK" sz="2800" dirty="0"/>
              <a:t>(2-3), 170-189.</a:t>
            </a:r>
            <a:endParaRPr lang="en-US" sz="2800" dirty="0"/>
          </a:p>
        </p:txBody>
      </p:sp>
      <p:sp>
        <p:nvSpPr>
          <p:cNvPr id="3" name="Content Placeholder 2">
            <a:extLst>
              <a:ext uri="{FF2B5EF4-FFF2-40B4-BE49-F238E27FC236}">
                <a16:creationId xmlns:a16="http://schemas.microsoft.com/office/drawing/2014/main" id="{BB343937-AD72-408C-A8F2-67F8B4777EFC}"/>
              </a:ext>
            </a:extLst>
          </p:cNvPr>
          <p:cNvSpPr>
            <a:spLocks noGrp="1"/>
          </p:cNvSpPr>
          <p:nvPr>
            <p:ph idx="1"/>
          </p:nvPr>
        </p:nvSpPr>
        <p:spPr>
          <a:xfrm>
            <a:off x="838199" y="2012949"/>
            <a:ext cx="8229600" cy="4525963"/>
          </a:xfrm>
        </p:spPr>
        <p:txBody>
          <a:bodyPr/>
          <a:lstStyle/>
          <a:p>
            <a:r>
              <a:rPr lang="en-HK" sz="1800" dirty="0"/>
              <a:t>This study tests the relation between corporate tax avoidance and disclosure of geographic earnings for U.S. multinational companies. </a:t>
            </a:r>
          </a:p>
          <a:p>
            <a:r>
              <a:rPr lang="en-HK" sz="1800" dirty="0"/>
              <a:t>We find that after the adoption of Statement of Financial Accounting Standards No. 131 in 1998, firms opting to discontinue disclosure of geographic earnings in their financial reports have lower worldwide effective tax rates. </a:t>
            </a:r>
          </a:p>
          <a:p>
            <a:r>
              <a:rPr lang="en-HK" sz="1800" dirty="0"/>
              <a:t>These results are consistent with managers perceiving that non-disclosure of geographic earnings helps mask tax avoidance </a:t>
            </a:r>
            <a:r>
              <a:rPr lang="en-HK" sz="1800" dirty="0" err="1"/>
              <a:t>behavior</a:t>
            </a:r>
            <a:r>
              <a:rPr lang="en-HK" sz="1800" dirty="0"/>
              <a:t>. </a:t>
            </a:r>
          </a:p>
          <a:p>
            <a:r>
              <a:rPr lang="en-HK" sz="1800" dirty="0"/>
              <a:t>However, the relation between tax avoidance and non-disclosure reduces after implementation of Schedule M-3 in the annual corporate tax filing beginning in 2004. Schedule M-3 requires a detailed reconciliation of book income to tax income and aims to make firms' tax avoidance activities associated with shifting profits to lower-tax foreign jurisdictions more apparent to the IRS. </a:t>
            </a:r>
            <a:endParaRPr lang="en-US" sz="1800" dirty="0"/>
          </a:p>
        </p:txBody>
      </p:sp>
      <p:sp>
        <p:nvSpPr>
          <p:cNvPr id="4" name="Date Placeholder 3">
            <a:extLst>
              <a:ext uri="{FF2B5EF4-FFF2-40B4-BE49-F238E27FC236}">
                <a16:creationId xmlns:a16="http://schemas.microsoft.com/office/drawing/2014/main" id="{883ADD08-A645-4783-96E1-EC2E8535EEF0}"/>
              </a:ext>
            </a:extLst>
          </p:cNvPr>
          <p:cNvSpPr>
            <a:spLocks noGrp="1"/>
          </p:cNvSpPr>
          <p:nvPr>
            <p:ph type="dt" sz="half" idx="10"/>
          </p:nvPr>
        </p:nvSpPr>
        <p:spPr/>
        <p:txBody>
          <a:bodyPr/>
          <a:lstStyle/>
          <a:p>
            <a:fld id="{CA76EA19-99E1-6849-B62C-4DB182D0C167}" type="datetime1">
              <a:rPr lang="en-HK" smtClean="0">
                <a:ea typeface="PMingLiU" panose="02020500000000000000" pitchFamily="18" charset="-120"/>
                <a:cs typeface="Arial" panose="020B0604020202020204" pitchFamily="34" charset="0"/>
              </a:rPr>
              <a:t>21/9/2026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3B7D0A1D-A100-4AB3-A4E3-6351FFA12C68}"/>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10</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219528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E07C2A5-E6C9-42A8-9E37-838F7D86ACBA}"/>
              </a:ext>
            </a:extLst>
          </p:cNvPr>
          <p:cNvSpPr>
            <a:spLocks noGrp="1"/>
          </p:cNvSpPr>
          <p:nvPr>
            <p:ph type="dt" sz="half" idx="10"/>
          </p:nvPr>
        </p:nvSpPr>
        <p:spPr/>
        <p:txBody>
          <a:bodyPr/>
          <a:lstStyle/>
          <a:p>
            <a:fld id="{2122476B-236E-854F-8BD5-F402D0085185}" type="datetime1">
              <a:rPr lang="en-HK" smtClean="0">
                <a:ea typeface="PMingLiU" panose="02020500000000000000" pitchFamily="18" charset="-120"/>
                <a:cs typeface="Arial" panose="020B0604020202020204" pitchFamily="34" charset="0"/>
              </a:rPr>
              <a:t>21/9/2026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3DA8D4F8-B5AA-4C11-A349-1AB5BBD58BFF}"/>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11</a:t>
            </a:fld>
            <a:endParaRPr lang="en-US" dirty="0">
              <a:latin typeface="Calibri" panose="020F0502020204030204" pitchFamily="34" charset="0"/>
              <a:ea typeface="PMingLiU" panose="02020500000000000000" pitchFamily="18" charset="-120"/>
              <a:cs typeface="Arial" panose="020B0604020202020204" pitchFamily="34" charset="0"/>
            </a:endParaRPr>
          </a:p>
        </p:txBody>
      </p:sp>
      <p:pic>
        <p:nvPicPr>
          <p:cNvPr id="6" name="Picture 5">
            <a:extLst>
              <a:ext uri="{FF2B5EF4-FFF2-40B4-BE49-F238E27FC236}">
                <a16:creationId xmlns:a16="http://schemas.microsoft.com/office/drawing/2014/main" id="{6FEE7A34-04DB-4B36-9A72-BE33176F9197}"/>
              </a:ext>
            </a:extLst>
          </p:cNvPr>
          <p:cNvPicPr>
            <a:picLocks noChangeAspect="1"/>
          </p:cNvPicPr>
          <p:nvPr/>
        </p:nvPicPr>
        <p:blipFill>
          <a:blip r:embed="rId3"/>
          <a:stretch>
            <a:fillRect/>
          </a:stretch>
        </p:blipFill>
        <p:spPr>
          <a:xfrm>
            <a:off x="2673291" y="404664"/>
            <a:ext cx="7498812" cy="5563874"/>
          </a:xfrm>
          <a:prstGeom prst="rect">
            <a:avLst/>
          </a:prstGeom>
        </p:spPr>
      </p:pic>
    </p:spTree>
    <p:extLst>
      <p:ext uri="{BB962C8B-B14F-4D97-AF65-F5344CB8AC3E}">
        <p14:creationId xmlns:p14="http://schemas.microsoft.com/office/powerpoint/2010/main" val="4075364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08533-9592-65CE-5B81-C4874D9603A8}"/>
              </a:ext>
            </a:extLst>
          </p:cNvPr>
          <p:cNvSpPr>
            <a:spLocks noGrp="1"/>
          </p:cNvSpPr>
          <p:nvPr>
            <p:ph type="title"/>
          </p:nvPr>
        </p:nvSpPr>
        <p:spPr>
          <a:xfrm>
            <a:off x="773545" y="137734"/>
            <a:ext cx="7936345" cy="1325563"/>
          </a:xfrm>
        </p:spPr>
        <p:txBody>
          <a:bodyPr>
            <a:normAutofit/>
          </a:bodyPr>
          <a:lstStyle/>
          <a:p>
            <a:r>
              <a:rPr lang="en-HK" sz="2800" dirty="0" err="1"/>
              <a:t>Bozanic</a:t>
            </a:r>
            <a:r>
              <a:rPr lang="en-HK" sz="2800" dirty="0"/>
              <a:t>, Z., Hoopes, J. L., Thornock, J. R., &amp; Williams, B. M. (2017). IRS attention. </a:t>
            </a:r>
            <a:r>
              <a:rPr lang="en-HK" sz="2800" i="1" dirty="0"/>
              <a:t>Journal of Accounting Research</a:t>
            </a:r>
            <a:r>
              <a:rPr lang="en-HK" sz="2800" dirty="0"/>
              <a:t>, </a:t>
            </a:r>
            <a:r>
              <a:rPr lang="en-HK" sz="2800" i="1" dirty="0"/>
              <a:t>55</a:t>
            </a:r>
            <a:r>
              <a:rPr lang="en-HK" sz="2800" dirty="0"/>
              <a:t>(1), 79-114.</a:t>
            </a:r>
          </a:p>
        </p:txBody>
      </p:sp>
      <p:sp>
        <p:nvSpPr>
          <p:cNvPr id="4" name="Date Placeholder 3">
            <a:extLst>
              <a:ext uri="{FF2B5EF4-FFF2-40B4-BE49-F238E27FC236}">
                <a16:creationId xmlns:a16="http://schemas.microsoft.com/office/drawing/2014/main" id="{9E1329B8-6D40-336D-610D-90E644B87B56}"/>
              </a:ext>
            </a:extLst>
          </p:cNvPr>
          <p:cNvSpPr>
            <a:spLocks noGrp="1"/>
          </p:cNvSpPr>
          <p:nvPr>
            <p:ph type="dt" sz="half" idx="10"/>
          </p:nvPr>
        </p:nvSpPr>
        <p:spPr/>
        <p:txBody>
          <a:bodyPr/>
          <a:lstStyle/>
          <a:p>
            <a:fld id="{5F095013-FAFA-4996-A6F8-1F75D307863F}" type="datetime1">
              <a:rPr lang="zh-CN" altLang="en-US" smtClean="0"/>
              <a:t>2026/9/21</a:t>
            </a:fld>
            <a:endParaRPr lang="zh-CN" altLang="en-US"/>
          </a:p>
        </p:txBody>
      </p:sp>
      <p:sp>
        <p:nvSpPr>
          <p:cNvPr id="5" name="Slide Number Placeholder 4">
            <a:extLst>
              <a:ext uri="{FF2B5EF4-FFF2-40B4-BE49-F238E27FC236}">
                <a16:creationId xmlns:a16="http://schemas.microsoft.com/office/drawing/2014/main" id="{8C7DE950-6732-0289-E8D7-D8609EF611C9}"/>
              </a:ext>
            </a:extLst>
          </p:cNvPr>
          <p:cNvSpPr>
            <a:spLocks noGrp="1"/>
          </p:cNvSpPr>
          <p:nvPr>
            <p:ph type="sldNum" sz="quarter" idx="12"/>
          </p:nvPr>
        </p:nvSpPr>
        <p:spPr/>
        <p:txBody>
          <a:bodyPr/>
          <a:lstStyle/>
          <a:p>
            <a:fld id="{1778BC13-B753-4634-A5F7-9F4F7C9ECC5F}" type="slidenum">
              <a:rPr lang="zh-CN" altLang="en-US" smtClean="0"/>
              <a:t>12</a:t>
            </a:fld>
            <a:endParaRPr lang="zh-CN" altLang="en-US"/>
          </a:p>
        </p:txBody>
      </p:sp>
      <p:pic>
        <p:nvPicPr>
          <p:cNvPr id="7" name="Picture 6">
            <a:extLst>
              <a:ext uri="{FF2B5EF4-FFF2-40B4-BE49-F238E27FC236}">
                <a16:creationId xmlns:a16="http://schemas.microsoft.com/office/drawing/2014/main" id="{E1C19870-2A1B-294C-174E-DE03FBD406E2}"/>
              </a:ext>
            </a:extLst>
          </p:cNvPr>
          <p:cNvPicPr>
            <a:picLocks noChangeAspect="1"/>
          </p:cNvPicPr>
          <p:nvPr/>
        </p:nvPicPr>
        <p:blipFill>
          <a:blip r:embed="rId2"/>
          <a:stretch>
            <a:fillRect/>
          </a:stretch>
        </p:blipFill>
        <p:spPr>
          <a:xfrm>
            <a:off x="3266597" y="1285948"/>
            <a:ext cx="3854639" cy="5434318"/>
          </a:xfrm>
          <a:prstGeom prst="rect">
            <a:avLst/>
          </a:prstGeom>
        </p:spPr>
      </p:pic>
    </p:spTree>
    <p:extLst>
      <p:ext uri="{BB962C8B-B14F-4D97-AF65-F5344CB8AC3E}">
        <p14:creationId xmlns:p14="http://schemas.microsoft.com/office/powerpoint/2010/main" val="30278170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5834C-0C7C-DBB2-EA73-72274C3278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553C91-30AF-40C4-84E1-1B1A372EA799}"/>
              </a:ext>
            </a:extLst>
          </p:cNvPr>
          <p:cNvSpPr>
            <a:spLocks noGrp="1"/>
          </p:cNvSpPr>
          <p:nvPr>
            <p:ph type="title"/>
          </p:nvPr>
        </p:nvSpPr>
        <p:spPr/>
        <p:txBody>
          <a:bodyPr>
            <a:normAutofit/>
          </a:bodyPr>
          <a:lstStyle/>
          <a:p>
            <a:r>
              <a:rPr lang="en-US" sz="3000" dirty="0"/>
              <a:t>Proprietary Cost Caused by Attention from the Public</a:t>
            </a:r>
          </a:p>
        </p:txBody>
      </p:sp>
      <p:sp>
        <p:nvSpPr>
          <p:cNvPr id="3" name="Slide Number Placeholder 2">
            <a:extLst>
              <a:ext uri="{FF2B5EF4-FFF2-40B4-BE49-F238E27FC236}">
                <a16:creationId xmlns:a16="http://schemas.microsoft.com/office/drawing/2014/main" id="{035D405A-8231-35EB-5BF6-7BD6C4E358A8}"/>
              </a:ext>
            </a:extLst>
          </p:cNvPr>
          <p:cNvSpPr>
            <a:spLocks noGrp="1"/>
          </p:cNvSpPr>
          <p:nvPr>
            <p:ph type="sldNum" sz="quarter" idx="2"/>
          </p:nvPr>
        </p:nvSpPr>
        <p:spPr/>
        <p:txBody>
          <a:bodyPr/>
          <a:lstStyle/>
          <a:p>
            <a:fld id="{86CB4B4D-7CA3-9044-876B-883B54F8677D}" type="slidenum">
              <a:rPr lang="en-US" smtClean="0"/>
              <a:pPr/>
              <a:t>13</a:t>
            </a:fld>
            <a:endParaRPr lang="en-US" dirty="0"/>
          </a:p>
        </p:txBody>
      </p:sp>
    </p:spTree>
    <p:extLst>
      <p:ext uri="{BB962C8B-B14F-4D97-AF65-F5344CB8AC3E}">
        <p14:creationId xmlns:p14="http://schemas.microsoft.com/office/powerpoint/2010/main" val="2861071471"/>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5A016-4A76-4BEF-9D80-6F798E42FB78}"/>
              </a:ext>
            </a:extLst>
          </p:cNvPr>
          <p:cNvSpPr>
            <a:spLocks noGrp="1"/>
          </p:cNvSpPr>
          <p:nvPr>
            <p:ph type="title"/>
          </p:nvPr>
        </p:nvSpPr>
        <p:spPr>
          <a:xfrm>
            <a:off x="1096818" y="501650"/>
            <a:ext cx="9257145" cy="1325563"/>
          </a:xfrm>
        </p:spPr>
        <p:txBody>
          <a:bodyPr>
            <a:noAutofit/>
          </a:bodyPr>
          <a:lstStyle/>
          <a:p>
            <a:r>
              <a:rPr lang="en-HK" sz="2800" dirty="0"/>
              <a:t>Dyreng, S. D., Hoopes, J. L., </a:t>
            </a:r>
            <a:r>
              <a:rPr lang="en-HK" sz="2800" dirty="0" err="1"/>
              <a:t>Langetieg</a:t>
            </a:r>
            <a:r>
              <a:rPr lang="en-HK" sz="2800" dirty="0"/>
              <a:t>, P., &amp; Wilde, J. H. (2020). Strategic subsidiary disclosure. </a:t>
            </a:r>
            <a:r>
              <a:rPr lang="en-HK" sz="2800" i="1" dirty="0"/>
              <a:t>Journal of Accounting Research</a:t>
            </a:r>
            <a:r>
              <a:rPr lang="en-HK" sz="2800" dirty="0"/>
              <a:t>, </a:t>
            </a:r>
            <a:r>
              <a:rPr lang="en-HK" sz="2800" i="1" dirty="0"/>
              <a:t>58</a:t>
            </a:r>
            <a:r>
              <a:rPr lang="en-HK" sz="2800" dirty="0"/>
              <a:t>(3), 643-692.</a:t>
            </a:r>
            <a:endParaRPr lang="en-US" sz="2800" dirty="0"/>
          </a:p>
        </p:txBody>
      </p:sp>
      <p:sp>
        <p:nvSpPr>
          <p:cNvPr id="3" name="Content Placeholder 2">
            <a:extLst>
              <a:ext uri="{FF2B5EF4-FFF2-40B4-BE49-F238E27FC236}">
                <a16:creationId xmlns:a16="http://schemas.microsoft.com/office/drawing/2014/main" id="{CC1D56D6-61F9-4BBA-9FCD-D88A3819751C}"/>
              </a:ext>
            </a:extLst>
          </p:cNvPr>
          <p:cNvSpPr>
            <a:spLocks noGrp="1"/>
          </p:cNvSpPr>
          <p:nvPr>
            <p:ph idx="1"/>
          </p:nvPr>
        </p:nvSpPr>
        <p:spPr>
          <a:xfrm>
            <a:off x="764309" y="2005012"/>
            <a:ext cx="10515600" cy="4351338"/>
          </a:xfrm>
        </p:spPr>
        <p:txBody>
          <a:bodyPr>
            <a:normAutofit fontScale="92500" lnSpcReduction="20000"/>
          </a:bodyPr>
          <a:lstStyle/>
          <a:p>
            <a:r>
              <a:rPr lang="en-HK" dirty="0"/>
              <a:t>We use data provided by multinational firms to the Internal Revenue Service regarding their foreign subsidiary locations to explore the accuracy of public subsidiary disclosures on Exhibit 21 of Form 10-K per SEC rules. </a:t>
            </a:r>
          </a:p>
          <a:p>
            <a:r>
              <a:rPr lang="en-HK" dirty="0"/>
              <a:t>The overall incidence of nondisclosure is low, suggesting that most firms comply with Exhibit 21 disclosure rules, and that for most applications, Exhibit 21 disclosures provide a reasonable proxy for locations of significant subsidiaries. </a:t>
            </a:r>
          </a:p>
          <a:p>
            <a:r>
              <a:rPr lang="en-HK" dirty="0"/>
              <a:t>Nevertheless, there is some evidence of nondisclosure, particularly when subsidiaries are in tax havens, when the firm is more highly scrutinized in the media, or when the firm has other characteristics consistent with low-quality disclosures such as SEC comment letters.</a:t>
            </a:r>
            <a:endParaRPr lang="en-US" dirty="0"/>
          </a:p>
        </p:txBody>
      </p:sp>
      <p:sp>
        <p:nvSpPr>
          <p:cNvPr id="4" name="Date Placeholder 3">
            <a:extLst>
              <a:ext uri="{FF2B5EF4-FFF2-40B4-BE49-F238E27FC236}">
                <a16:creationId xmlns:a16="http://schemas.microsoft.com/office/drawing/2014/main" id="{B4BD426F-2DA4-4583-B341-AB1F189EDBE7}"/>
              </a:ext>
            </a:extLst>
          </p:cNvPr>
          <p:cNvSpPr>
            <a:spLocks noGrp="1"/>
          </p:cNvSpPr>
          <p:nvPr>
            <p:ph type="dt" sz="half" idx="10"/>
          </p:nvPr>
        </p:nvSpPr>
        <p:spPr/>
        <p:txBody>
          <a:bodyPr/>
          <a:lstStyle/>
          <a:p>
            <a:fld id="{A970655D-A577-1249-BB24-63485F66D102}" type="datetime1">
              <a:rPr lang="en-HK" smtClean="0">
                <a:ea typeface="PMingLiU" panose="02020500000000000000" pitchFamily="18" charset="-120"/>
                <a:cs typeface="Arial" panose="020B0604020202020204" pitchFamily="34" charset="0"/>
              </a:rPr>
              <a:t>21/9/2026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56BBA260-D3B9-4889-B938-0FB5AAA5125F}"/>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14</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838338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BBEC7BA-55B8-4752-B942-65FD0246032A}"/>
              </a:ext>
            </a:extLst>
          </p:cNvPr>
          <p:cNvSpPr>
            <a:spLocks noGrp="1"/>
          </p:cNvSpPr>
          <p:nvPr>
            <p:ph type="dt" sz="half" idx="10"/>
          </p:nvPr>
        </p:nvSpPr>
        <p:spPr/>
        <p:txBody>
          <a:bodyPr/>
          <a:lstStyle/>
          <a:p>
            <a:fld id="{5E5A8EE0-9909-3D4F-B54A-DE1BA097A598}" type="datetime1">
              <a:rPr lang="en-HK" smtClean="0">
                <a:ea typeface="PMingLiU" panose="02020500000000000000" pitchFamily="18" charset="-120"/>
                <a:cs typeface="Arial" panose="020B0604020202020204" pitchFamily="34" charset="0"/>
              </a:rPr>
              <a:t>21/9/2026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BDB869C6-60A0-40DA-A3F2-8311557EB1DE}"/>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15</a:t>
            </a:fld>
            <a:endParaRPr lang="en-US" dirty="0">
              <a:latin typeface="Calibri" panose="020F0502020204030204" pitchFamily="34" charset="0"/>
              <a:ea typeface="PMingLiU" panose="02020500000000000000" pitchFamily="18" charset="-120"/>
              <a:cs typeface="Arial" panose="020B0604020202020204" pitchFamily="34" charset="0"/>
            </a:endParaRPr>
          </a:p>
        </p:txBody>
      </p:sp>
      <p:pic>
        <p:nvPicPr>
          <p:cNvPr id="8" name="Picture 7">
            <a:extLst>
              <a:ext uri="{FF2B5EF4-FFF2-40B4-BE49-F238E27FC236}">
                <a16:creationId xmlns:a16="http://schemas.microsoft.com/office/drawing/2014/main" id="{81AD702F-862B-4B88-BBE9-47A339FC0488}"/>
              </a:ext>
            </a:extLst>
          </p:cNvPr>
          <p:cNvPicPr>
            <a:picLocks noChangeAspect="1"/>
          </p:cNvPicPr>
          <p:nvPr/>
        </p:nvPicPr>
        <p:blipFill>
          <a:blip r:embed="rId2"/>
          <a:stretch>
            <a:fillRect/>
          </a:stretch>
        </p:blipFill>
        <p:spPr>
          <a:xfrm rot="5400000">
            <a:off x="4114647" y="-1934462"/>
            <a:ext cx="4320481" cy="9142749"/>
          </a:xfrm>
          <a:prstGeom prst="rect">
            <a:avLst/>
          </a:prstGeom>
        </p:spPr>
      </p:pic>
    </p:spTree>
    <p:extLst>
      <p:ext uri="{BB962C8B-B14F-4D97-AF65-F5344CB8AC3E}">
        <p14:creationId xmlns:p14="http://schemas.microsoft.com/office/powerpoint/2010/main" val="4151833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A1678161-9BED-4F29-94F3-A403FCC37B8F}"/>
              </a:ext>
            </a:extLst>
          </p:cNvPr>
          <p:cNvSpPr txBox="1"/>
          <p:nvPr/>
        </p:nvSpPr>
        <p:spPr>
          <a:xfrm>
            <a:off x="2351584" y="1499939"/>
            <a:ext cx="7920880" cy="1077218"/>
          </a:xfrm>
          <a:prstGeom prst="rect">
            <a:avLst/>
          </a:prstGeom>
          <a:noFill/>
        </p:spPr>
        <p:txBody>
          <a:bodyPr wrap="square">
            <a:spAutoFit/>
          </a:bodyPr>
          <a:lstStyle/>
          <a:p>
            <a:pPr algn="ctr"/>
            <a:r>
              <a:rPr lang="en-US" altLang="zh-CN" sz="3200" b="1" dirty="0">
                <a:latin typeface="Century Schoolbook" panose="02040604050505020304" pitchFamily="18" charset="0"/>
              </a:rPr>
              <a:t>Week 3: Disclosure, Reporting, and Corporate Investment</a:t>
            </a:r>
            <a:endParaRPr lang="zh-CN" altLang="en-US" sz="3200" b="1" dirty="0">
              <a:latin typeface="Century Schoolbook" panose="02040604050505020304" pitchFamily="18" charset="0"/>
            </a:endParaRPr>
          </a:p>
        </p:txBody>
      </p:sp>
      <p:sp>
        <p:nvSpPr>
          <p:cNvPr id="11" name="文本框 10">
            <a:extLst>
              <a:ext uri="{FF2B5EF4-FFF2-40B4-BE49-F238E27FC236}">
                <a16:creationId xmlns:a16="http://schemas.microsoft.com/office/drawing/2014/main" id="{7676D187-D426-44F8-A333-69F37245056A}"/>
              </a:ext>
            </a:extLst>
          </p:cNvPr>
          <p:cNvSpPr txBox="1"/>
          <p:nvPr/>
        </p:nvSpPr>
        <p:spPr>
          <a:xfrm>
            <a:off x="1307306" y="3234404"/>
            <a:ext cx="9144000" cy="1754326"/>
          </a:xfrm>
          <a:prstGeom prst="rect">
            <a:avLst/>
          </a:prstGeom>
          <a:noFill/>
        </p:spPr>
        <p:txBody>
          <a:bodyPr wrap="square">
            <a:spAutoFit/>
          </a:bodyPr>
          <a:lstStyle/>
          <a:p>
            <a:pPr algn="ctr"/>
            <a:r>
              <a:rPr lang="en-US" altLang="zh-CN" dirty="0">
                <a:latin typeface="Century Schoolbook" panose="02040604050505020304" pitchFamily="18" charset="0"/>
              </a:rPr>
              <a:t>Prof. Zheng Wang</a:t>
            </a:r>
          </a:p>
          <a:p>
            <a:pPr algn="ctr"/>
            <a:endParaRPr lang="en-US" altLang="zh-CN" dirty="0">
              <a:latin typeface="Century Schoolbook" panose="02040604050505020304" pitchFamily="18" charset="0"/>
            </a:endParaRPr>
          </a:p>
          <a:p>
            <a:pPr algn="ctr"/>
            <a:r>
              <a:rPr lang="en-US" altLang="zh-CN" dirty="0">
                <a:latin typeface="Century Schoolbook" panose="02040604050505020304" pitchFamily="18" charset="0"/>
              </a:rPr>
              <a:t>AC8900</a:t>
            </a:r>
          </a:p>
          <a:p>
            <a:pPr algn="ctr"/>
            <a:r>
              <a:rPr lang="en-US" altLang="zh-CN" dirty="0">
                <a:latin typeface="Century Schoolbook" panose="02040604050505020304" pitchFamily="18" charset="0"/>
              </a:rPr>
              <a:t>Semester A 2026/2027</a:t>
            </a:r>
          </a:p>
          <a:p>
            <a:pPr algn="ctr"/>
            <a:endParaRPr lang="en-US" altLang="zh-CN" dirty="0">
              <a:latin typeface="Century Schoolbook" panose="02040604050505020304" pitchFamily="18" charset="0"/>
            </a:endParaRPr>
          </a:p>
          <a:p>
            <a:pPr algn="ctr"/>
            <a:endParaRPr lang="en-US" altLang="zh-CN" dirty="0">
              <a:latin typeface="Century Schoolbook" panose="02040604050505020304" pitchFamily="18" charset="0"/>
            </a:endParaRPr>
          </a:p>
        </p:txBody>
      </p:sp>
      <p:sp>
        <p:nvSpPr>
          <p:cNvPr id="3" name="Date Placeholder 2">
            <a:extLst>
              <a:ext uri="{FF2B5EF4-FFF2-40B4-BE49-F238E27FC236}">
                <a16:creationId xmlns:a16="http://schemas.microsoft.com/office/drawing/2014/main" id="{1E675BC2-5E82-4461-8CE7-B909ABD01D5C}"/>
              </a:ext>
            </a:extLst>
          </p:cNvPr>
          <p:cNvSpPr>
            <a:spLocks noGrp="1"/>
          </p:cNvSpPr>
          <p:nvPr>
            <p:ph type="dt" sz="half" idx="10"/>
          </p:nvPr>
        </p:nvSpPr>
        <p:spPr/>
        <p:txBody>
          <a:bodyPr/>
          <a:lstStyle/>
          <a:p>
            <a:pPr lvl="0" eaLnBrk="1" hangingPunct="1">
              <a:buNone/>
            </a:pPr>
            <a:fld id="{71C52769-6B22-46DD-9153-0353FF374DBB}" type="datetime1">
              <a:rPr lang="en-US" smtClean="0">
                <a:latin typeface="Calibri" panose="020F0502020204030204" pitchFamily="34" charset="0"/>
                <a:ea typeface="PMingLiU" panose="02020500000000000000" pitchFamily="18" charset="-120"/>
                <a:cs typeface="Arial" panose="020B0604020202020204" pitchFamily="34" charset="0"/>
              </a:rPr>
              <a:t>9/21/2026</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
        <p:nvSpPr>
          <p:cNvPr id="4" name="Slide Number Placeholder 3">
            <a:extLst>
              <a:ext uri="{FF2B5EF4-FFF2-40B4-BE49-F238E27FC236}">
                <a16:creationId xmlns:a16="http://schemas.microsoft.com/office/drawing/2014/main" id="{A9880582-84BC-41AD-B560-8417D6BA4DFA}"/>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16</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11847794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DA203-BD16-4746-AE2B-5C2DAA345DAB}"/>
              </a:ext>
            </a:extLst>
          </p:cNvPr>
          <p:cNvSpPr>
            <a:spLocks noGrp="1"/>
          </p:cNvSpPr>
          <p:nvPr>
            <p:ph type="ctrTitle"/>
          </p:nvPr>
        </p:nvSpPr>
        <p:spPr>
          <a:xfrm>
            <a:off x="2135560" y="1124745"/>
            <a:ext cx="7772400" cy="1470025"/>
          </a:xfrm>
        </p:spPr>
        <p:txBody>
          <a:bodyPr>
            <a:normAutofit fontScale="90000"/>
          </a:bodyPr>
          <a:lstStyle/>
          <a:p>
            <a:r>
              <a:rPr lang="en-US" altLang="zh-CN" sz="2800" b="1" dirty="0">
                <a:cs typeface="Times New Roman" panose="02020603050405020304" pitchFamily="18" charset="0"/>
              </a:rPr>
              <a:t>The Effects of Financial Reporting and Disclosure on Corporate Investment: A Review</a:t>
            </a:r>
            <a:b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br>
            <a:endParaRPr lang="en-US" sz="2800" dirty="0"/>
          </a:p>
        </p:txBody>
      </p:sp>
      <p:sp>
        <p:nvSpPr>
          <p:cNvPr id="3" name="Subtitle 2">
            <a:extLst>
              <a:ext uri="{FF2B5EF4-FFF2-40B4-BE49-F238E27FC236}">
                <a16:creationId xmlns:a16="http://schemas.microsoft.com/office/drawing/2014/main" id="{A6869541-BED6-4285-AC94-B595782204A8}"/>
              </a:ext>
            </a:extLst>
          </p:cNvPr>
          <p:cNvSpPr>
            <a:spLocks noGrp="1"/>
          </p:cNvSpPr>
          <p:nvPr>
            <p:ph type="subTitle" idx="1"/>
          </p:nvPr>
        </p:nvSpPr>
        <p:spPr>
          <a:xfrm>
            <a:off x="2711624" y="2780928"/>
            <a:ext cx="7086600" cy="1752600"/>
          </a:xfrm>
        </p:spPr>
        <p:txBody>
          <a:bodyPr>
            <a:normAutofit fontScale="92500"/>
          </a:bodyPr>
          <a:lstStyle/>
          <a:p>
            <a:pPr algn="r">
              <a:lnSpc>
                <a:spcPct val="150000"/>
              </a:lnSpc>
            </a:pPr>
            <a:r>
              <a:rPr lang="en-US" altLang="zh-CN" b="1" i="1" dirty="0">
                <a:cs typeface="Times New Roman" panose="02020603050405020304" pitchFamily="18" charset="0"/>
              </a:rPr>
              <a:t>Journal of Accounting and Economics, 2019</a:t>
            </a:r>
          </a:p>
          <a:p>
            <a:pPr algn="r">
              <a:lnSpc>
                <a:spcPct val="150000"/>
              </a:lnSpc>
            </a:pPr>
            <a:r>
              <a:rPr lang="en-US" altLang="zh-CN" b="1" i="1" dirty="0" err="1">
                <a:cs typeface="Times New Roman" panose="02020603050405020304" pitchFamily="18" charset="0"/>
              </a:rPr>
              <a:t>Sugata</a:t>
            </a:r>
            <a:r>
              <a:rPr lang="en-US" altLang="zh-CN" b="1" i="1" dirty="0">
                <a:cs typeface="Times New Roman" panose="02020603050405020304" pitchFamily="18" charset="0"/>
              </a:rPr>
              <a:t> </a:t>
            </a:r>
            <a:r>
              <a:rPr lang="en-US" altLang="zh-CN" b="1" i="1" dirty="0" err="1">
                <a:cs typeface="Times New Roman" panose="02020603050405020304" pitchFamily="18" charset="0"/>
              </a:rPr>
              <a:t>Roychowdhury</a:t>
            </a:r>
            <a:r>
              <a:rPr lang="en-US" altLang="zh-CN" b="1" i="1" dirty="0">
                <a:cs typeface="Times New Roman" panose="02020603050405020304" pitchFamily="18" charset="0"/>
              </a:rPr>
              <a:t>, </a:t>
            </a:r>
            <a:r>
              <a:rPr lang="en-US" altLang="zh-CN" b="1" i="1" dirty="0" err="1">
                <a:cs typeface="Times New Roman" panose="02020603050405020304" pitchFamily="18" charset="0"/>
              </a:rPr>
              <a:t>Nemit</a:t>
            </a:r>
            <a:r>
              <a:rPr lang="en-US" altLang="zh-CN" b="1" i="1" dirty="0">
                <a:cs typeface="Times New Roman" panose="02020603050405020304" pitchFamily="18" charset="0"/>
              </a:rPr>
              <a:t> Shroff , Rodrigo S. Verdi </a:t>
            </a:r>
          </a:p>
          <a:p>
            <a:endParaRPr lang="en-US" dirty="0"/>
          </a:p>
        </p:txBody>
      </p:sp>
    </p:spTree>
    <p:extLst>
      <p:ext uri="{BB962C8B-B14F-4D97-AF65-F5344CB8AC3E}">
        <p14:creationId xmlns:p14="http://schemas.microsoft.com/office/powerpoint/2010/main" val="21744095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文本框 32"/>
          <p:cNvSpPr txBox="1"/>
          <p:nvPr/>
        </p:nvSpPr>
        <p:spPr>
          <a:xfrm>
            <a:off x="1752735" y="1126748"/>
            <a:ext cx="415499" cy="369332"/>
          </a:xfrm>
          <a:prstGeom prst="rect">
            <a:avLst/>
          </a:prstGeom>
          <a:noFill/>
        </p:spPr>
        <p:txBody>
          <a:bodyPr wrap="none" rtlCol="0">
            <a:spAutoFit/>
          </a:bodyPr>
          <a:lstStyle/>
          <a:p>
            <a:pPr algn="ctr"/>
            <a:r>
              <a:rPr lang="en-US" altLang="zh-CN" b="1">
                <a:solidFill>
                  <a:schemeClr val="bg1"/>
                </a:solidFill>
                <a:latin typeface="黑体" panose="02010609060101010101" pitchFamily="49" charset="-122"/>
                <a:ea typeface="黑体" panose="02010609060101010101" pitchFamily="49" charset="-122"/>
              </a:rPr>
              <a:t>02</a:t>
            </a:r>
            <a:endParaRPr lang="zh-CN" altLang="en-US" b="1" dirty="0">
              <a:solidFill>
                <a:schemeClr val="bg1"/>
              </a:solidFill>
              <a:latin typeface="黑体" panose="02010609060101010101" pitchFamily="49" charset="-122"/>
              <a:ea typeface="黑体" panose="02010609060101010101" pitchFamily="49" charset="-122"/>
            </a:endParaRPr>
          </a:p>
        </p:txBody>
      </p:sp>
      <p:sp>
        <p:nvSpPr>
          <p:cNvPr id="13" name="矩形 12"/>
          <p:cNvSpPr/>
          <p:nvPr/>
        </p:nvSpPr>
        <p:spPr>
          <a:xfrm>
            <a:off x="1898737" y="985618"/>
            <a:ext cx="352500" cy="415498"/>
          </a:xfrm>
          <a:prstGeom prst="rect">
            <a:avLst/>
          </a:prstGeom>
        </p:spPr>
        <p:txBody>
          <a:bodyPr wrap="square">
            <a:spAutoFit/>
          </a:bodyPr>
          <a:lstStyle/>
          <a:p>
            <a:pPr algn="ctr"/>
            <a:r>
              <a:rPr lang="en-US" altLang="zh-CN" sz="2100" b="1" dirty="0">
                <a:solidFill>
                  <a:schemeClr val="bg1"/>
                </a:solidFill>
                <a:latin typeface="微软雅黑" panose="020B0503020204020204" pitchFamily="34" charset="-122"/>
                <a:ea typeface="微软雅黑" panose="020B0503020204020204" pitchFamily="34" charset="-122"/>
              </a:rPr>
              <a:t>2</a:t>
            </a:r>
            <a:endParaRPr lang="zh-CN" altLang="en-US" sz="2100" b="1" dirty="0">
              <a:solidFill>
                <a:schemeClr val="bg1"/>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5109924A-76AD-7CFB-7C21-EF3D7EC67B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82178" y="1687015"/>
            <a:ext cx="6734477" cy="4734058"/>
          </a:xfrm>
          <a:prstGeom prst="rect">
            <a:avLst/>
          </a:prstGeom>
        </p:spPr>
      </p:pic>
      <p:sp>
        <p:nvSpPr>
          <p:cNvPr id="14" name="Title 1">
            <a:extLst>
              <a:ext uri="{FF2B5EF4-FFF2-40B4-BE49-F238E27FC236}">
                <a16:creationId xmlns:a16="http://schemas.microsoft.com/office/drawing/2014/main" id="{1DABB05D-D5CD-4EBA-B0E0-7234210A050A}"/>
              </a:ext>
            </a:extLst>
          </p:cNvPr>
          <p:cNvSpPr>
            <a:spLocks noGrp="1"/>
          </p:cNvSpPr>
          <p:nvPr>
            <p:ph type="title"/>
          </p:nvPr>
        </p:nvSpPr>
        <p:spPr>
          <a:xfrm>
            <a:off x="1371600" y="621867"/>
            <a:ext cx="8229600" cy="1143000"/>
          </a:xfrm>
        </p:spPr>
        <p:txBody>
          <a:bodyPr>
            <a:noAutofit/>
          </a:bodyPr>
          <a:lstStyle/>
          <a:p>
            <a:r>
              <a:rPr lang="en-US" sz="3800" dirty="0"/>
              <a:t>The Role of Financial Reporting in Investment Decisions/Investment Efficiency</a:t>
            </a:r>
          </a:p>
        </p:txBody>
      </p:sp>
    </p:spTree>
    <p:extLst>
      <p:ext uri="{BB962C8B-B14F-4D97-AF65-F5344CB8AC3E}">
        <p14:creationId xmlns:p14="http://schemas.microsoft.com/office/powerpoint/2010/main" val="31991905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文本框 32"/>
          <p:cNvSpPr txBox="1"/>
          <p:nvPr/>
        </p:nvSpPr>
        <p:spPr>
          <a:xfrm>
            <a:off x="1751131" y="1126748"/>
            <a:ext cx="418704" cy="369332"/>
          </a:xfrm>
          <a:prstGeom prst="rect">
            <a:avLst/>
          </a:prstGeom>
          <a:noFill/>
        </p:spPr>
        <p:txBody>
          <a:bodyPr wrap="none" rtlCol="0">
            <a:spAutoFit/>
          </a:bodyPr>
          <a:lstStyle/>
          <a:p>
            <a:pPr algn="ctr"/>
            <a:r>
              <a:rPr lang="en-US" altLang="zh-CN" b="1">
                <a:solidFill>
                  <a:schemeClr val="bg1"/>
                </a:solidFill>
                <a:latin typeface="黑体" panose="02010609060101010101" pitchFamily="49" charset="-122"/>
                <a:ea typeface="黑体" panose="02010609060101010101" pitchFamily="49" charset="-122"/>
              </a:rPr>
              <a:t>02</a:t>
            </a:r>
            <a:endParaRPr lang="zh-CN" altLang="en-US" b="1" dirty="0">
              <a:solidFill>
                <a:schemeClr val="bg1"/>
              </a:solidFill>
              <a:latin typeface="黑体" panose="02010609060101010101" pitchFamily="49" charset="-122"/>
              <a:ea typeface="黑体" panose="02010609060101010101" pitchFamily="49" charset="-122"/>
            </a:endParaRPr>
          </a:p>
        </p:txBody>
      </p:sp>
      <p:sp>
        <p:nvSpPr>
          <p:cNvPr id="34" name="矩形 33"/>
          <p:cNvSpPr/>
          <p:nvPr/>
        </p:nvSpPr>
        <p:spPr>
          <a:xfrm>
            <a:off x="2074988" y="793341"/>
            <a:ext cx="8485509" cy="415498"/>
          </a:xfrm>
          <a:prstGeom prst="rect">
            <a:avLst/>
          </a:prstGeom>
        </p:spPr>
        <p:txBody>
          <a:bodyPr wrap="square">
            <a:spAutoFit/>
          </a:bodyPr>
          <a:lstStyle/>
          <a:p>
            <a:r>
              <a:rPr lang="en-US" altLang="zh-CN" sz="2100" b="1" dirty="0">
                <a:solidFill>
                  <a:schemeClr val="tx1">
                    <a:lumMod val="75000"/>
                    <a:lumOff val="25000"/>
                  </a:schemeClr>
                </a:solidFill>
                <a:latin typeface="Times New Roman" panose="02020603050405020304" pitchFamily="18" charset="0"/>
                <a:ea typeface="华文中宋" panose="02010600040101010101" pitchFamily="2" charset="-122"/>
                <a:cs typeface="Times New Roman" panose="02020603050405020304" pitchFamily="18" charset="0"/>
              </a:rPr>
              <a:t>Agency Framework—The adverse selection channel</a:t>
            </a:r>
            <a:endParaRPr lang="zh-CN" altLang="en-US" sz="1200" b="1" dirty="0">
              <a:solidFill>
                <a:schemeClr val="tx1">
                  <a:lumMod val="75000"/>
                  <a:lumOff val="25000"/>
                </a:schemeClr>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6" name="object 3"/>
          <p:cNvSpPr/>
          <p:nvPr/>
        </p:nvSpPr>
        <p:spPr>
          <a:xfrm>
            <a:off x="2206943" y="1495589"/>
            <a:ext cx="6522720" cy="57150"/>
          </a:xfrm>
          <a:custGeom>
            <a:avLst/>
            <a:gdLst/>
            <a:ahLst/>
            <a:cxnLst/>
            <a:rect l="l" t="t" r="r" b="b"/>
            <a:pathLst>
              <a:path w="4347845">
                <a:moveTo>
                  <a:pt x="0" y="0"/>
                </a:moveTo>
                <a:lnTo>
                  <a:pt x="4347845" y="0"/>
                </a:lnTo>
              </a:path>
            </a:pathLst>
          </a:custGeom>
          <a:ln w="28956">
            <a:solidFill>
              <a:srgbClr val="982059"/>
            </a:solidFill>
          </a:ln>
        </p:spPr>
        <p:txBody>
          <a:bodyPr wrap="square" lIns="0" tIns="0" rIns="0" bIns="0" rtlCol="0"/>
          <a:lstStyle/>
          <a:p>
            <a:endParaRPr>
              <a:latin typeface="黑体" panose="02010609060101010101" pitchFamily="49" charset="-122"/>
              <a:ea typeface="黑体" panose="02010609060101010101" pitchFamily="49" charset="-122"/>
              <a:cs typeface="Times New Roman" panose="02020603050405020304" pitchFamily="18" charset="0"/>
            </a:endParaRPr>
          </a:p>
        </p:txBody>
      </p:sp>
      <p:sp>
        <p:nvSpPr>
          <p:cNvPr id="13" name="矩形 12"/>
          <p:cNvSpPr/>
          <p:nvPr/>
        </p:nvSpPr>
        <p:spPr>
          <a:xfrm>
            <a:off x="1898737" y="985618"/>
            <a:ext cx="352500" cy="415498"/>
          </a:xfrm>
          <a:prstGeom prst="rect">
            <a:avLst/>
          </a:prstGeom>
        </p:spPr>
        <p:txBody>
          <a:bodyPr wrap="square">
            <a:spAutoFit/>
          </a:bodyPr>
          <a:lstStyle/>
          <a:p>
            <a:pPr algn="ctr"/>
            <a:r>
              <a:rPr lang="en-US" altLang="zh-CN" sz="2100" b="1" dirty="0">
                <a:solidFill>
                  <a:schemeClr val="bg1"/>
                </a:solidFill>
                <a:latin typeface="微软雅黑" panose="020B0503020204020204" pitchFamily="34" charset="-122"/>
                <a:ea typeface="微软雅黑" panose="020B0503020204020204" pitchFamily="34" charset="-122"/>
              </a:rPr>
              <a:t>3</a:t>
            </a:r>
            <a:endParaRPr lang="zh-CN" altLang="en-US" sz="2100" b="1" dirty="0">
              <a:solidFill>
                <a:schemeClr val="bg1"/>
              </a:solidFill>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04840EF5-6EF6-A17B-F02A-63558FD9E567}"/>
              </a:ext>
            </a:extLst>
          </p:cNvPr>
          <p:cNvSpPr txBox="1"/>
          <p:nvPr/>
        </p:nvSpPr>
        <p:spPr>
          <a:xfrm>
            <a:off x="1847231" y="1577725"/>
            <a:ext cx="8150075" cy="310341"/>
          </a:xfrm>
          <a:prstGeom prst="rect">
            <a:avLst/>
          </a:prstGeom>
          <a:noFill/>
        </p:spPr>
        <p:txBody>
          <a:bodyPr wrap="square">
            <a:spAutoFit/>
          </a:bodyPr>
          <a:lstStyle/>
          <a:p>
            <a:pPr marL="257175" indent="-257175">
              <a:lnSpc>
                <a:spcPts val="1650"/>
              </a:lnSpc>
              <a:buFont typeface="Arial" panose="020B0604020202020204" pitchFamily="34" charset="0"/>
              <a:buChar char="•"/>
              <a:defRPr/>
            </a:pPr>
            <a:r>
              <a:rPr lang="en-US" altLang="zh-CN" sz="1500" dirty="0">
                <a:latin typeface="Times New Roman" panose="02020603050405020304" pitchFamily="18" charset="0"/>
                <a:ea typeface="楷体" panose="02010609060101010101" pitchFamily="49" charset="-122"/>
                <a:cs typeface="Times New Roman" panose="02020603050405020304" pitchFamily="18" charset="0"/>
              </a:rPr>
              <a:t>Information asymmetry about firm value </a:t>
            </a:r>
            <a:r>
              <a:rPr lang="en-US" altLang="zh-CN" sz="1500" b="1" dirty="0">
                <a:latin typeface="Times New Roman" panose="02020603050405020304" pitchFamily="18" charset="0"/>
                <a:ea typeface="楷体" panose="02010609060101010101" pitchFamily="49" charset="-122"/>
                <a:cs typeface="Times New Roman" panose="02020603050405020304" pitchFamily="18" charset="0"/>
              </a:rPr>
              <a:t>before the firm raises external capital for investment</a:t>
            </a:r>
          </a:p>
        </p:txBody>
      </p:sp>
      <p:sp>
        <p:nvSpPr>
          <p:cNvPr id="4" name="矩形: 圆角 3">
            <a:extLst>
              <a:ext uri="{FF2B5EF4-FFF2-40B4-BE49-F238E27FC236}">
                <a16:creationId xmlns:a16="http://schemas.microsoft.com/office/drawing/2014/main" id="{27323606-3F53-E4DB-7314-F6D906FA6685}"/>
              </a:ext>
            </a:extLst>
          </p:cNvPr>
          <p:cNvSpPr/>
          <p:nvPr/>
        </p:nvSpPr>
        <p:spPr>
          <a:xfrm>
            <a:off x="6460110" y="2841577"/>
            <a:ext cx="1928711" cy="897072"/>
          </a:xfrm>
          <a:prstGeom prst="roundRect">
            <a:avLst/>
          </a:prstGeom>
          <a:solidFill>
            <a:schemeClr val="accent1">
              <a:lumMod val="20000"/>
              <a:lumOff val="80000"/>
            </a:schemeClr>
          </a:solidFill>
          <a:ln>
            <a:solidFill>
              <a:srgbClr val="6D0E6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450"/>
              </a:spcBef>
              <a:spcAft>
                <a:spcPts val="450"/>
              </a:spcAft>
            </a:pPr>
            <a:r>
              <a:rPr lang="en-US" altLang="zh-CN" sz="15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Improves firms’ access to external capital</a:t>
            </a:r>
          </a:p>
        </p:txBody>
      </p:sp>
      <p:sp>
        <p:nvSpPr>
          <p:cNvPr id="2" name="矩形 1">
            <a:extLst>
              <a:ext uri="{FF2B5EF4-FFF2-40B4-BE49-F238E27FC236}">
                <a16:creationId xmlns:a16="http://schemas.microsoft.com/office/drawing/2014/main" id="{B9D38DAC-9034-9B1F-7CD3-768AAC8153C0}"/>
              </a:ext>
            </a:extLst>
          </p:cNvPr>
          <p:cNvSpPr/>
          <p:nvPr/>
        </p:nvSpPr>
        <p:spPr>
          <a:xfrm>
            <a:off x="1847230" y="4005064"/>
            <a:ext cx="1296443" cy="5348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Financial Reporting</a:t>
            </a:r>
            <a:endParaRPr lang="zh-CN" altLang="en-US" dirty="0"/>
          </a:p>
        </p:txBody>
      </p:sp>
      <p:sp>
        <p:nvSpPr>
          <p:cNvPr id="5" name="矩形 4">
            <a:extLst>
              <a:ext uri="{FF2B5EF4-FFF2-40B4-BE49-F238E27FC236}">
                <a16:creationId xmlns:a16="http://schemas.microsoft.com/office/drawing/2014/main" id="{0BF3C11C-2651-1B5F-9EC8-954A84E87313}"/>
              </a:ext>
            </a:extLst>
          </p:cNvPr>
          <p:cNvSpPr/>
          <p:nvPr/>
        </p:nvSpPr>
        <p:spPr>
          <a:xfrm>
            <a:off x="3803180" y="2805347"/>
            <a:ext cx="2319214" cy="10553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Adverse selection problems between managers and investors</a:t>
            </a:r>
            <a:endParaRPr lang="zh-CN" altLang="en-US" dirty="0"/>
          </a:p>
        </p:txBody>
      </p:sp>
      <p:sp>
        <p:nvSpPr>
          <p:cNvPr id="7" name="矩形: 圆角 6">
            <a:extLst>
              <a:ext uri="{FF2B5EF4-FFF2-40B4-BE49-F238E27FC236}">
                <a16:creationId xmlns:a16="http://schemas.microsoft.com/office/drawing/2014/main" id="{3A0FFF07-AA64-EBA5-2BA5-00A7BE963607}"/>
              </a:ext>
            </a:extLst>
          </p:cNvPr>
          <p:cNvSpPr/>
          <p:nvPr/>
        </p:nvSpPr>
        <p:spPr>
          <a:xfrm>
            <a:off x="6466311" y="4772585"/>
            <a:ext cx="1950722" cy="904773"/>
          </a:xfrm>
          <a:prstGeom prst="roundRect">
            <a:avLst/>
          </a:prstGeom>
          <a:solidFill>
            <a:schemeClr val="accent1">
              <a:lumMod val="20000"/>
              <a:lumOff val="80000"/>
            </a:schemeClr>
          </a:solidFill>
          <a:ln>
            <a:solidFill>
              <a:srgbClr val="6D0E6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450"/>
              </a:spcBef>
              <a:spcAft>
                <a:spcPts val="450"/>
              </a:spcAft>
            </a:pPr>
            <a:r>
              <a:rPr lang="en-US" altLang="zh-CN" sz="15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Improves stock price liquidity and access to external capital</a:t>
            </a:r>
          </a:p>
        </p:txBody>
      </p:sp>
      <p:sp>
        <p:nvSpPr>
          <p:cNvPr id="10" name="矩形 9">
            <a:extLst>
              <a:ext uri="{FF2B5EF4-FFF2-40B4-BE49-F238E27FC236}">
                <a16:creationId xmlns:a16="http://schemas.microsoft.com/office/drawing/2014/main" id="{4F6D21C8-8270-BF99-D58D-3AD172F5AA44}"/>
              </a:ext>
            </a:extLst>
          </p:cNvPr>
          <p:cNvSpPr/>
          <p:nvPr/>
        </p:nvSpPr>
        <p:spPr>
          <a:xfrm>
            <a:off x="8475285" y="3795126"/>
            <a:ext cx="1869487" cy="9774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Mitigate under-investment problem for financially constrained firms</a:t>
            </a:r>
            <a:endParaRPr lang="zh-CN" altLang="en-US" dirty="0"/>
          </a:p>
        </p:txBody>
      </p:sp>
      <p:cxnSp>
        <p:nvCxnSpPr>
          <p:cNvPr id="12" name="直接箭头连接符 11">
            <a:extLst>
              <a:ext uri="{FF2B5EF4-FFF2-40B4-BE49-F238E27FC236}">
                <a16:creationId xmlns:a16="http://schemas.microsoft.com/office/drawing/2014/main" id="{BCE64FBC-69CE-9CC3-DB90-AA531449F67C}"/>
              </a:ext>
            </a:extLst>
          </p:cNvPr>
          <p:cNvCxnSpPr>
            <a:cxnSpLocks/>
            <a:stCxn id="2" idx="3"/>
          </p:cNvCxnSpPr>
          <p:nvPr/>
        </p:nvCxnSpPr>
        <p:spPr>
          <a:xfrm flipV="1">
            <a:off x="3143672" y="3405379"/>
            <a:ext cx="631994" cy="8671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BF9E5E4E-1D0B-B6A5-D271-C3333290AB0F}"/>
              </a:ext>
            </a:extLst>
          </p:cNvPr>
          <p:cNvCxnSpPr>
            <a:cxnSpLocks/>
            <a:stCxn id="5" idx="3"/>
          </p:cNvCxnSpPr>
          <p:nvPr/>
        </p:nvCxnSpPr>
        <p:spPr>
          <a:xfrm>
            <a:off x="6122394" y="3333025"/>
            <a:ext cx="2616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C0074238-391D-813F-03BA-36BB380FD2A0}"/>
              </a:ext>
            </a:extLst>
          </p:cNvPr>
          <p:cNvCxnSpPr>
            <a:cxnSpLocks/>
          </p:cNvCxnSpPr>
          <p:nvPr/>
        </p:nvCxnSpPr>
        <p:spPr>
          <a:xfrm>
            <a:off x="6096000" y="5229200"/>
            <a:ext cx="2880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C3282DDC-3EEA-6C5B-AAC4-4D3FFB09713F}"/>
              </a:ext>
            </a:extLst>
          </p:cNvPr>
          <p:cNvCxnSpPr>
            <a:cxnSpLocks/>
            <a:stCxn id="4" idx="3"/>
          </p:cNvCxnSpPr>
          <p:nvPr/>
        </p:nvCxnSpPr>
        <p:spPr>
          <a:xfrm>
            <a:off x="8388820" y="3290113"/>
            <a:ext cx="803524" cy="4485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DACB6020-92CC-49E5-E4D6-6BE90F7DB656}"/>
              </a:ext>
            </a:extLst>
          </p:cNvPr>
          <p:cNvCxnSpPr>
            <a:cxnSpLocks/>
          </p:cNvCxnSpPr>
          <p:nvPr/>
        </p:nvCxnSpPr>
        <p:spPr>
          <a:xfrm flipV="1">
            <a:off x="8499312" y="4869161"/>
            <a:ext cx="693032" cy="5153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2375358-356F-4D85-A48C-AAAEF29D0EAA}"/>
              </a:ext>
            </a:extLst>
          </p:cNvPr>
          <p:cNvSpPr txBox="1"/>
          <p:nvPr/>
        </p:nvSpPr>
        <p:spPr>
          <a:xfrm>
            <a:off x="3351657" y="3477226"/>
            <a:ext cx="216024" cy="369332"/>
          </a:xfrm>
          <a:prstGeom prst="rect">
            <a:avLst/>
          </a:prstGeom>
          <a:noFill/>
        </p:spPr>
        <p:txBody>
          <a:bodyPr wrap="square" rtlCol="0">
            <a:spAutoFit/>
          </a:bodyPr>
          <a:lstStyle/>
          <a:p>
            <a:r>
              <a:rPr lang="en-US" b="1" dirty="0"/>
              <a:t>-</a:t>
            </a:r>
          </a:p>
        </p:txBody>
      </p:sp>
      <p:sp>
        <p:nvSpPr>
          <p:cNvPr id="65" name="矩形 4">
            <a:extLst>
              <a:ext uri="{FF2B5EF4-FFF2-40B4-BE49-F238E27FC236}">
                <a16:creationId xmlns:a16="http://schemas.microsoft.com/office/drawing/2014/main" id="{F0C9C29F-A634-487F-8C47-79DEBBFD2BCD}"/>
              </a:ext>
            </a:extLst>
          </p:cNvPr>
          <p:cNvSpPr/>
          <p:nvPr/>
        </p:nvSpPr>
        <p:spPr>
          <a:xfrm>
            <a:off x="3791744" y="4614237"/>
            <a:ext cx="2319214" cy="10553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Adverse selection problems among investors</a:t>
            </a:r>
            <a:endParaRPr lang="zh-CN" altLang="en-US" dirty="0"/>
          </a:p>
        </p:txBody>
      </p:sp>
      <p:cxnSp>
        <p:nvCxnSpPr>
          <p:cNvPr id="66" name="直接箭头连接符 11">
            <a:extLst>
              <a:ext uri="{FF2B5EF4-FFF2-40B4-BE49-F238E27FC236}">
                <a16:creationId xmlns:a16="http://schemas.microsoft.com/office/drawing/2014/main" id="{E52B76DB-4B5B-4E99-B201-2C3E7BD85213}"/>
              </a:ext>
            </a:extLst>
          </p:cNvPr>
          <p:cNvCxnSpPr>
            <a:cxnSpLocks/>
          </p:cNvCxnSpPr>
          <p:nvPr/>
        </p:nvCxnSpPr>
        <p:spPr>
          <a:xfrm>
            <a:off x="3111798" y="4254093"/>
            <a:ext cx="691382" cy="873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55486943-D593-4A9C-846F-AC9AE25687DE}"/>
              </a:ext>
            </a:extLst>
          </p:cNvPr>
          <p:cNvSpPr txBox="1"/>
          <p:nvPr/>
        </p:nvSpPr>
        <p:spPr>
          <a:xfrm>
            <a:off x="3351657" y="4622031"/>
            <a:ext cx="216024" cy="369332"/>
          </a:xfrm>
          <a:prstGeom prst="rect">
            <a:avLst/>
          </a:prstGeom>
          <a:noFill/>
        </p:spPr>
        <p:txBody>
          <a:bodyPr wrap="square" rtlCol="0">
            <a:spAutoFit/>
          </a:bodyPr>
          <a:lstStyle/>
          <a:p>
            <a:r>
              <a:rPr lang="en-US" b="1" dirty="0"/>
              <a:t>-</a:t>
            </a:r>
          </a:p>
        </p:txBody>
      </p:sp>
    </p:spTree>
    <p:extLst>
      <p:ext uri="{BB962C8B-B14F-4D97-AF65-F5344CB8AC3E}">
        <p14:creationId xmlns:p14="http://schemas.microsoft.com/office/powerpoint/2010/main" val="4528862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文本框 32"/>
          <p:cNvSpPr txBox="1"/>
          <p:nvPr/>
        </p:nvSpPr>
        <p:spPr>
          <a:xfrm>
            <a:off x="1751131" y="1126748"/>
            <a:ext cx="418704" cy="369332"/>
          </a:xfrm>
          <a:prstGeom prst="rect">
            <a:avLst/>
          </a:prstGeom>
          <a:noFill/>
        </p:spPr>
        <p:txBody>
          <a:bodyPr wrap="none" rtlCol="0">
            <a:spAutoFit/>
          </a:bodyPr>
          <a:lstStyle/>
          <a:p>
            <a:pPr algn="ctr"/>
            <a:r>
              <a:rPr lang="en-US" altLang="zh-CN" b="1">
                <a:solidFill>
                  <a:schemeClr val="bg1"/>
                </a:solidFill>
                <a:latin typeface="黑体" panose="02010609060101010101" pitchFamily="49" charset="-122"/>
                <a:ea typeface="黑体" panose="02010609060101010101" pitchFamily="49" charset="-122"/>
              </a:rPr>
              <a:t>02</a:t>
            </a:r>
            <a:endParaRPr lang="zh-CN" altLang="en-US" b="1" dirty="0">
              <a:solidFill>
                <a:schemeClr val="bg1"/>
              </a:solidFill>
              <a:latin typeface="黑体" panose="02010609060101010101" pitchFamily="49" charset="-122"/>
              <a:ea typeface="黑体" panose="02010609060101010101" pitchFamily="49" charset="-122"/>
            </a:endParaRPr>
          </a:p>
        </p:txBody>
      </p:sp>
      <p:sp>
        <p:nvSpPr>
          <p:cNvPr id="34" name="矩形 33"/>
          <p:cNvSpPr/>
          <p:nvPr/>
        </p:nvSpPr>
        <p:spPr>
          <a:xfrm>
            <a:off x="2095531" y="957273"/>
            <a:ext cx="7816893" cy="415498"/>
          </a:xfrm>
          <a:prstGeom prst="rect">
            <a:avLst/>
          </a:prstGeom>
        </p:spPr>
        <p:txBody>
          <a:bodyPr wrap="square">
            <a:spAutoFit/>
          </a:bodyPr>
          <a:lstStyle/>
          <a:p>
            <a:r>
              <a:rPr lang="en-US" altLang="zh-CN" sz="2100" b="1" dirty="0">
                <a:solidFill>
                  <a:schemeClr val="tx1">
                    <a:lumMod val="75000"/>
                    <a:lumOff val="25000"/>
                  </a:schemeClr>
                </a:solidFill>
                <a:latin typeface="Times New Roman" panose="02020603050405020304" pitchFamily="18" charset="0"/>
                <a:ea typeface="华文中宋" panose="02010600040101010101" pitchFamily="2" charset="-122"/>
                <a:cs typeface="Times New Roman" panose="02020603050405020304" pitchFamily="18" charset="0"/>
              </a:rPr>
              <a:t>Agency Framework—The moral hazard channel</a:t>
            </a:r>
            <a:endParaRPr lang="zh-CN" altLang="en-US" sz="1200" b="1" dirty="0">
              <a:solidFill>
                <a:schemeClr val="tx1">
                  <a:lumMod val="75000"/>
                  <a:lumOff val="25000"/>
                </a:schemeClr>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6" name="object 3"/>
          <p:cNvSpPr/>
          <p:nvPr/>
        </p:nvSpPr>
        <p:spPr>
          <a:xfrm>
            <a:off x="2206943" y="1495589"/>
            <a:ext cx="6522720" cy="57150"/>
          </a:xfrm>
          <a:custGeom>
            <a:avLst/>
            <a:gdLst/>
            <a:ahLst/>
            <a:cxnLst/>
            <a:rect l="l" t="t" r="r" b="b"/>
            <a:pathLst>
              <a:path w="4347845">
                <a:moveTo>
                  <a:pt x="0" y="0"/>
                </a:moveTo>
                <a:lnTo>
                  <a:pt x="4347845" y="0"/>
                </a:lnTo>
              </a:path>
            </a:pathLst>
          </a:custGeom>
          <a:ln w="28956">
            <a:solidFill>
              <a:srgbClr val="982059"/>
            </a:solidFill>
          </a:ln>
        </p:spPr>
        <p:txBody>
          <a:bodyPr wrap="square" lIns="0" tIns="0" rIns="0" bIns="0" rtlCol="0"/>
          <a:lstStyle/>
          <a:p>
            <a:endParaRPr>
              <a:latin typeface="黑体" panose="02010609060101010101" pitchFamily="49" charset="-122"/>
              <a:ea typeface="黑体" panose="02010609060101010101" pitchFamily="49" charset="-122"/>
              <a:cs typeface="Times New Roman" panose="02020603050405020304" pitchFamily="18" charset="0"/>
            </a:endParaRPr>
          </a:p>
        </p:txBody>
      </p:sp>
      <p:sp>
        <p:nvSpPr>
          <p:cNvPr id="13" name="矩形 12"/>
          <p:cNvSpPr/>
          <p:nvPr/>
        </p:nvSpPr>
        <p:spPr>
          <a:xfrm>
            <a:off x="1898737" y="985618"/>
            <a:ext cx="352500" cy="415498"/>
          </a:xfrm>
          <a:prstGeom prst="rect">
            <a:avLst/>
          </a:prstGeom>
        </p:spPr>
        <p:txBody>
          <a:bodyPr wrap="square">
            <a:spAutoFit/>
          </a:bodyPr>
          <a:lstStyle/>
          <a:p>
            <a:pPr algn="ctr"/>
            <a:r>
              <a:rPr lang="en-US" altLang="zh-CN" sz="2100" b="1" dirty="0">
                <a:solidFill>
                  <a:schemeClr val="bg1"/>
                </a:solidFill>
                <a:latin typeface="微软雅黑" panose="020B0503020204020204" pitchFamily="34" charset="-122"/>
                <a:ea typeface="微软雅黑" panose="020B0503020204020204" pitchFamily="34" charset="-122"/>
              </a:rPr>
              <a:t>5</a:t>
            </a:r>
            <a:endParaRPr lang="zh-CN" altLang="en-US" sz="2100" b="1" dirty="0">
              <a:solidFill>
                <a:schemeClr val="bg1"/>
              </a:solidFill>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04840EF5-6EF6-A17B-F02A-63558FD9E567}"/>
              </a:ext>
            </a:extLst>
          </p:cNvPr>
          <p:cNvSpPr txBox="1"/>
          <p:nvPr/>
        </p:nvSpPr>
        <p:spPr>
          <a:xfrm>
            <a:off x="1847231" y="1577725"/>
            <a:ext cx="8150075" cy="528350"/>
          </a:xfrm>
          <a:prstGeom prst="rect">
            <a:avLst/>
          </a:prstGeom>
          <a:noFill/>
        </p:spPr>
        <p:txBody>
          <a:bodyPr wrap="square">
            <a:spAutoFit/>
          </a:bodyPr>
          <a:lstStyle/>
          <a:p>
            <a:pPr marL="257175" indent="-257175">
              <a:lnSpc>
                <a:spcPts val="1650"/>
              </a:lnSpc>
              <a:buFont typeface="Arial" panose="020B0604020202020204" pitchFamily="34" charset="0"/>
              <a:buChar char="•"/>
              <a:defRPr/>
            </a:pPr>
            <a:r>
              <a:rPr lang="en-US" altLang="zh-CN" dirty="0">
                <a:latin typeface="Times New Roman" panose="02020603050405020304" pitchFamily="18" charset="0"/>
                <a:ea typeface="楷体" panose="02010609060101010101" pitchFamily="49" charset="-122"/>
                <a:cs typeface="Times New Roman" panose="02020603050405020304" pitchFamily="18" charset="0"/>
              </a:rPr>
              <a:t>Information asymmetry regarding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managers' actions after the firm raises capital</a:t>
            </a:r>
          </a:p>
          <a:p>
            <a:pPr>
              <a:lnSpc>
                <a:spcPts val="1650"/>
              </a:lnSpc>
              <a:defRPr/>
            </a:pP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矩形: 圆角 3">
            <a:extLst>
              <a:ext uri="{FF2B5EF4-FFF2-40B4-BE49-F238E27FC236}">
                <a16:creationId xmlns:a16="http://schemas.microsoft.com/office/drawing/2014/main" id="{27323606-3F53-E4DB-7314-F6D906FA6685}"/>
              </a:ext>
            </a:extLst>
          </p:cNvPr>
          <p:cNvSpPr/>
          <p:nvPr/>
        </p:nvSpPr>
        <p:spPr>
          <a:xfrm>
            <a:off x="6198111" y="2504901"/>
            <a:ext cx="2009213" cy="886178"/>
          </a:xfrm>
          <a:prstGeom prst="roundRect">
            <a:avLst/>
          </a:prstGeom>
          <a:solidFill>
            <a:schemeClr val="accent1">
              <a:lumMod val="20000"/>
              <a:lumOff val="80000"/>
            </a:schemeClr>
          </a:solidFill>
          <a:ln>
            <a:solidFill>
              <a:srgbClr val="6D0E6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450"/>
              </a:spcBef>
              <a:spcAft>
                <a:spcPts val="450"/>
              </a:spcAft>
            </a:pPr>
            <a:r>
              <a:rPr lang="en-US" altLang="zh-CN" sz="15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Empire building</a:t>
            </a:r>
            <a:endParaRPr lang="en-US" altLang="zh-CN" sz="15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 name="矩形 1">
            <a:extLst>
              <a:ext uri="{FF2B5EF4-FFF2-40B4-BE49-F238E27FC236}">
                <a16:creationId xmlns:a16="http://schemas.microsoft.com/office/drawing/2014/main" id="{B9D38DAC-9034-9B1F-7CD3-768AAC8153C0}"/>
              </a:ext>
            </a:extLst>
          </p:cNvPr>
          <p:cNvSpPr/>
          <p:nvPr/>
        </p:nvSpPr>
        <p:spPr>
          <a:xfrm>
            <a:off x="1605940" y="3645025"/>
            <a:ext cx="1717358" cy="8247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Financial Reporting</a:t>
            </a:r>
            <a:endParaRPr lang="zh-CN" altLang="en-US" dirty="0"/>
          </a:p>
        </p:txBody>
      </p:sp>
      <p:sp>
        <p:nvSpPr>
          <p:cNvPr id="5" name="矩形 4">
            <a:extLst>
              <a:ext uri="{FF2B5EF4-FFF2-40B4-BE49-F238E27FC236}">
                <a16:creationId xmlns:a16="http://schemas.microsoft.com/office/drawing/2014/main" id="{0BF3C11C-2651-1B5F-9EC8-954A84E87313}"/>
              </a:ext>
            </a:extLst>
          </p:cNvPr>
          <p:cNvSpPr/>
          <p:nvPr/>
        </p:nvSpPr>
        <p:spPr>
          <a:xfrm>
            <a:off x="3596968" y="3637677"/>
            <a:ext cx="1717358" cy="8321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Monitor/incentivize</a:t>
            </a:r>
            <a:endParaRPr lang="zh-CN" altLang="en-US" dirty="0"/>
          </a:p>
        </p:txBody>
      </p:sp>
      <p:sp>
        <p:nvSpPr>
          <p:cNvPr id="10" name="矩形 9">
            <a:extLst>
              <a:ext uri="{FF2B5EF4-FFF2-40B4-BE49-F238E27FC236}">
                <a16:creationId xmlns:a16="http://schemas.microsoft.com/office/drawing/2014/main" id="{4F6D21C8-8270-BF99-D58D-3AD172F5AA44}"/>
              </a:ext>
            </a:extLst>
          </p:cNvPr>
          <p:cNvSpPr/>
          <p:nvPr/>
        </p:nvSpPr>
        <p:spPr>
          <a:xfrm>
            <a:off x="8550114" y="2495923"/>
            <a:ext cx="2009213" cy="9041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Mitigate over-investment problem</a:t>
            </a:r>
            <a:endParaRPr lang="zh-CN" altLang="en-US" dirty="0"/>
          </a:p>
        </p:txBody>
      </p:sp>
      <p:cxnSp>
        <p:nvCxnSpPr>
          <p:cNvPr id="12" name="直接箭头连接符 11">
            <a:extLst>
              <a:ext uri="{FF2B5EF4-FFF2-40B4-BE49-F238E27FC236}">
                <a16:creationId xmlns:a16="http://schemas.microsoft.com/office/drawing/2014/main" id="{BCE64FBC-69CE-9CC3-DB90-AA531449F67C}"/>
              </a:ext>
            </a:extLst>
          </p:cNvPr>
          <p:cNvCxnSpPr>
            <a:cxnSpLocks/>
            <a:stCxn id="2" idx="3"/>
            <a:endCxn id="5" idx="1"/>
          </p:cNvCxnSpPr>
          <p:nvPr/>
        </p:nvCxnSpPr>
        <p:spPr>
          <a:xfrm flipV="1">
            <a:off x="3323298" y="4053740"/>
            <a:ext cx="273670" cy="36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BF9E5E4E-1D0B-B6A5-D271-C3333290AB0F}"/>
              </a:ext>
            </a:extLst>
          </p:cNvPr>
          <p:cNvCxnSpPr>
            <a:cxnSpLocks/>
            <a:stCxn id="5" idx="3"/>
            <a:endCxn id="4" idx="1"/>
          </p:cNvCxnSpPr>
          <p:nvPr/>
        </p:nvCxnSpPr>
        <p:spPr>
          <a:xfrm flipV="1">
            <a:off x="5314326" y="2947990"/>
            <a:ext cx="883784" cy="11057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C3282DDC-3EEA-6C5B-AAC4-4D3FFB09713F}"/>
              </a:ext>
            </a:extLst>
          </p:cNvPr>
          <p:cNvCxnSpPr>
            <a:cxnSpLocks/>
            <a:stCxn id="4" idx="3"/>
          </p:cNvCxnSpPr>
          <p:nvPr/>
        </p:nvCxnSpPr>
        <p:spPr>
          <a:xfrm>
            <a:off x="8207324" y="2947990"/>
            <a:ext cx="33694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926587A6-753D-49C9-BC27-F194535DAE91}"/>
              </a:ext>
            </a:extLst>
          </p:cNvPr>
          <p:cNvSpPr txBox="1"/>
          <p:nvPr/>
        </p:nvSpPr>
        <p:spPr>
          <a:xfrm>
            <a:off x="5737896" y="2884294"/>
            <a:ext cx="216024" cy="369332"/>
          </a:xfrm>
          <a:prstGeom prst="rect">
            <a:avLst/>
          </a:prstGeom>
          <a:noFill/>
        </p:spPr>
        <p:txBody>
          <a:bodyPr wrap="square" rtlCol="0">
            <a:spAutoFit/>
          </a:bodyPr>
          <a:lstStyle/>
          <a:p>
            <a:r>
              <a:rPr lang="en-US" b="1" dirty="0"/>
              <a:t>-</a:t>
            </a:r>
          </a:p>
        </p:txBody>
      </p:sp>
      <p:sp>
        <p:nvSpPr>
          <p:cNvPr id="44" name="矩形: 圆角 3">
            <a:extLst>
              <a:ext uri="{FF2B5EF4-FFF2-40B4-BE49-F238E27FC236}">
                <a16:creationId xmlns:a16="http://schemas.microsoft.com/office/drawing/2014/main" id="{12FE7109-E6A9-4424-A158-859AB9DBFDEA}"/>
              </a:ext>
            </a:extLst>
          </p:cNvPr>
          <p:cNvSpPr/>
          <p:nvPr/>
        </p:nvSpPr>
        <p:spPr>
          <a:xfrm>
            <a:off x="6209222" y="3610651"/>
            <a:ext cx="2009213" cy="886178"/>
          </a:xfrm>
          <a:prstGeom prst="roundRect">
            <a:avLst/>
          </a:prstGeom>
          <a:solidFill>
            <a:schemeClr val="accent1">
              <a:lumMod val="20000"/>
              <a:lumOff val="80000"/>
            </a:schemeClr>
          </a:solidFill>
          <a:ln>
            <a:solidFill>
              <a:srgbClr val="6D0E6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450"/>
              </a:spcBef>
              <a:spcAft>
                <a:spcPts val="450"/>
              </a:spcAft>
            </a:pPr>
            <a:r>
              <a:rPr lang="en-US" altLang="zh-CN" sz="15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Effort aversion (</a:t>
            </a:r>
            <a:r>
              <a:rPr lang="en-US" altLang="zh-CN" sz="15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quiet life)</a:t>
            </a:r>
          </a:p>
        </p:txBody>
      </p:sp>
      <p:sp>
        <p:nvSpPr>
          <p:cNvPr id="47" name="矩形: 圆角 3">
            <a:extLst>
              <a:ext uri="{FF2B5EF4-FFF2-40B4-BE49-F238E27FC236}">
                <a16:creationId xmlns:a16="http://schemas.microsoft.com/office/drawing/2014/main" id="{C8450BD3-4653-4A55-AA44-1E5AF7D0387F}"/>
              </a:ext>
            </a:extLst>
          </p:cNvPr>
          <p:cNvSpPr/>
          <p:nvPr/>
        </p:nvSpPr>
        <p:spPr>
          <a:xfrm>
            <a:off x="6198110" y="4707200"/>
            <a:ext cx="2009213" cy="886178"/>
          </a:xfrm>
          <a:prstGeom prst="roundRect">
            <a:avLst/>
          </a:prstGeom>
          <a:solidFill>
            <a:schemeClr val="accent1">
              <a:lumMod val="20000"/>
              <a:lumOff val="80000"/>
            </a:schemeClr>
          </a:solidFill>
          <a:ln>
            <a:solidFill>
              <a:srgbClr val="6D0E6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450"/>
              </a:spcBef>
              <a:spcAft>
                <a:spcPts val="450"/>
              </a:spcAft>
            </a:pPr>
            <a:r>
              <a:rPr lang="en-US" altLang="zh-CN" sz="15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R</a:t>
            </a:r>
            <a:r>
              <a:rPr lang="en-US" altLang="zh-CN" sz="15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isk-aversion</a:t>
            </a:r>
          </a:p>
        </p:txBody>
      </p:sp>
      <p:sp>
        <p:nvSpPr>
          <p:cNvPr id="42" name="Rectangle 41">
            <a:extLst>
              <a:ext uri="{FF2B5EF4-FFF2-40B4-BE49-F238E27FC236}">
                <a16:creationId xmlns:a16="http://schemas.microsoft.com/office/drawing/2014/main" id="{2999E7DB-E796-4195-959C-3907181F0263}"/>
              </a:ext>
            </a:extLst>
          </p:cNvPr>
          <p:cNvSpPr/>
          <p:nvPr/>
        </p:nvSpPr>
        <p:spPr>
          <a:xfrm>
            <a:off x="5698819" y="2004806"/>
            <a:ext cx="3231975" cy="369332"/>
          </a:xfrm>
          <a:prstGeom prst="rect">
            <a:avLst/>
          </a:prstGeom>
        </p:spPr>
        <p:txBody>
          <a:bodyPr wrap="none">
            <a:spAutoFit/>
          </a:bodyPr>
          <a:lstStyle/>
          <a:p>
            <a:r>
              <a:rPr lang="en-US" altLang="zh-CN" dirty="0"/>
              <a:t>Manager-shareholder conflicts</a:t>
            </a:r>
          </a:p>
        </p:txBody>
      </p:sp>
      <p:cxnSp>
        <p:nvCxnSpPr>
          <p:cNvPr id="52" name="直接箭头连接符 14">
            <a:extLst>
              <a:ext uri="{FF2B5EF4-FFF2-40B4-BE49-F238E27FC236}">
                <a16:creationId xmlns:a16="http://schemas.microsoft.com/office/drawing/2014/main" id="{41FA0A0A-C9B4-44A3-947E-911FCB8C791B}"/>
              </a:ext>
            </a:extLst>
          </p:cNvPr>
          <p:cNvCxnSpPr>
            <a:cxnSpLocks/>
            <a:stCxn id="5" idx="3"/>
          </p:cNvCxnSpPr>
          <p:nvPr/>
        </p:nvCxnSpPr>
        <p:spPr>
          <a:xfrm>
            <a:off x="5314326" y="4053740"/>
            <a:ext cx="8311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14">
            <a:extLst>
              <a:ext uri="{FF2B5EF4-FFF2-40B4-BE49-F238E27FC236}">
                <a16:creationId xmlns:a16="http://schemas.microsoft.com/office/drawing/2014/main" id="{9516BFB4-B313-46F0-810F-D79567500D15}"/>
              </a:ext>
            </a:extLst>
          </p:cNvPr>
          <p:cNvCxnSpPr>
            <a:cxnSpLocks/>
            <a:stCxn id="5" idx="3"/>
            <a:endCxn id="47" idx="1"/>
          </p:cNvCxnSpPr>
          <p:nvPr/>
        </p:nvCxnSpPr>
        <p:spPr>
          <a:xfrm>
            <a:off x="5314327" y="4053741"/>
            <a:ext cx="883783" cy="10965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64A9C12D-A4F0-48B4-81BB-A880A8EB59CA}"/>
              </a:ext>
            </a:extLst>
          </p:cNvPr>
          <p:cNvSpPr txBox="1"/>
          <p:nvPr/>
        </p:nvSpPr>
        <p:spPr>
          <a:xfrm>
            <a:off x="5729914" y="3766789"/>
            <a:ext cx="216024" cy="369332"/>
          </a:xfrm>
          <a:prstGeom prst="rect">
            <a:avLst/>
          </a:prstGeom>
          <a:noFill/>
        </p:spPr>
        <p:txBody>
          <a:bodyPr wrap="square" rtlCol="0">
            <a:spAutoFit/>
          </a:bodyPr>
          <a:lstStyle/>
          <a:p>
            <a:r>
              <a:rPr lang="en-US" b="1" dirty="0"/>
              <a:t>-</a:t>
            </a:r>
          </a:p>
        </p:txBody>
      </p:sp>
      <p:sp>
        <p:nvSpPr>
          <p:cNvPr id="64" name="TextBox 63">
            <a:extLst>
              <a:ext uri="{FF2B5EF4-FFF2-40B4-BE49-F238E27FC236}">
                <a16:creationId xmlns:a16="http://schemas.microsoft.com/office/drawing/2014/main" id="{3993B1CA-28BA-4B8C-8539-ECA6B8F594DD}"/>
              </a:ext>
            </a:extLst>
          </p:cNvPr>
          <p:cNvSpPr txBox="1"/>
          <p:nvPr/>
        </p:nvSpPr>
        <p:spPr>
          <a:xfrm>
            <a:off x="5729914" y="4408913"/>
            <a:ext cx="216024" cy="369332"/>
          </a:xfrm>
          <a:prstGeom prst="rect">
            <a:avLst/>
          </a:prstGeom>
          <a:noFill/>
        </p:spPr>
        <p:txBody>
          <a:bodyPr wrap="square" rtlCol="0">
            <a:spAutoFit/>
          </a:bodyPr>
          <a:lstStyle/>
          <a:p>
            <a:r>
              <a:rPr lang="en-US" b="1" dirty="0"/>
              <a:t>-</a:t>
            </a:r>
          </a:p>
        </p:txBody>
      </p:sp>
      <p:sp>
        <p:nvSpPr>
          <p:cNvPr id="65" name="矩形 9">
            <a:extLst>
              <a:ext uri="{FF2B5EF4-FFF2-40B4-BE49-F238E27FC236}">
                <a16:creationId xmlns:a16="http://schemas.microsoft.com/office/drawing/2014/main" id="{732A0CD2-2E5F-4EAE-B2A3-253092911C39}"/>
              </a:ext>
            </a:extLst>
          </p:cNvPr>
          <p:cNvSpPr/>
          <p:nvPr/>
        </p:nvSpPr>
        <p:spPr>
          <a:xfrm>
            <a:off x="8512027" y="4219505"/>
            <a:ext cx="2009213" cy="9041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Improve Investment Efficiency</a:t>
            </a:r>
            <a:endParaRPr lang="zh-CN" altLang="en-US" dirty="0"/>
          </a:p>
        </p:txBody>
      </p:sp>
      <p:cxnSp>
        <p:nvCxnSpPr>
          <p:cNvPr id="66" name="直接箭头连接符 18">
            <a:extLst>
              <a:ext uri="{FF2B5EF4-FFF2-40B4-BE49-F238E27FC236}">
                <a16:creationId xmlns:a16="http://schemas.microsoft.com/office/drawing/2014/main" id="{6D8088EC-FC57-4FB1-8F3F-E4D84276E6F3}"/>
              </a:ext>
            </a:extLst>
          </p:cNvPr>
          <p:cNvCxnSpPr>
            <a:cxnSpLocks/>
          </p:cNvCxnSpPr>
          <p:nvPr/>
        </p:nvCxnSpPr>
        <p:spPr>
          <a:xfrm>
            <a:off x="8218434" y="4201383"/>
            <a:ext cx="293592" cy="2684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18">
            <a:extLst>
              <a:ext uri="{FF2B5EF4-FFF2-40B4-BE49-F238E27FC236}">
                <a16:creationId xmlns:a16="http://schemas.microsoft.com/office/drawing/2014/main" id="{B045BC5D-C7DF-4ABA-A411-515DA49B0DE2}"/>
              </a:ext>
            </a:extLst>
          </p:cNvPr>
          <p:cNvCxnSpPr>
            <a:cxnSpLocks/>
            <a:endCxn id="65" idx="1"/>
          </p:cNvCxnSpPr>
          <p:nvPr/>
        </p:nvCxnSpPr>
        <p:spPr>
          <a:xfrm flipV="1">
            <a:off x="8229546" y="4671572"/>
            <a:ext cx="282481" cy="2695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01740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文本框 32"/>
          <p:cNvSpPr txBox="1"/>
          <p:nvPr/>
        </p:nvSpPr>
        <p:spPr>
          <a:xfrm>
            <a:off x="1751131" y="1126748"/>
            <a:ext cx="418704" cy="369332"/>
          </a:xfrm>
          <a:prstGeom prst="rect">
            <a:avLst/>
          </a:prstGeom>
          <a:noFill/>
        </p:spPr>
        <p:txBody>
          <a:bodyPr wrap="none" rtlCol="0">
            <a:spAutoFit/>
          </a:bodyPr>
          <a:lstStyle/>
          <a:p>
            <a:pPr algn="ctr"/>
            <a:r>
              <a:rPr lang="en-US" altLang="zh-CN" b="1">
                <a:solidFill>
                  <a:schemeClr val="bg1"/>
                </a:solidFill>
                <a:latin typeface="黑体" panose="02010609060101010101" pitchFamily="49" charset="-122"/>
                <a:ea typeface="黑体" panose="02010609060101010101" pitchFamily="49" charset="-122"/>
              </a:rPr>
              <a:t>02</a:t>
            </a:r>
            <a:endParaRPr lang="zh-CN" altLang="en-US" b="1" dirty="0">
              <a:solidFill>
                <a:schemeClr val="bg1"/>
              </a:solidFill>
              <a:latin typeface="黑体" panose="02010609060101010101" pitchFamily="49" charset="-122"/>
              <a:ea typeface="黑体" panose="02010609060101010101" pitchFamily="49" charset="-122"/>
            </a:endParaRPr>
          </a:p>
        </p:txBody>
      </p:sp>
      <p:sp>
        <p:nvSpPr>
          <p:cNvPr id="34" name="矩形 33"/>
          <p:cNvSpPr/>
          <p:nvPr/>
        </p:nvSpPr>
        <p:spPr>
          <a:xfrm>
            <a:off x="2927648" y="626979"/>
            <a:ext cx="5359390" cy="523220"/>
          </a:xfrm>
          <a:prstGeom prst="rect">
            <a:avLst/>
          </a:prstGeom>
        </p:spPr>
        <p:txBody>
          <a:bodyPr wrap="square">
            <a:spAutoFit/>
          </a:bodyPr>
          <a:lstStyle/>
          <a:p>
            <a:pPr algn="ctr"/>
            <a:r>
              <a:rPr lang="en-US" altLang="zh-CN" sz="2800" b="1" dirty="0">
                <a:solidFill>
                  <a:schemeClr val="tx1">
                    <a:lumMod val="75000"/>
                    <a:lumOff val="25000"/>
                  </a:schemeClr>
                </a:solidFill>
                <a:latin typeface="Century Schoolbook" panose="02040604050505020304" pitchFamily="18" charset="0"/>
                <a:ea typeface="华文中宋" panose="02010600040101010101" pitchFamily="2" charset="-122"/>
                <a:cs typeface="Times New Roman" panose="02020603050405020304" pitchFamily="18" charset="0"/>
              </a:rPr>
              <a:t>Prior Studies</a:t>
            </a:r>
            <a:endParaRPr lang="zh-CN" altLang="en-US" sz="2800" b="1" dirty="0">
              <a:solidFill>
                <a:schemeClr val="tx1">
                  <a:lumMod val="75000"/>
                  <a:lumOff val="25000"/>
                </a:schemeClr>
              </a:solidFill>
              <a:latin typeface="Century Schoolbook" panose="02040604050505020304" pitchFamily="18" charset="0"/>
              <a:ea typeface="华文中宋" panose="02010600040101010101" pitchFamily="2" charset="-122"/>
              <a:cs typeface="Times New Roman" panose="02020603050405020304" pitchFamily="18" charset="0"/>
            </a:endParaRPr>
          </a:p>
        </p:txBody>
      </p:sp>
      <p:sp>
        <p:nvSpPr>
          <p:cNvPr id="13" name="矩形 12"/>
          <p:cNvSpPr/>
          <p:nvPr/>
        </p:nvSpPr>
        <p:spPr>
          <a:xfrm>
            <a:off x="1898737" y="985618"/>
            <a:ext cx="352500" cy="415498"/>
          </a:xfrm>
          <a:prstGeom prst="rect">
            <a:avLst/>
          </a:prstGeom>
        </p:spPr>
        <p:txBody>
          <a:bodyPr wrap="square">
            <a:spAutoFit/>
          </a:bodyPr>
          <a:lstStyle/>
          <a:p>
            <a:pPr algn="ctr"/>
            <a:r>
              <a:rPr lang="en-US" altLang="zh-CN" sz="2100" b="1" dirty="0">
                <a:solidFill>
                  <a:schemeClr val="bg1"/>
                </a:solidFill>
                <a:latin typeface="微软雅黑" panose="020B0503020204020204" pitchFamily="34" charset="-122"/>
                <a:ea typeface="微软雅黑" panose="020B0503020204020204" pitchFamily="34" charset="-122"/>
              </a:rPr>
              <a:t>4</a:t>
            </a:r>
            <a:endParaRPr lang="zh-CN" altLang="en-US" sz="2100" b="1" dirty="0">
              <a:solidFill>
                <a:schemeClr val="bg1"/>
              </a:solidFill>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04840EF5-6EF6-A17B-F02A-63558FD9E567}"/>
              </a:ext>
            </a:extLst>
          </p:cNvPr>
          <p:cNvSpPr txBox="1"/>
          <p:nvPr/>
        </p:nvSpPr>
        <p:spPr>
          <a:xfrm>
            <a:off x="2020963" y="1470446"/>
            <a:ext cx="8150075" cy="3970318"/>
          </a:xfrm>
          <a:prstGeom prst="rect">
            <a:avLst/>
          </a:prstGeom>
          <a:noFill/>
        </p:spPr>
        <p:txBody>
          <a:bodyPr wrap="square">
            <a:spAutoFit/>
          </a:bodyPr>
          <a:lstStyle/>
          <a:p>
            <a:pPr marL="257175" indent="-257175">
              <a:buFont typeface="Arial" panose="020B0604020202020204" pitchFamily="34" charset="0"/>
              <a:buChar char="•"/>
              <a:defRPr/>
            </a:pPr>
            <a:r>
              <a:rPr lang="en-US" altLang="zh-CN" sz="2100" dirty="0">
                <a:latin typeface="Times New Roman" panose="02020603050405020304" pitchFamily="18" charset="0"/>
                <a:ea typeface="楷体" panose="02010609060101010101" pitchFamily="49" charset="-122"/>
                <a:cs typeface="Times New Roman" panose="02020603050405020304" pitchFamily="18" charset="0"/>
              </a:rPr>
              <a:t>Biddle and Hilary (2006):  </a:t>
            </a:r>
            <a:r>
              <a:rPr lang="en-HK" altLang="zh-CN" sz="2100" dirty="0">
                <a:latin typeface="Times New Roman" panose="02020603050405020304" pitchFamily="18" charset="0"/>
                <a:ea typeface="楷体" panose="02010609060101010101" pitchFamily="49" charset="-122"/>
                <a:cs typeface="Times New Roman" panose="02020603050405020304" pitchFamily="18" charset="0"/>
              </a:rPr>
              <a:t>Higher accounting quality is associated with lower investment-cash flow sensitivity. </a:t>
            </a:r>
            <a:endParaRPr lang="en-US" altLang="zh-CN" sz="2100" dirty="0">
              <a:latin typeface="Times New Roman" panose="02020603050405020304" pitchFamily="18" charset="0"/>
              <a:ea typeface="楷体" panose="02010609060101010101" pitchFamily="49" charset="-122"/>
              <a:cs typeface="Times New Roman" panose="02020603050405020304" pitchFamily="18" charset="0"/>
            </a:endParaRPr>
          </a:p>
          <a:p>
            <a:pPr marL="257175" indent="-257175">
              <a:buFont typeface="Arial" panose="020B0604020202020204" pitchFamily="34" charset="0"/>
              <a:buChar char="•"/>
              <a:defRPr/>
            </a:pPr>
            <a:r>
              <a:rPr lang="en-US" altLang="zh-CN" sz="2100" dirty="0">
                <a:latin typeface="Times New Roman" panose="02020603050405020304" pitchFamily="18" charset="0"/>
                <a:ea typeface="楷体" panose="02010609060101010101" pitchFamily="49" charset="-122"/>
                <a:cs typeface="Times New Roman" panose="02020603050405020304" pitchFamily="18" charset="0"/>
              </a:rPr>
              <a:t>Biddle et al. (2009): Higher reporting quality is associated with less under- and over-investment. </a:t>
            </a:r>
          </a:p>
          <a:p>
            <a:pPr marL="257175" indent="-257175">
              <a:buFont typeface="Arial" panose="020B0604020202020204" pitchFamily="34" charset="0"/>
              <a:buChar char="•"/>
              <a:defRPr/>
            </a:pPr>
            <a:r>
              <a:rPr lang="en-US" altLang="zh-CN" sz="2100" dirty="0">
                <a:latin typeface="Times New Roman" panose="02020603050405020304" pitchFamily="18" charset="0"/>
                <a:ea typeface="楷体" panose="02010609060101010101" pitchFamily="49" charset="-122"/>
                <a:cs typeface="Times New Roman" panose="02020603050405020304" pitchFamily="18" charset="0"/>
              </a:rPr>
              <a:t>Cheng et al. (2013): The remediation of internal control weakness reduces investment inefficiency.</a:t>
            </a:r>
          </a:p>
          <a:p>
            <a:pPr marL="257175" indent="-257175">
              <a:buFont typeface="Arial" panose="020B0604020202020204" pitchFamily="34" charset="0"/>
              <a:buChar char="•"/>
              <a:defRPr/>
            </a:pPr>
            <a:r>
              <a:rPr lang="en-US" altLang="zh-CN" sz="2100" dirty="0">
                <a:latin typeface="Times New Roman" panose="02020603050405020304" pitchFamily="18" charset="0"/>
                <a:ea typeface="楷体" panose="02010609060101010101" pitchFamily="49" charset="-122"/>
                <a:cs typeface="Times New Roman" panose="02020603050405020304" pitchFamily="18" charset="0"/>
              </a:rPr>
              <a:t>Naranjo et al. (2019): The adoption of IFRS leads to increased financing and investment. </a:t>
            </a:r>
          </a:p>
          <a:p>
            <a:pPr marL="257175" indent="-257175">
              <a:buFont typeface="Arial" panose="020B0604020202020204" pitchFamily="34" charset="0"/>
              <a:buChar char="•"/>
              <a:defRPr/>
            </a:pPr>
            <a:r>
              <a:rPr lang="en-US" altLang="zh-CN" sz="2100" dirty="0">
                <a:latin typeface="Times New Roman" panose="02020603050405020304" pitchFamily="18" charset="0"/>
                <a:ea typeface="楷体" panose="02010609060101010101" pitchFamily="49" charset="-122"/>
                <a:cs typeface="Times New Roman" panose="02020603050405020304" pitchFamily="18" charset="0"/>
              </a:rPr>
              <a:t>Shroff (2019) finds that non-SEC registered firms audited by a PCAOB-inspected auditor increase capital expenditures following the disclosure of their auditors’ inspection reports. </a:t>
            </a:r>
          </a:p>
          <a:p>
            <a:pPr marL="257175" indent="-257175">
              <a:buFont typeface="Arial" panose="020B0604020202020204" pitchFamily="34" charset="0"/>
              <a:buChar char="•"/>
              <a:defRPr/>
            </a:pPr>
            <a:endParaRPr lang="en-US" altLang="zh-CN" sz="21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2277817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15A5995-D4D5-4B83-8438-B70538917804}"/>
              </a:ext>
            </a:extLst>
          </p:cNvPr>
          <p:cNvSpPr>
            <a:spLocks noGrp="1"/>
          </p:cNvSpPr>
          <p:nvPr>
            <p:ph type="dt" sz="half" idx="10"/>
          </p:nvPr>
        </p:nvSpPr>
        <p:spPr/>
        <p:txBody>
          <a:bodyPr/>
          <a:lstStyle/>
          <a:p>
            <a:fld id="{AC6EB80C-1B93-4878-B4F2-109FC389C177}" type="datetime1">
              <a:rPr lang="en-US" smtClean="0">
                <a:ea typeface="PMingLiU" panose="02020500000000000000" pitchFamily="18" charset="-120"/>
                <a:cs typeface="Arial" panose="020B0604020202020204" pitchFamily="34" charset="0"/>
              </a:rPr>
              <a:pPr/>
              <a:t>9/21/2026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0DCA58DB-F3A3-4F5B-9A53-D692B4F6C816}"/>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22</a:t>
            </a:fld>
            <a:endParaRPr lang="en-US" dirty="0">
              <a:latin typeface="Calibri" panose="020F0502020204030204" pitchFamily="34" charset="0"/>
              <a:ea typeface="PMingLiU" panose="02020500000000000000" pitchFamily="18" charset="-120"/>
              <a:cs typeface="Arial" panose="020B0604020202020204" pitchFamily="34" charset="0"/>
            </a:endParaRPr>
          </a:p>
        </p:txBody>
      </p:sp>
      <p:pic>
        <p:nvPicPr>
          <p:cNvPr id="6" name="Picture 5">
            <a:extLst>
              <a:ext uri="{FF2B5EF4-FFF2-40B4-BE49-F238E27FC236}">
                <a16:creationId xmlns:a16="http://schemas.microsoft.com/office/drawing/2014/main" id="{39999DC6-1DEA-4E2B-A207-7C00A7A1F7C6}"/>
              </a:ext>
            </a:extLst>
          </p:cNvPr>
          <p:cNvPicPr>
            <a:picLocks noChangeAspect="1"/>
          </p:cNvPicPr>
          <p:nvPr/>
        </p:nvPicPr>
        <p:blipFill>
          <a:blip r:embed="rId2"/>
          <a:stretch>
            <a:fillRect/>
          </a:stretch>
        </p:blipFill>
        <p:spPr>
          <a:xfrm>
            <a:off x="3088337" y="0"/>
            <a:ext cx="6015326" cy="6858000"/>
          </a:xfrm>
          <a:prstGeom prst="rect">
            <a:avLst/>
          </a:prstGeom>
        </p:spPr>
      </p:pic>
    </p:spTree>
    <p:extLst>
      <p:ext uri="{BB962C8B-B14F-4D97-AF65-F5344CB8AC3E}">
        <p14:creationId xmlns:p14="http://schemas.microsoft.com/office/powerpoint/2010/main" val="18034453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4F75D-F590-4942-9657-BE9BBC89D5A1}"/>
              </a:ext>
            </a:extLst>
          </p:cNvPr>
          <p:cNvSpPr>
            <a:spLocks noGrp="1"/>
          </p:cNvSpPr>
          <p:nvPr>
            <p:ph type="title"/>
          </p:nvPr>
        </p:nvSpPr>
        <p:spPr>
          <a:xfrm>
            <a:off x="1981200" y="272831"/>
            <a:ext cx="8229600" cy="1143000"/>
          </a:xfrm>
        </p:spPr>
        <p:txBody>
          <a:bodyPr/>
          <a:lstStyle/>
          <a:p>
            <a:r>
              <a:rPr lang="en-US" dirty="0"/>
              <a:t>Prior Studies</a:t>
            </a:r>
          </a:p>
        </p:txBody>
      </p:sp>
      <p:sp>
        <p:nvSpPr>
          <p:cNvPr id="3" name="Content Placeholder 2">
            <a:extLst>
              <a:ext uri="{FF2B5EF4-FFF2-40B4-BE49-F238E27FC236}">
                <a16:creationId xmlns:a16="http://schemas.microsoft.com/office/drawing/2014/main" id="{A1F54C53-5D58-41B1-AC89-6E9DE0CEB984}"/>
              </a:ext>
            </a:extLst>
          </p:cNvPr>
          <p:cNvSpPr>
            <a:spLocks noGrp="1"/>
          </p:cNvSpPr>
          <p:nvPr>
            <p:ph idx="1"/>
          </p:nvPr>
        </p:nvSpPr>
        <p:spPr>
          <a:xfrm>
            <a:off x="1958906" y="1337359"/>
            <a:ext cx="8229600" cy="4525963"/>
          </a:xfrm>
        </p:spPr>
        <p:txBody>
          <a:bodyPr>
            <a:normAutofit/>
          </a:bodyPr>
          <a:lstStyle/>
          <a:p>
            <a:pPr marL="257175" indent="-257175">
              <a:defRPr/>
            </a:pPr>
            <a:r>
              <a:rPr lang="en-US" altLang="zh-CN" dirty="0">
                <a:latin typeface="Times New Roman" panose="02020603050405020304" pitchFamily="18" charset="0"/>
                <a:ea typeface="楷体" panose="02010609060101010101" pitchFamily="49" charset="-122"/>
                <a:cs typeface="Times New Roman" panose="02020603050405020304" pitchFamily="18" charset="0"/>
              </a:rPr>
              <a:t>Empire building: </a:t>
            </a:r>
          </a:p>
          <a:p>
            <a:pPr lvl="1">
              <a:defRPr/>
            </a:pPr>
            <a:r>
              <a:rPr lang="en-US" altLang="zh-CN" dirty="0">
                <a:latin typeface="Times New Roman" panose="02020603050405020304" pitchFamily="18" charset="0"/>
                <a:ea typeface="楷体" panose="02010609060101010101" pitchFamily="49" charset="-122"/>
                <a:cs typeface="Times New Roman" panose="02020603050405020304" pitchFamily="18" charset="0"/>
              </a:rPr>
              <a:t>Hopes and Thomas (2008): the passage of SFAS 131 increases the likelihood of managers engaging in empire building by causing a decline in transparency about foreign operations. </a:t>
            </a:r>
          </a:p>
          <a:p>
            <a:pPr lvl="1">
              <a:defRPr/>
            </a:pPr>
            <a:r>
              <a:rPr lang="en-US" altLang="zh-CN" dirty="0">
                <a:latin typeface="Times New Roman" panose="02020603050405020304" pitchFamily="18" charset="0"/>
                <a:ea typeface="楷体" panose="02010609060101010101" pitchFamily="49" charset="-122"/>
                <a:cs typeface="Times New Roman" panose="02020603050405020304" pitchFamily="18" charset="0"/>
              </a:rPr>
              <a:t>Timely recognition of loss disincentivizes managers from investing in negative NPV projects and incentivize them to more quickly divest negative NPV projects (Francis and Martin, 2010; Bushman et al., 2011)</a:t>
            </a:r>
          </a:p>
          <a:p>
            <a:pPr>
              <a:defRPr/>
            </a:pPr>
            <a:r>
              <a:rPr lang="en-US" altLang="zh-CN" sz="2600" dirty="0">
                <a:latin typeface="Times New Roman" panose="02020603050405020304" pitchFamily="18" charset="0"/>
                <a:ea typeface="楷体" panose="02010609060101010101" pitchFamily="49" charset="-122"/>
                <a:cs typeface="Times New Roman" panose="02020603050405020304" pitchFamily="18" charset="0"/>
              </a:rPr>
              <a:t>Quiet life and risk aversion:</a:t>
            </a:r>
          </a:p>
          <a:p>
            <a:pPr lvl="1">
              <a:defRPr/>
            </a:pPr>
            <a:r>
              <a:rPr lang="en-US" altLang="zh-CN" dirty="0">
                <a:latin typeface="Times New Roman" panose="02020603050405020304" pitchFamily="18" charset="0"/>
                <a:ea typeface="楷体" panose="02010609060101010101" pitchFamily="49" charset="-122"/>
                <a:cs typeface="Times New Roman" panose="02020603050405020304" pitchFamily="18" charset="0"/>
              </a:rPr>
              <a:t>Through incorporating accounting measures in compensation contracts. </a:t>
            </a:r>
          </a:p>
          <a:p>
            <a:endParaRPr lang="en-US" dirty="0"/>
          </a:p>
        </p:txBody>
      </p:sp>
      <p:sp>
        <p:nvSpPr>
          <p:cNvPr id="4" name="Date Placeholder 3">
            <a:extLst>
              <a:ext uri="{FF2B5EF4-FFF2-40B4-BE49-F238E27FC236}">
                <a16:creationId xmlns:a16="http://schemas.microsoft.com/office/drawing/2014/main" id="{8EDFA4F2-55C9-4E4F-AF59-9355A2FC6E0D}"/>
              </a:ext>
            </a:extLst>
          </p:cNvPr>
          <p:cNvSpPr>
            <a:spLocks noGrp="1"/>
          </p:cNvSpPr>
          <p:nvPr>
            <p:ph type="dt" sz="half" idx="10"/>
          </p:nvPr>
        </p:nvSpPr>
        <p:spPr/>
        <p:txBody>
          <a:bodyPr/>
          <a:lstStyle/>
          <a:p>
            <a:fld id="{AC6EB80C-1B93-4878-B4F2-109FC389C177}" type="datetime1">
              <a:rPr lang="en-US" smtClean="0">
                <a:ea typeface="PMingLiU" panose="02020500000000000000" pitchFamily="18" charset="-120"/>
                <a:cs typeface="Arial" panose="020B0604020202020204" pitchFamily="34" charset="0"/>
              </a:rPr>
              <a:pPr/>
              <a:t>9/21/2026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14465A66-C121-42AE-9B58-22158988FE68}"/>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23</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21947338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文本框 32"/>
          <p:cNvSpPr txBox="1"/>
          <p:nvPr/>
        </p:nvSpPr>
        <p:spPr>
          <a:xfrm>
            <a:off x="1751131" y="1126748"/>
            <a:ext cx="418704" cy="369332"/>
          </a:xfrm>
          <a:prstGeom prst="rect">
            <a:avLst/>
          </a:prstGeom>
          <a:noFill/>
        </p:spPr>
        <p:txBody>
          <a:bodyPr wrap="none" rtlCol="0">
            <a:spAutoFit/>
          </a:bodyPr>
          <a:lstStyle/>
          <a:p>
            <a:pPr algn="ctr"/>
            <a:r>
              <a:rPr lang="en-US" altLang="zh-CN" b="1">
                <a:solidFill>
                  <a:schemeClr val="bg1"/>
                </a:solidFill>
                <a:latin typeface="黑体" panose="02010609060101010101" pitchFamily="49" charset="-122"/>
                <a:ea typeface="黑体" panose="02010609060101010101" pitchFamily="49" charset="-122"/>
              </a:rPr>
              <a:t>02</a:t>
            </a:r>
            <a:endParaRPr lang="zh-CN" altLang="en-US" b="1" dirty="0">
              <a:solidFill>
                <a:schemeClr val="bg1"/>
              </a:solidFill>
              <a:latin typeface="黑体" panose="02010609060101010101" pitchFamily="49" charset="-122"/>
              <a:ea typeface="黑体" panose="02010609060101010101" pitchFamily="49" charset="-122"/>
            </a:endParaRPr>
          </a:p>
        </p:txBody>
      </p:sp>
      <p:sp>
        <p:nvSpPr>
          <p:cNvPr id="34" name="矩形 33"/>
          <p:cNvSpPr/>
          <p:nvPr/>
        </p:nvSpPr>
        <p:spPr>
          <a:xfrm>
            <a:off x="2269369" y="194381"/>
            <a:ext cx="8126417" cy="892552"/>
          </a:xfrm>
          <a:prstGeom prst="rect">
            <a:avLst/>
          </a:prstGeom>
        </p:spPr>
        <p:txBody>
          <a:bodyPr wrap="square">
            <a:spAutoFit/>
          </a:bodyPr>
          <a:lstStyle/>
          <a:p>
            <a:r>
              <a:rPr lang="en-US" altLang="zh-CN" sz="2600" b="1" dirty="0">
                <a:solidFill>
                  <a:schemeClr val="tx2"/>
                </a:solidFill>
                <a:latin typeface="Century Schoolbook" panose="02040604050505020304" pitchFamily="18" charset="0"/>
                <a:ea typeface="华文中宋" panose="02010600040101010101" pitchFamily="2" charset="-122"/>
                <a:cs typeface="Times New Roman" panose="02020603050405020304" pitchFamily="18" charset="0"/>
              </a:rPr>
              <a:t>Learning from peer disclosure: </a:t>
            </a:r>
          </a:p>
          <a:p>
            <a:r>
              <a:rPr lang="en-US" altLang="zh-CN" sz="2600" b="1" dirty="0">
                <a:solidFill>
                  <a:schemeClr val="tx2"/>
                </a:solidFill>
                <a:latin typeface="Century Schoolbook" panose="02040604050505020304" pitchFamily="18" charset="0"/>
                <a:ea typeface="华文中宋" panose="02010600040101010101" pitchFamily="2" charset="-122"/>
                <a:cs typeface="Times New Roman" panose="02020603050405020304" pitchFamily="18" charset="0"/>
              </a:rPr>
              <a:t>Externality of Financial Reporting</a:t>
            </a:r>
            <a:endParaRPr lang="zh-CN" altLang="en-US" sz="2600" b="1" dirty="0">
              <a:solidFill>
                <a:schemeClr val="tx2"/>
              </a:solidFill>
              <a:latin typeface="Century Schoolbook" panose="02040604050505020304" pitchFamily="18" charset="0"/>
              <a:ea typeface="华文中宋" panose="02010600040101010101" pitchFamily="2" charset="-122"/>
              <a:cs typeface="Times New Roman" panose="02020603050405020304" pitchFamily="18" charset="0"/>
            </a:endParaRPr>
          </a:p>
        </p:txBody>
      </p:sp>
      <p:sp>
        <p:nvSpPr>
          <p:cNvPr id="13" name="矩形 12"/>
          <p:cNvSpPr/>
          <p:nvPr/>
        </p:nvSpPr>
        <p:spPr>
          <a:xfrm>
            <a:off x="1898737" y="985618"/>
            <a:ext cx="352500" cy="415498"/>
          </a:xfrm>
          <a:prstGeom prst="rect">
            <a:avLst/>
          </a:prstGeom>
        </p:spPr>
        <p:txBody>
          <a:bodyPr wrap="square">
            <a:spAutoFit/>
          </a:bodyPr>
          <a:lstStyle/>
          <a:p>
            <a:pPr algn="ctr"/>
            <a:r>
              <a:rPr lang="en-US" altLang="zh-CN" sz="2100" b="1" dirty="0">
                <a:solidFill>
                  <a:schemeClr val="bg1"/>
                </a:solidFill>
                <a:latin typeface="微软雅黑" panose="020B0503020204020204" pitchFamily="34" charset="-122"/>
                <a:ea typeface="微软雅黑" panose="020B0503020204020204" pitchFamily="34" charset="-122"/>
              </a:rPr>
              <a:t>7</a:t>
            </a:r>
            <a:endParaRPr lang="zh-CN" altLang="en-US" sz="2100" b="1" dirty="0">
              <a:solidFill>
                <a:schemeClr val="bg1"/>
              </a:solidFill>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04840EF5-6EF6-A17B-F02A-63558FD9E567}"/>
              </a:ext>
            </a:extLst>
          </p:cNvPr>
          <p:cNvSpPr txBox="1"/>
          <p:nvPr/>
        </p:nvSpPr>
        <p:spPr>
          <a:xfrm>
            <a:off x="2169835" y="1121193"/>
            <a:ext cx="7624332" cy="1400383"/>
          </a:xfrm>
          <a:prstGeom prst="rect">
            <a:avLst/>
          </a:prstGeom>
          <a:noFill/>
        </p:spPr>
        <p:txBody>
          <a:bodyPr wrap="square">
            <a:spAutoFit/>
          </a:bodyPr>
          <a:lstStyle/>
          <a:p>
            <a:pPr marL="257175" indent="-257175">
              <a:lnSpc>
                <a:spcPts val="1650"/>
              </a:lnSpc>
              <a:buFont typeface="Arial" panose="020B0604020202020204" pitchFamily="34" charset="0"/>
              <a:buChar char="•"/>
              <a:defRPr/>
            </a:pPr>
            <a:r>
              <a:rPr lang="en-US" altLang="zh-CN" dirty="0">
                <a:latin typeface="Times New Roman" panose="02020603050405020304" pitchFamily="18" charset="0"/>
                <a:ea typeface="楷体" panose="02010609060101010101" pitchFamily="49" charset="-122"/>
                <a:cs typeface="Times New Roman" panose="02020603050405020304" pitchFamily="18" charset="0"/>
              </a:rPr>
              <a:t>Firms within a peer group (e.g., industry, geographic region, supply chain, etc.) are affected by similar economic conditions related to demand, supply, labor availability, and input costs, among other things. </a:t>
            </a:r>
          </a:p>
          <a:p>
            <a:pPr marL="257175" indent="-257175">
              <a:lnSpc>
                <a:spcPts val="1650"/>
              </a:lnSpc>
              <a:buFont typeface="Arial" panose="020B0604020202020204" pitchFamily="34" charset="0"/>
              <a:buChar char="•"/>
              <a:defRPr/>
            </a:pPr>
            <a:r>
              <a:rPr lang="en-US" altLang="zh-CN" dirty="0">
                <a:latin typeface="Times New Roman" panose="02020603050405020304" pitchFamily="18" charset="0"/>
                <a:ea typeface="楷体" panose="02010609060101010101" pitchFamily="49" charset="-122"/>
                <a:cs typeface="Times New Roman" panose="02020603050405020304" pitchFamily="18" charset="0"/>
              </a:rPr>
              <a:t>If peer-firm disclosures inform managers of other firms about these economic conditions, then peer-firm disclosures can help managers make more informed investment decisions.</a:t>
            </a:r>
          </a:p>
        </p:txBody>
      </p:sp>
      <p:sp>
        <p:nvSpPr>
          <p:cNvPr id="4" name="矩形: 圆角 3">
            <a:extLst>
              <a:ext uri="{FF2B5EF4-FFF2-40B4-BE49-F238E27FC236}">
                <a16:creationId xmlns:a16="http://schemas.microsoft.com/office/drawing/2014/main" id="{27323606-3F53-E4DB-7314-F6D906FA6685}"/>
              </a:ext>
            </a:extLst>
          </p:cNvPr>
          <p:cNvSpPr/>
          <p:nvPr/>
        </p:nvSpPr>
        <p:spPr>
          <a:xfrm>
            <a:off x="3870245" y="3063946"/>
            <a:ext cx="4391595" cy="750935"/>
          </a:xfrm>
          <a:prstGeom prst="roundRect">
            <a:avLst/>
          </a:prstGeom>
          <a:solidFill>
            <a:schemeClr val="accent1">
              <a:lumMod val="20000"/>
              <a:lumOff val="80000"/>
            </a:schemeClr>
          </a:solidFill>
          <a:ln>
            <a:solidFill>
              <a:srgbClr val="6D0E6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450"/>
              </a:spcBef>
              <a:spcAft>
                <a:spcPts val="450"/>
              </a:spcAft>
            </a:pPr>
            <a:r>
              <a:rPr lang="en-US" altLang="zh-CN" sz="15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Forecast future demand and costs</a:t>
            </a:r>
            <a:r>
              <a:rPr lang="zh-CN" altLang="en-US" sz="15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a:t>
            </a:r>
            <a:r>
              <a:rPr lang="da-DK" altLang="zh-CN" sz="15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 Lundholm and Sloan, 2013; Curtis et al., 2014; Chu, Kim and Wang 2019)</a:t>
            </a:r>
            <a:endParaRPr lang="en-US" altLang="zh-CN" sz="15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 name="矩形 1">
            <a:extLst>
              <a:ext uri="{FF2B5EF4-FFF2-40B4-BE49-F238E27FC236}">
                <a16:creationId xmlns:a16="http://schemas.microsoft.com/office/drawing/2014/main" id="{B9D38DAC-9034-9B1F-7CD3-768AAC8153C0}"/>
              </a:ext>
            </a:extLst>
          </p:cNvPr>
          <p:cNvSpPr/>
          <p:nvPr/>
        </p:nvSpPr>
        <p:spPr>
          <a:xfrm>
            <a:off x="1751567" y="3886239"/>
            <a:ext cx="1717358" cy="5508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Peer-firm disclosure</a:t>
            </a:r>
            <a:endParaRPr lang="zh-CN" altLang="en-US" dirty="0"/>
          </a:p>
        </p:txBody>
      </p:sp>
      <p:sp>
        <p:nvSpPr>
          <p:cNvPr id="10" name="矩形 9">
            <a:extLst>
              <a:ext uri="{FF2B5EF4-FFF2-40B4-BE49-F238E27FC236}">
                <a16:creationId xmlns:a16="http://schemas.microsoft.com/office/drawing/2014/main" id="{4F6D21C8-8270-BF99-D58D-3AD172F5AA44}"/>
              </a:ext>
            </a:extLst>
          </p:cNvPr>
          <p:cNvSpPr/>
          <p:nvPr/>
        </p:nvSpPr>
        <p:spPr>
          <a:xfrm>
            <a:off x="8432473" y="2988198"/>
            <a:ext cx="2118677" cy="8266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Improve investment efficiency</a:t>
            </a:r>
            <a:endParaRPr lang="zh-CN" altLang="en-US" dirty="0"/>
          </a:p>
        </p:txBody>
      </p:sp>
      <p:cxnSp>
        <p:nvCxnSpPr>
          <p:cNvPr id="12" name="直接箭头连接符 11">
            <a:extLst>
              <a:ext uri="{FF2B5EF4-FFF2-40B4-BE49-F238E27FC236}">
                <a16:creationId xmlns:a16="http://schemas.microsoft.com/office/drawing/2014/main" id="{BCE64FBC-69CE-9CC3-DB90-AA531449F67C}"/>
              </a:ext>
            </a:extLst>
          </p:cNvPr>
          <p:cNvCxnSpPr>
            <a:cxnSpLocks/>
            <a:stCxn id="2" idx="3"/>
          </p:cNvCxnSpPr>
          <p:nvPr/>
        </p:nvCxnSpPr>
        <p:spPr>
          <a:xfrm flipV="1">
            <a:off x="3468926" y="3609899"/>
            <a:ext cx="401319" cy="551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C3282DDC-3EEA-6C5B-AAC4-4D3FFB09713F}"/>
              </a:ext>
            </a:extLst>
          </p:cNvPr>
          <p:cNvCxnSpPr>
            <a:cxnSpLocks/>
            <a:stCxn id="4" idx="3"/>
            <a:endCxn id="10" idx="1"/>
          </p:cNvCxnSpPr>
          <p:nvPr/>
        </p:nvCxnSpPr>
        <p:spPr>
          <a:xfrm flipV="1">
            <a:off x="8261840" y="3401539"/>
            <a:ext cx="170633" cy="37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DACB6020-92CC-49E5-E4D6-6BE90F7DB656}"/>
              </a:ext>
            </a:extLst>
          </p:cNvPr>
          <p:cNvCxnSpPr>
            <a:cxnSpLocks/>
            <a:stCxn id="40" idx="3"/>
            <a:endCxn id="16" idx="1"/>
          </p:cNvCxnSpPr>
          <p:nvPr/>
        </p:nvCxnSpPr>
        <p:spPr>
          <a:xfrm flipV="1">
            <a:off x="8261839" y="4400484"/>
            <a:ext cx="183916" cy="97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矩形: 圆角 39">
            <a:extLst>
              <a:ext uri="{FF2B5EF4-FFF2-40B4-BE49-F238E27FC236}">
                <a16:creationId xmlns:a16="http://schemas.microsoft.com/office/drawing/2014/main" id="{DF298C63-C19E-F251-E4BD-4BD2F086013B}"/>
              </a:ext>
            </a:extLst>
          </p:cNvPr>
          <p:cNvSpPr/>
          <p:nvPr/>
        </p:nvSpPr>
        <p:spPr>
          <a:xfrm>
            <a:off x="3838637" y="3955669"/>
            <a:ext cx="4423202" cy="909210"/>
          </a:xfrm>
          <a:prstGeom prst="roundRect">
            <a:avLst/>
          </a:prstGeom>
          <a:solidFill>
            <a:schemeClr val="accent1">
              <a:lumMod val="20000"/>
              <a:lumOff val="80000"/>
            </a:schemeClr>
          </a:solidFill>
          <a:ln>
            <a:solidFill>
              <a:srgbClr val="6D0E6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450"/>
              </a:spcBef>
              <a:spcAft>
                <a:spcPts val="450"/>
              </a:spcAft>
            </a:pPr>
            <a:r>
              <a:rPr lang="en-US" altLang="zh-CN" sz="15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Reduce uncertainty about expected future cash flows from an investment project (Bond and Van Reenen 2007; Bloom et al. 2007)</a:t>
            </a:r>
          </a:p>
        </p:txBody>
      </p:sp>
      <p:cxnSp>
        <p:nvCxnSpPr>
          <p:cNvPr id="49" name="直接箭头连接符 48">
            <a:extLst>
              <a:ext uri="{FF2B5EF4-FFF2-40B4-BE49-F238E27FC236}">
                <a16:creationId xmlns:a16="http://schemas.microsoft.com/office/drawing/2014/main" id="{13E08A71-41BD-CD70-4A4B-8CA2F47B3A3F}"/>
              </a:ext>
            </a:extLst>
          </p:cNvPr>
          <p:cNvCxnSpPr>
            <a:cxnSpLocks/>
            <a:stCxn id="2" idx="3"/>
          </p:cNvCxnSpPr>
          <p:nvPr/>
        </p:nvCxnSpPr>
        <p:spPr>
          <a:xfrm flipV="1">
            <a:off x="3468926" y="4152361"/>
            <a:ext cx="401319" cy="93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5" name="矩形: 圆角 54">
            <a:extLst>
              <a:ext uri="{FF2B5EF4-FFF2-40B4-BE49-F238E27FC236}">
                <a16:creationId xmlns:a16="http://schemas.microsoft.com/office/drawing/2014/main" id="{38A6550B-9146-5725-E254-9CAAC5B5FD00}"/>
              </a:ext>
            </a:extLst>
          </p:cNvPr>
          <p:cNvSpPr/>
          <p:nvPr/>
        </p:nvSpPr>
        <p:spPr>
          <a:xfrm>
            <a:off x="3838637" y="5230277"/>
            <a:ext cx="4423202" cy="909210"/>
          </a:xfrm>
          <a:prstGeom prst="roundRect">
            <a:avLst/>
          </a:prstGeom>
          <a:solidFill>
            <a:schemeClr val="accent1">
              <a:lumMod val="20000"/>
              <a:lumOff val="80000"/>
            </a:schemeClr>
          </a:solidFill>
          <a:ln>
            <a:solidFill>
              <a:srgbClr val="6D0E6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450"/>
              </a:spcBef>
              <a:spcAft>
                <a:spcPts val="450"/>
              </a:spcAft>
            </a:pPr>
            <a:r>
              <a:rPr lang="en-US" altLang="zh-CN" sz="15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Managers have incentives to misreport performance metrics to meet financial reporting objectives (</a:t>
            </a:r>
            <a:r>
              <a:rPr lang="en-US" altLang="zh-CN" sz="1500" b="1" dirty="0" err="1">
                <a:solidFill>
                  <a:schemeClr val="tx1"/>
                </a:solidFill>
                <a:latin typeface="Times New Roman" panose="02020603050405020304" pitchFamily="18" charset="0"/>
                <a:ea typeface="黑体" panose="02010609060101010101" pitchFamily="49" charset="-122"/>
                <a:cs typeface="Times New Roman" panose="02020603050405020304" pitchFamily="18" charset="0"/>
              </a:rPr>
              <a:t>Durnev</a:t>
            </a:r>
            <a:r>
              <a:rPr lang="en-US" altLang="zh-CN" sz="15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 and </a:t>
            </a:r>
            <a:r>
              <a:rPr lang="en-US" altLang="zh-CN" sz="1500" b="1" dirty="0" err="1">
                <a:solidFill>
                  <a:schemeClr val="tx1"/>
                </a:solidFill>
                <a:latin typeface="Times New Roman" panose="02020603050405020304" pitchFamily="18" charset="0"/>
                <a:ea typeface="黑体" panose="02010609060101010101" pitchFamily="49" charset="-122"/>
                <a:cs typeface="Times New Roman" panose="02020603050405020304" pitchFamily="18" charset="0"/>
              </a:rPr>
              <a:t>Mangen</a:t>
            </a:r>
            <a:r>
              <a:rPr lang="en-US" altLang="zh-CN" sz="15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 2009; Beatty et al. 2013)</a:t>
            </a:r>
          </a:p>
        </p:txBody>
      </p:sp>
      <p:sp>
        <p:nvSpPr>
          <p:cNvPr id="16" name="矩形 15">
            <a:extLst>
              <a:ext uri="{FF2B5EF4-FFF2-40B4-BE49-F238E27FC236}">
                <a16:creationId xmlns:a16="http://schemas.microsoft.com/office/drawing/2014/main" id="{A245BEED-D337-9825-F660-7398D9BB2ABB}"/>
              </a:ext>
            </a:extLst>
          </p:cNvPr>
          <p:cNvSpPr/>
          <p:nvPr/>
        </p:nvSpPr>
        <p:spPr>
          <a:xfrm>
            <a:off x="8445756" y="3955669"/>
            <a:ext cx="2118677" cy="8896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Respond faster to investment</a:t>
            </a:r>
            <a:r>
              <a:rPr lang="zh-CN" altLang="en-US" dirty="0"/>
              <a:t> </a:t>
            </a:r>
            <a:r>
              <a:rPr lang="en-US" altLang="zh-CN" dirty="0"/>
              <a:t>opportunities</a:t>
            </a:r>
            <a:endParaRPr lang="zh-CN" altLang="en-US" dirty="0"/>
          </a:p>
        </p:txBody>
      </p:sp>
      <p:sp>
        <p:nvSpPr>
          <p:cNvPr id="31" name="矩形 30">
            <a:extLst>
              <a:ext uri="{FF2B5EF4-FFF2-40B4-BE49-F238E27FC236}">
                <a16:creationId xmlns:a16="http://schemas.microsoft.com/office/drawing/2014/main" id="{C57EB0B9-07C0-D4E2-0145-67A7D4DAF5D0}"/>
              </a:ext>
            </a:extLst>
          </p:cNvPr>
          <p:cNvSpPr/>
          <p:nvPr/>
        </p:nvSpPr>
        <p:spPr>
          <a:xfrm>
            <a:off x="8432473" y="5061568"/>
            <a:ext cx="2118677" cy="7307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Ex-post inefficient investment decisions</a:t>
            </a:r>
            <a:endParaRPr lang="zh-CN" altLang="en-US" dirty="0"/>
          </a:p>
        </p:txBody>
      </p:sp>
      <p:cxnSp>
        <p:nvCxnSpPr>
          <p:cNvPr id="37" name="直接箭头连接符 36">
            <a:extLst>
              <a:ext uri="{FF2B5EF4-FFF2-40B4-BE49-F238E27FC236}">
                <a16:creationId xmlns:a16="http://schemas.microsoft.com/office/drawing/2014/main" id="{E9CD969B-3F01-2E4E-CDD9-2BF40DC32643}"/>
              </a:ext>
            </a:extLst>
          </p:cNvPr>
          <p:cNvCxnSpPr>
            <a:cxnSpLocks/>
            <a:stCxn id="55" idx="3"/>
            <a:endCxn id="31" idx="1"/>
          </p:cNvCxnSpPr>
          <p:nvPr/>
        </p:nvCxnSpPr>
        <p:spPr>
          <a:xfrm flipV="1">
            <a:off x="8261840" y="5426966"/>
            <a:ext cx="170633" cy="2579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5F072C99-D267-9F82-D14F-13F69946E993}"/>
              </a:ext>
            </a:extLst>
          </p:cNvPr>
          <p:cNvCxnSpPr>
            <a:cxnSpLocks/>
            <a:stCxn id="2" idx="3"/>
            <a:endCxn id="55" idx="1"/>
          </p:cNvCxnSpPr>
          <p:nvPr/>
        </p:nvCxnSpPr>
        <p:spPr>
          <a:xfrm>
            <a:off x="3468925" y="4161676"/>
            <a:ext cx="369712" cy="15232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0879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文本框 32"/>
          <p:cNvSpPr txBox="1"/>
          <p:nvPr/>
        </p:nvSpPr>
        <p:spPr>
          <a:xfrm>
            <a:off x="1751131" y="1126748"/>
            <a:ext cx="418704" cy="369332"/>
          </a:xfrm>
          <a:prstGeom prst="rect">
            <a:avLst/>
          </a:prstGeom>
          <a:noFill/>
        </p:spPr>
        <p:txBody>
          <a:bodyPr wrap="none" rtlCol="0">
            <a:spAutoFit/>
          </a:bodyPr>
          <a:lstStyle/>
          <a:p>
            <a:pPr algn="ctr"/>
            <a:r>
              <a:rPr lang="en-US" altLang="zh-CN" b="1">
                <a:solidFill>
                  <a:schemeClr val="bg1"/>
                </a:solidFill>
                <a:latin typeface="黑体" panose="02010609060101010101" pitchFamily="49" charset="-122"/>
                <a:ea typeface="黑体" panose="02010609060101010101" pitchFamily="49" charset="-122"/>
              </a:rPr>
              <a:t>02</a:t>
            </a:r>
            <a:endParaRPr lang="zh-CN" altLang="en-US" b="1" dirty="0">
              <a:solidFill>
                <a:schemeClr val="bg1"/>
              </a:solidFill>
              <a:latin typeface="黑体" panose="02010609060101010101" pitchFamily="49" charset="-122"/>
              <a:ea typeface="黑体" panose="02010609060101010101" pitchFamily="49" charset="-122"/>
            </a:endParaRPr>
          </a:p>
        </p:txBody>
      </p:sp>
      <p:sp>
        <p:nvSpPr>
          <p:cNvPr id="34" name="矩形 33"/>
          <p:cNvSpPr/>
          <p:nvPr/>
        </p:nvSpPr>
        <p:spPr>
          <a:xfrm>
            <a:off x="2063552" y="834993"/>
            <a:ext cx="7776864" cy="830997"/>
          </a:xfrm>
          <a:prstGeom prst="rect">
            <a:avLst/>
          </a:prstGeom>
        </p:spPr>
        <p:txBody>
          <a:bodyPr wrap="square">
            <a:spAutoFit/>
          </a:bodyPr>
          <a:lstStyle/>
          <a:p>
            <a:pPr algn="ctr"/>
            <a:r>
              <a:rPr lang="en-US" altLang="zh-CN" sz="2400" b="1" dirty="0">
                <a:solidFill>
                  <a:schemeClr val="tx2"/>
                </a:solidFill>
                <a:latin typeface="Century Schoolbook" panose="02040604050505020304" pitchFamily="18" charset="0"/>
                <a:ea typeface="华文中宋" panose="02010600040101010101" pitchFamily="2" charset="-122"/>
                <a:cs typeface="Times New Roman" panose="02020603050405020304" pitchFamily="18" charset="0"/>
              </a:rPr>
              <a:t>Learning from a firm’s own disclosure requirements</a:t>
            </a:r>
            <a:endParaRPr lang="zh-CN" altLang="en-US" sz="2400" b="1" dirty="0">
              <a:solidFill>
                <a:schemeClr val="tx2"/>
              </a:solidFill>
              <a:latin typeface="Century Schoolbook" panose="02040604050505020304" pitchFamily="18" charset="0"/>
              <a:ea typeface="华文中宋" panose="02010600040101010101" pitchFamily="2" charset="-122"/>
              <a:cs typeface="Times New Roman" panose="02020603050405020304" pitchFamily="18" charset="0"/>
            </a:endParaRPr>
          </a:p>
        </p:txBody>
      </p:sp>
      <p:sp>
        <p:nvSpPr>
          <p:cNvPr id="13" name="矩形 12"/>
          <p:cNvSpPr/>
          <p:nvPr/>
        </p:nvSpPr>
        <p:spPr>
          <a:xfrm>
            <a:off x="1898737" y="985618"/>
            <a:ext cx="352500" cy="415498"/>
          </a:xfrm>
          <a:prstGeom prst="rect">
            <a:avLst/>
          </a:prstGeom>
        </p:spPr>
        <p:txBody>
          <a:bodyPr wrap="square">
            <a:spAutoFit/>
          </a:bodyPr>
          <a:lstStyle/>
          <a:p>
            <a:pPr algn="ctr"/>
            <a:r>
              <a:rPr lang="en-US" altLang="zh-CN" sz="2100" b="1" dirty="0">
                <a:solidFill>
                  <a:schemeClr val="bg1"/>
                </a:solidFill>
                <a:latin typeface="微软雅黑" panose="020B0503020204020204" pitchFamily="34" charset="-122"/>
                <a:ea typeface="微软雅黑" panose="020B0503020204020204" pitchFamily="34" charset="-122"/>
              </a:rPr>
              <a:t>9</a:t>
            </a:r>
            <a:endParaRPr lang="zh-CN" altLang="en-US" sz="2100" b="1" dirty="0">
              <a:solidFill>
                <a:schemeClr val="bg1"/>
              </a:solidFill>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04840EF5-6EF6-A17B-F02A-63558FD9E567}"/>
              </a:ext>
            </a:extLst>
          </p:cNvPr>
          <p:cNvSpPr txBox="1"/>
          <p:nvPr/>
        </p:nvSpPr>
        <p:spPr>
          <a:xfrm>
            <a:off x="1751132" y="1947663"/>
            <a:ext cx="8150075" cy="3185487"/>
          </a:xfrm>
          <a:prstGeom prst="rect">
            <a:avLst/>
          </a:prstGeom>
          <a:noFill/>
        </p:spPr>
        <p:txBody>
          <a:bodyPr wrap="square">
            <a:spAutoFit/>
          </a:bodyPr>
          <a:lstStyle/>
          <a:p>
            <a:pPr marL="257175" indent="-257175">
              <a:buFont typeface="Arial" panose="020B0604020202020204" pitchFamily="34" charset="0"/>
              <a:buChar char="•"/>
              <a:defRPr/>
            </a:pPr>
            <a:r>
              <a:rPr lang="en-US" altLang="zh-CN" dirty="0">
                <a:latin typeface="Times New Roman" panose="02020603050405020304" pitchFamily="18" charset="0"/>
                <a:ea typeface="楷体" panose="02010609060101010101" pitchFamily="49" charset="-122"/>
                <a:cs typeface="Times New Roman" panose="02020603050405020304" pitchFamily="18" charset="0"/>
              </a:rPr>
              <a:t>In the presence of information acquisition and processing costs, disclosure requirements and financial reporting regulation (e.g., internal control testing) can induce firms to collect and process additional information that affect managers' information sets and thus their investment decisions.</a:t>
            </a:r>
          </a:p>
          <a:p>
            <a:pPr marL="257175" indent="-257175">
              <a:buFont typeface="Arial" panose="020B0604020202020204" pitchFamily="34" charset="0"/>
              <a:buChar char="•"/>
              <a:defRPr/>
            </a:pPr>
            <a:r>
              <a:rPr lang="en-US" altLang="zh-CN" dirty="0">
                <a:latin typeface="Times New Roman" panose="02020603050405020304" pitchFamily="18" charset="0"/>
                <a:ea typeface="楷体" panose="02010609060101010101" pitchFamily="49" charset="-122"/>
                <a:cs typeface="Times New Roman" panose="02020603050405020304" pitchFamily="18" charset="0"/>
              </a:rPr>
              <a:t>Compliance with new financial accounting rules leads to changes in managerial accounting systems, which is the premier source of information for managers' capital budgeting decisions</a:t>
            </a:r>
          </a:p>
          <a:p>
            <a:pPr marL="540000" indent="-257175">
              <a:buFont typeface="Wingdings" panose="05000000000000000000" pitchFamily="2" charset="2"/>
              <a:buChar char="ü"/>
              <a:defRPr/>
            </a:pPr>
            <a:r>
              <a:rPr lang="en-US" altLang="zh-CN" sz="1500" dirty="0">
                <a:latin typeface="Times New Roman" panose="02020603050405020304" pitchFamily="18" charset="0"/>
                <a:ea typeface="楷体" panose="02010609060101010101" pitchFamily="49" charset="-122"/>
                <a:cs typeface="Times New Roman" panose="02020603050405020304" pitchFamily="18" charset="0"/>
              </a:rPr>
              <a:t>Shroff (2017) finds that changes in GAAP that are more likely to require firms to collect new information as part of the compliance process have a significant effect on firms' investment decisions even in the absence of a contracting motive.</a:t>
            </a:r>
          </a:p>
          <a:p>
            <a:pPr marL="540000" indent="-257175">
              <a:buFont typeface="Wingdings" panose="05000000000000000000" pitchFamily="2" charset="2"/>
              <a:buChar char="ü"/>
              <a:defRPr/>
            </a:pPr>
            <a:r>
              <a:rPr lang="en-US" altLang="zh-CN" sz="1500" dirty="0">
                <a:latin typeface="Times New Roman" panose="02020603050405020304" pitchFamily="18" charset="0"/>
                <a:ea typeface="楷体" panose="02010609060101010101" pitchFamily="49" charset="-122"/>
                <a:cs typeface="Times New Roman" panose="02020603050405020304" pitchFamily="18" charset="0"/>
              </a:rPr>
              <a:t>The Literature related to “Internal control weaknesses” (Cheng et al., 2013; Feng et al., 2015; Harp and Barnes, 2018) </a:t>
            </a:r>
          </a:p>
        </p:txBody>
      </p:sp>
    </p:spTree>
    <p:extLst>
      <p:ext uri="{BB962C8B-B14F-4D97-AF65-F5344CB8AC3E}">
        <p14:creationId xmlns:p14="http://schemas.microsoft.com/office/powerpoint/2010/main" val="69148047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8039</TotalTime>
  <Words>1492</Words>
  <Application>Microsoft Office PowerPoint</Application>
  <PresentationFormat>Widescreen</PresentationFormat>
  <Paragraphs>139</Paragraphs>
  <Slides>25</Slides>
  <Notes>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等线</vt:lpstr>
      <vt:lpstr>微软雅黑</vt:lpstr>
      <vt:lpstr>PMingLiU</vt:lpstr>
      <vt:lpstr>黑体</vt:lpstr>
      <vt:lpstr>Arial</vt:lpstr>
      <vt:lpstr>Calibri</vt:lpstr>
      <vt:lpstr>Century Schoolbook</vt:lpstr>
      <vt:lpstr>Times New Roman</vt:lpstr>
      <vt:lpstr>Wingdings</vt:lpstr>
      <vt:lpstr>Office 主题​​</vt:lpstr>
      <vt:lpstr>PowerPoint Presentation</vt:lpstr>
      <vt:lpstr>Sources of Proprietary Cost</vt:lpstr>
      <vt:lpstr>Proprietary Cost of Disclosure Arising from the Labor Market</vt:lpstr>
      <vt:lpstr>Bova, F., Dou, Y., &amp; Hope, O. K. (2015). Employee ownership and firm disclosure. Contemporary Accounting Research, 32(2), 639-673.</vt:lpstr>
      <vt:lpstr>PowerPoint Presentation</vt:lpstr>
      <vt:lpstr>Aobdia, D., &amp; Cheng, L. (2018). Unionization, product market competition, and strategic disclosure. Journal of Accounting and Economics, 65(2-3), 331-357. </vt:lpstr>
      <vt:lpstr>PowerPoint Presentation</vt:lpstr>
      <vt:lpstr>PowerPoint Presentation</vt:lpstr>
      <vt:lpstr>Proprietary Cost Caused by Attention from Regulators</vt:lpstr>
      <vt:lpstr>Hope, O. K., Ma, M. S., &amp; Thomas, W. B. (2013). Tax avoidance and geographic earnings disclosure. Journal of accounting and economics, 56(2-3), 170-189.</vt:lpstr>
      <vt:lpstr>PowerPoint Presentation</vt:lpstr>
      <vt:lpstr>Bozanic, Z., Hoopes, J. L., Thornock, J. R., &amp; Williams, B. M. (2017). IRS attention. Journal of Accounting Research, 55(1), 79-114.</vt:lpstr>
      <vt:lpstr>Proprietary Cost Caused by Attention from the Public</vt:lpstr>
      <vt:lpstr>Dyreng, S. D., Hoopes, J. L., Langetieg, P., &amp; Wilde, J. H. (2020). Strategic subsidiary disclosure. Journal of Accounting Research, 58(3), 643-692.</vt:lpstr>
      <vt:lpstr>PowerPoint Presentation</vt:lpstr>
      <vt:lpstr>PowerPoint Presentation</vt:lpstr>
      <vt:lpstr>The Effects of Financial Reporting and Disclosure on Corporate Investment: A Review </vt:lpstr>
      <vt:lpstr>The Role of Financial Reporting in Investment Decisions/Investment Efficiency</vt:lpstr>
      <vt:lpstr>PowerPoint Presentation</vt:lpstr>
      <vt:lpstr>PowerPoint Presentation</vt:lpstr>
      <vt:lpstr>PowerPoint Presentation</vt:lpstr>
      <vt:lpstr>PowerPoint Presentation</vt:lpstr>
      <vt:lpstr>Prior Studies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ZHANG Gaole</dc:creator>
  <cp:lastModifiedBy>Prof. WANG Zheng</cp:lastModifiedBy>
  <cp:revision>347</cp:revision>
  <dcterms:created xsi:type="dcterms:W3CDTF">2023-10-03T09:09:50Z</dcterms:created>
  <dcterms:modified xsi:type="dcterms:W3CDTF">2026-09-21T07:29:09Z</dcterms:modified>
</cp:coreProperties>
</file>