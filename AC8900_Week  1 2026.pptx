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49"/>
  </p:notesMasterIdLst>
  <p:sldIdLst>
    <p:sldId id="371" r:id="rId2"/>
    <p:sldId id="436" r:id="rId3"/>
    <p:sldId id="437" r:id="rId4"/>
    <p:sldId id="323" r:id="rId5"/>
    <p:sldId id="430" r:id="rId6"/>
    <p:sldId id="432" r:id="rId7"/>
    <p:sldId id="433" r:id="rId8"/>
    <p:sldId id="431" r:id="rId9"/>
    <p:sldId id="434" r:id="rId10"/>
    <p:sldId id="435" r:id="rId11"/>
    <p:sldId id="441" r:id="rId12"/>
    <p:sldId id="440" r:id="rId13"/>
    <p:sldId id="438" r:id="rId14"/>
    <p:sldId id="338" r:id="rId15"/>
    <p:sldId id="339" r:id="rId16"/>
    <p:sldId id="340" r:id="rId17"/>
    <p:sldId id="341" r:id="rId18"/>
    <p:sldId id="342" r:id="rId19"/>
    <p:sldId id="343" r:id="rId20"/>
    <p:sldId id="344" r:id="rId21"/>
    <p:sldId id="345" r:id="rId22"/>
    <p:sldId id="346" r:id="rId23"/>
    <p:sldId id="347" r:id="rId24"/>
    <p:sldId id="256" r:id="rId25"/>
    <p:sldId id="258" r:id="rId26"/>
    <p:sldId id="259" r:id="rId27"/>
    <p:sldId id="260" r:id="rId28"/>
    <p:sldId id="261" r:id="rId29"/>
    <p:sldId id="263" r:id="rId30"/>
    <p:sldId id="264" r:id="rId31"/>
    <p:sldId id="257" r:id="rId32"/>
    <p:sldId id="265" r:id="rId33"/>
    <p:sldId id="442" r:id="rId34"/>
    <p:sldId id="443" r:id="rId35"/>
    <p:sldId id="444" r:id="rId36"/>
    <p:sldId id="445" r:id="rId37"/>
    <p:sldId id="446" r:id="rId38"/>
    <p:sldId id="447" r:id="rId39"/>
    <p:sldId id="448" r:id="rId40"/>
    <p:sldId id="449" r:id="rId41"/>
    <p:sldId id="450" r:id="rId42"/>
    <p:sldId id="451" r:id="rId43"/>
    <p:sldId id="266" r:id="rId44"/>
    <p:sldId id="452" r:id="rId45"/>
    <p:sldId id="426" r:id="rId46"/>
    <p:sldId id="454" r:id="rId47"/>
    <p:sldId id="467" r:id="rId4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D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84" autoAdjust="0"/>
    <p:restoredTop sz="93462" autoAdjust="0"/>
  </p:normalViewPr>
  <p:slideViewPr>
    <p:cSldViewPr snapToGrid="0">
      <p:cViewPr varScale="1">
        <p:scale>
          <a:sx n="113" d="100"/>
          <a:sy n="113" d="100"/>
        </p:scale>
        <p:origin x="2573"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6CDB3A-FE59-454B-9252-56DD5BFA7268}" type="datetimeFigureOut">
              <a:rPr lang="zh-CN" altLang="en-US" smtClean="0"/>
              <a:t>2026/9/14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2DA79A-8518-4D97-8E7D-2422CFDB39BE}" type="slidenum">
              <a:rPr lang="zh-CN" altLang="en-US" smtClean="0"/>
              <a:t>‹#›</a:t>
            </a:fld>
            <a:endParaRPr lang="zh-CN" altLang="en-US"/>
          </a:p>
        </p:txBody>
      </p:sp>
    </p:spTree>
    <p:extLst>
      <p:ext uri="{BB962C8B-B14F-4D97-AF65-F5344CB8AC3E}">
        <p14:creationId xmlns:p14="http://schemas.microsoft.com/office/powerpoint/2010/main" val="3798423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994498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HK" dirty="0">
                <a:effectLst/>
                <a:latin typeface="AdvP4DF60E"/>
              </a:rPr>
              <a:t>First, ex-ante, firms’ managers typically have more information about the expected profitability of firms’ current and future investments than outsiders. This problem is exacerbated because insiders (both managers and owner-managers) have incentives to exaggerate their firms’ projected profitability. This ‘‘lemons problem’’ (</a:t>
            </a:r>
            <a:r>
              <a:rPr lang="en-HK" dirty="0" err="1">
                <a:solidFill>
                  <a:srgbClr val="000066"/>
                </a:solidFill>
                <a:effectLst/>
                <a:latin typeface="AdvP4DF60E"/>
              </a:rPr>
              <a:t>Akerlof</a:t>
            </a:r>
            <a:r>
              <a:rPr lang="en-HK" dirty="0">
                <a:solidFill>
                  <a:srgbClr val="000066"/>
                </a:solidFill>
                <a:effectLst/>
                <a:latin typeface="AdvP4DF60E"/>
              </a:rPr>
              <a:t>, 1970</a:t>
            </a:r>
            <a:r>
              <a:rPr lang="en-HK" dirty="0">
                <a:effectLst/>
                <a:latin typeface="AdvP4DF60E"/>
              </a:rPr>
              <a:t>).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HK" dirty="0">
              <a:effectLst/>
              <a:latin typeface="AdvP4DF60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HK" sz="2400" dirty="0">
                <a:effectLst/>
                <a:latin typeface="AdvP4DF60E"/>
              </a:rPr>
              <a:t>By fulfilling both demands, investors require a lower rate of return ex-ante when they can rely on such information. </a:t>
            </a:r>
            <a:endParaRPr lang="en-HK" sz="16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10368560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146906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HK" dirty="0">
                <a:effectLst/>
                <a:latin typeface="AdvP4DF60E"/>
              </a:rPr>
              <a:t>First, ex-ante, firms’ managers typically have more information about the expected profitability of firms’ current and future investments than outsiders. This problem is exacerbated because insiders (both managers and owner-managers) have incentives to exaggerate their firms’ projected profitability. This ‘‘lemons problem’’ (</a:t>
            </a:r>
            <a:r>
              <a:rPr lang="en-HK" dirty="0" err="1">
                <a:solidFill>
                  <a:srgbClr val="000066"/>
                </a:solidFill>
                <a:effectLst/>
                <a:latin typeface="AdvP4DF60E"/>
              </a:rPr>
              <a:t>Akerlof</a:t>
            </a:r>
            <a:r>
              <a:rPr lang="en-HK" dirty="0">
                <a:solidFill>
                  <a:srgbClr val="000066"/>
                </a:solidFill>
                <a:effectLst/>
                <a:latin typeface="AdvP4DF60E"/>
              </a:rPr>
              <a:t>, 1970</a:t>
            </a:r>
            <a:r>
              <a:rPr lang="en-HK">
                <a:effectLst/>
                <a:latin typeface="AdvP4DF60E"/>
              </a:rPr>
              <a:t>).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HK" dirty="0">
              <a:effectLst/>
              <a:latin typeface="AdvP4DF60E"/>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HK" sz="2400" dirty="0">
                <a:effectLst/>
                <a:latin typeface="AdvP4DF60E"/>
              </a:rPr>
              <a:t>By fulfilling both demands, investors require a lower rate of return ex-ante when they can rely on such information. </a:t>
            </a:r>
            <a:endParaRPr lang="en-HK" sz="16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512454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3734803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15671389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7805216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1074599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2565640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38539595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HK" sz="1200" dirty="0">
                <a:effectLst/>
                <a:latin typeface="NewBaskerville"/>
              </a:rPr>
              <a:t>Research suggests that there is significant demand from capital market participants for the disclosure of earnings forecasts by managers (see Healy and Palepu [2001], Core [2001], Hirst, Koonce, and Venkataraman [2008], and </a:t>
            </a:r>
            <a:r>
              <a:rPr lang="en-HK" sz="1200" dirty="0" err="1">
                <a:effectLst/>
                <a:latin typeface="NewBaskerville"/>
              </a:rPr>
              <a:t>Leuz</a:t>
            </a:r>
            <a:r>
              <a:rPr lang="en-HK" sz="1200" dirty="0">
                <a:effectLst/>
                <a:latin typeface="NewBaskerville"/>
              </a:rPr>
              <a:t> and Wysocki [2008] for reviews). This same research suggests that managers decide whether to issue forecasts based on their perceptions of the costs and benefits to the firm (e.g., higher liquidity and lower capital costs are weighed against proprietary and litigation costs) and to themselves (e.g., effects on reputation and stock compensation). Managers are more likely to issue forecasts when they expect growth (Core [2001]) or rising earnings (Miller [2002]), and have the ability to accurately predict earn- </a:t>
            </a:r>
            <a:r>
              <a:rPr lang="en-HK" sz="1200" dirty="0" err="1">
                <a:effectLst/>
                <a:latin typeface="NewBaskerville"/>
              </a:rPr>
              <a:t>ings</a:t>
            </a:r>
            <a:r>
              <a:rPr lang="en-HK" sz="1200" dirty="0">
                <a:effectLst/>
                <a:latin typeface="NewBaskerville"/>
              </a:rPr>
              <a:t> and meet or beat their forecasts (Hutton and </a:t>
            </a:r>
            <a:r>
              <a:rPr lang="en-HK" sz="1200" dirty="0" err="1">
                <a:effectLst/>
                <a:latin typeface="NewBaskerville"/>
              </a:rPr>
              <a:t>Stocken</a:t>
            </a:r>
            <a:r>
              <a:rPr lang="en-HK" sz="1200" dirty="0">
                <a:effectLst/>
                <a:latin typeface="NewBaskerville"/>
              </a:rPr>
              <a:t> [2009], </a:t>
            </a:r>
            <a:r>
              <a:rPr lang="en-HK" sz="1200" dirty="0" err="1">
                <a:effectLst/>
                <a:latin typeface="NewBaskerville"/>
              </a:rPr>
              <a:t>Bhojraj</a:t>
            </a:r>
            <a:r>
              <a:rPr lang="en-HK" sz="1200" dirty="0">
                <a:effectLst/>
                <a:latin typeface="NewBaskerville"/>
              </a:rPr>
              <a:t>, Libby, and Yang [2011]). Firms tend to cease issuing forecasts in the face of a sequence of bad quarters or when their forecast accuracy declines (Chen, Matsumoto, and </a:t>
            </a:r>
            <a:r>
              <a:rPr lang="en-HK" sz="1200" dirty="0" err="1">
                <a:effectLst/>
                <a:latin typeface="NewBaskerville"/>
              </a:rPr>
              <a:t>Rajgopal</a:t>
            </a:r>
            <a:r>
              <a:rPr lang="en-HK" sz="1200" dirty="0">
                <a:effectLst/>
                <a:latin typeface="NewBaskerville"/>
              </a:rPr>
              <a:t> [2011], Houston, Lev, and Tucker [2010]). </a:t>
            </a:r>
            <a:br>
              <a:rPr lang="en-HK" dirty="0"/>
            </a:br>
            <a:endParaRPr lang="zh-CN" altLang="en-US" dirty="0"/>
          </a:p>
        </p:txBody>
      </p:sp>
    </p:spTree>
    <p:extLst>
      <p:ext uri="{BB962C8B-B14F-4D97-AF65-F5344CB8AC3E}">
        <p14:creationId xmlns:p14="http://schemas.microsoft.com/office/powerpoint/2010/main" val="3149195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0488" y="744538"/>
            <a:ext cx="6616700" cy="3722687"/>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Tree>
    <p:extLst>
      <p:ext uri="{BB962C8B-B14F-4D97-AF65-F5344CB8AC3E}">
        <p14:creationId xmlns:p14="http://schemas.microsoft.com/office/powerpoint/2010/main" val="1874205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AF8E5-950E-8D05-F1AD-04E597554A8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3C001BF-BE91-6D41-059F-610E677B5BF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AC541B5-0248-3C37-3F08-6265AA466A45}"/>
              </a:ext>
            </a:extLst>
          </p:cNvPr>
          <p:cNvSpPr>
            <a:spLocks noGrp="1"/>
          </p:cNvSpPr>
          <p:nvPr>
            <p:ph type="dt" sz="half" idx="10"/>
          </p:nvPr>
        </p:nvSpPr>
        <p:spPr/>
        <p:txBody>
          <a:bodyPr/>
          <a:lstStyle/>
          <a:p>
            <a:fld id="{6E807C96-1B00-4843-93DA-9776290FD1B0}" type="datetime1">
              <a:rPr lang="zh-CN" altLang="en-US" smtClean="0"/>
              <a:t>2026/9/14</a:t>
            </a:fld>
            <a:endParaRPr lang="zh-CN" altLang="en-US"/>
          </a:p>
        </p:txBody>
      </p:sp>
      <p:sp>
        <p:nvSpPr>
          <p:cNvPr id="5" name="页脚占位符 4">
            <a:extLst>
              <a:ext uri="{FF2B5EF4-FFF2-40B4-BE49-F238E27FC236}">
                <a16:creationId xmlns:a16="http://schemas.microsoft.com/office/drawing/2014/main" id="{8B2BF54E-797F-CECA-1E44-5DC77CB91BC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E6BF6B8-4263-4EB2-3A9C-DBE0874501E8}"/>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3758420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A03ABE-2716-F60D-CCF4-686518571922}"/>
              </a:ext>
            </a:extLst>
          </p:cNvPr>
          <p:cNvSpPr>
            <a:spLocks noGrp="1"/>
          </p:cNvSpPr>
          <p:nvPr>
            <p:ph type="title" hasCustomPrompt="1"/>
          </p:nvPr>
        </p:nvSpPr>
        <p:spPr/>
        <p:txBody>
          <a:bodyPr/>
          <a:lstStyle>
            <a:lvl1pPr>
              <a:defRPr>
                <a:latin typeface="Century Schoolbook" panose="02040604050505020304" pitchFamily="18" charset="0"/>
                <a:ea typeface="+mj-ea"/>
              </a:defRPr>
            </a:lvl1pPr>
          </a:lstStyle>
          <a:p>
            <a:r>
              <a:rPr lang="zh-CN" altLang="en-US" dirty="0"/>
              <a:t>单击此处编辑母版标题样式</a:t>
            </a:r>
          </a:p>
        </p:txBody>
      </p:sp>
      <p:sp>
        <p:nvSpPr>
          <p:cNvPr id="3" name="内容占位符 2">
            <a:extLst>
              <a:ext uri="{FF2B5EF4-FFF2-40B4-BE49-F238E27FC236}">
                <a16:creationId xmlns:a16="http://schemas.microsoft.com/office/drawing/2014/main" id="{54EDE80D-4584-2829-C0E0-01DC923E67D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3FC4E90-296F-754A-3429-A4B8A6273BE0}"/>
              </a:ext>
            </a:extLst>
          </p:cNvPr>
          <p:cNvSpPr>
            <a:spLocks noGrp="1"/>
          </p:cNvSpPr>
          <p:nvPr>
            <p:ph type="dt" sz="half" idx="10"/>
          </p:nvPr>
        </p:nvSpPr>
        <p:spPr/>
        <p:txBody>
          <a:bodyPr/>
          <a:lstStyle/>
          <a:p>
            <a:fld id="{5F095013-FAFA-4996-A6F8-1F75D307863F}" type="datetime1">
              <a:rPr lang="zh-CN" altLang="en-US" smtClean="0"/>
              <a:t>2026/9/14</a:t>
            </a:fld>
            <a:endParaRPr lang="zh-CN" altLang="en-US"/>
          </a:p>
        </p:txBody>
      </p:sp>
      <p:sp>
        <p:nvSpPr>
          <p:cNvPr id="5" name="页脚占位符 4">
            <a:extLst>
              <a:ext uri="{FF2B5EF4-FFF2-40B4-BE49-F238E27FC236}">
                <a16:creationId xmlns:a16="http://schemas.microsoft.com/office/drawing/2014/main" id="{3256496B-208A-DC7A-689F-B50B0E940CB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4D182A5-68E2-8619-08B1-A137D4D065E0}"/>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505144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452015-A9DB-C5BD-AED1-2F4BD76EFAB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367D0ED-6DBD-1241-4EA2-83C24C70C1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5AF94B6-4847-F29C-4437-C01A11BB2AED}"/>
              </a:ext>
            </a:extLst>
          </p:cNvPr>
          <p:cNvSpPr>
            <a:spLocks noGrp="1"/>
          </p:cNvSpPr>
          <p:nvPr>
            <p:ph type="dt" sz="half" idx="10"/>
          </p:nvPr>
        </p:nvSpPr>
        <p:spPr/>
        <p:txBody>
          <a:bodyPr/>
          <a:lstStyle/>
          <a:p>
            <a:fld id="{C5DA246F-282B-4AC5-B038-E15D3F4BC62A}" type="datetime1">
              <a:rPr lang="zh-CN" altLang="en-US" smtClean="0"/>
              <a:t>2026/9/14</a:t>
            </a:fld>
            <a:endParaRPr lang="zh-CN" altLang="en-US"/>
          </a:p>
        </p:txBody>
      </p:sp>
      <p:sp>
        <p:nvSpPr>
          <p:cNvPr id="5" name="页脚占位符 4">
            <a:extLst>
              <a:ext uri="{FF2B5EF4-FFF2-40B4-BE49-F238E27FC236}">
                <a16:creationId xmlns:a16="http://schemas.microsoft.com/office/drawing/2014/main" id="{9E383F9A-6379-FB6D-45E9-A33A7FB8AFE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0E76AD8-0F76-F8C3-0069-FAF821FC60E8}"/>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593737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CF16F9-7CF8-A31C-2977-732E8683CC1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423127B-BDBF-1F75-88DC-4B9EF35E66F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747B01-8A60-327E-51CC-5E9D648B029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9B49217-035F-F370-58DB-83986EB769ED}"/>
              </a:ext>
            </a:extLst>
          </p:cNvPr>
          <p:cNvSpPr>
            <a:spLocks noGrp="1"/>
          </p:cNvSpPr>
          <p:nvPr>
            <p:ph type="dt" sz="half" idx="10"/>
          </p:nvPr>
        </p:nvSpPr>
        <p:spPr/>
        <p:txBody>
          <a:bodyPr/>
          <a:lstStyle/>
          <a:p>
            <a:fld id="{CEC318EE-E09B-4F85-A11A-87FC565B6F76}" type="datetime1">
              <a:rPr lang="zh-CN" altLang="en-US" smtClean="0"/>
              <a:t>2026/9/14</a:t>
            </a:fld>
            <a:endParaRPr lang="zh-CN" altLang="en-US"/>
          </a:p>
        </p:txBody>
      </p:sp>
      <p:sp>
        <p:nvSpPr>
          <p:cNvPr id="6" name="页脚占位符 5">
            <a:extLst>
              <a:ext uri="{FF2B5EF4-FFF2-40B4-BE49-F238E27FC236}">
                <a16:creationId xmlns:a16="http://schemas.microsoft.com/office/drawing/2014/main" id="{BC4F95D7-F535-F7DE-DBC0-86D4EF95634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6769DEA-8A46-3A98-D12E-F75D99B5749D}"/>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288937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4590F8-C2CD-119B-222C-FF42EC96D33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B84F08D-0E1E-7161-4A6F-35249BCFB2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046C6C1-5FE4-E211-985B-921646CB361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3D214AA-EBD7-2039-AC7C-CED9B77A64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505F303-336A-1BB1-BAC1-49BA6C53418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3246AF0-1769-6A76-15A5-A7A378D98011}"/>
              </a:ext>
            </a:extLst>
          </p:cNvPr>
          <p:cNvSpPr>
            <a:spLocks noGrp="1"/>
          </p:cNvSpPr>
          <p:nvPr>
            <p:ph type="dt" sz="half" idx="10"/>
          </p:nvPr>
        </p:nvSpPr>
        <p:spPr/>
        <p:txBody>
          <a:bodyPr/>
          <a:lstStyle/>
          <a:p>
            <a:fld id="{26683FC8-A041-48FA-808C-CE8E042B67DD}" type="datetime1">
              <a:rPr lang="zh-CN" altLang="en-US" smtClean="0"/>
              <a:t>2026/9/14</a:t>
            </a:fld>
            <a:endParaRPr lang="zh-CN" altLang="en-US"/>
          </a:p>
        </p:txBody>
      </p:sp>
      <p:sp>
        <p:nvSpPr>
          <p:cNvPr id="8" name="页脚占位符 7">
            <a:extLst>
              <a:ext uri="{FF2B5EF4-FFF2-40B4-BE49-F238E27FC236}">
                <a16:creationId xmlns:a16="http://schemas.microsoft.com/office/drawing/2014/main" id="{C6024905-1D33-213C-5386-082E165434B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417AF8C-C9EF-9258-87F0-8C4BA9C623E2}"/>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3751446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3A7353-97B6-6E96-210C-17E88427366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F1F8CCC-A2A9-6BA4-EC22-A618D9DEC433}"/>
              </a:ext>
            </a:extLst>
          </p:cNvPr>
          <p:cNvSpPr>
            <a:spLocks noGrp="1"/>
          </p:cNvSpPr>
          <p:nvPr>
            <p:ph type="dt" sz="half" idx="10"/>
          </p:nvPr>
        </p:nvSpPr>
        <p:spPr/>
        <p:txBody>
          <a:bodyPr/>
          <a:lstStyle/>
          <a:p>
            <a:fld id="{2AD727EC-4A1D-4900-95E7-13F2A953FD4A}" type="datetime1">
              <a:rPr lang="zh-CN" altLang="en-US" smtClean="0"/>
              <a:t>2026/9/14</a:t>
            </a:fld>
            <a:endParaRPr lang="zh-CN" altLang="en-US"/>
          </a:p>
        </p:txBody>
      </p:sp>
      <p:sp>
        <p:nvSpPr>
          <p:cNvPr id="4" name="页脚占位符 3">
            <a:extLst>
              <a:ext uri="{FF2B5EF4-FFF2-40B4-BE49-F238E27FC236}">
                <a16:creationId xmlns:a16="http://schemas.microsoft.com/office/drawing/2014/main" id="{8CE6B241-992A-787E-6BBA-08093DC518C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02B192DE-3F6C-F363-25F0-E21F63586953}"/>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272346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EEC1604-6D29-96D8-BE53-045B3C9629DC}"/>
              </a:ext>
            </a:extLst>
          </p:cNvPr>
          <p:cNvSpPr>
            <a:spLocks noGrp="1"/>
          </p:cNvSpPr>
          <p:nvPr>
            <p:ph type="dt" sz="half" idx="10"/>
          </p:nvPr>
        </p:nvSpPr>
        <p:spPr/>
        <p:txBody>
          <a:bodyPr/>
          <a:lstStyle/>
          <a:p>
            <a:fld id="{E024DACF-18DB-4078-841D-53DE697B8835}" type="datetime1">
              <a:rPr lang="zh-CN" altLang="en-US" smtClean="0"/>
              <a:t>2026/9/14</a:t>
            </a:fld>
            <a:endParaRPr lang="zh-CN" altLang="en-US"/>
          </a:p>
        </p:txBody>
      </p:sp>
      <p:sp>
        <p:nvSpPr>
          <p:cNvPr id="3" name="页脚占位符 2">
            <a:extLst>
              <a:ext uri="{FF2B5EF4-FFF2-40B4-BE49-F238E27FC236}">
                <a16:creationId xmlns:a16="http://schemas.microsoft.com/office/drawing/2014/main" id="{8268A4A1-8B9F-21BF-38C6-F6FB9DE27F3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3B7490E-A9A0-5D21-115C-A5B6EE6E32FF}"/>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2222189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A19D8A-2E16-D969-FCAF-2FEC91F58FB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91F66DA-BF7F-468D-F35E-A71C2A5593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87DCAA3-70AF-342A-47AA-E164EB0181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9AC662B-295C-7E40-D0FB-669BC4458735}"/>
              </a:ext>
            </a:extLst>
          </p:cNvPr>
          <p:cNvSpPr>
            <a:spLocks noGrp="1"/>
          </p:cNvSpPr>
          <p:nvPr>
            <p:ph type="dt" sz="half" idx="10"/>
          </p:nvPr>
        </p:nvSpPr>
        <p:spPr/>
        <p:txBody>
          <a:bodyPr/>
          <a:lstStyle/>
          <a:p>
            <a:fld id="{5AE4D780-48C9-4A78-9734-20FDE0701464}" type="datetime1">
              <a:rPr lang="zh-CN" altLang="en-US" smtClean="0"/>
              <a:t>2026/9/14</a:t>
            </a:fld>
            <a:endParaRPr lang="zh-CN" altLang="en-US"/>
          </a:p>
        </p:txBody>
      </p:sp>
      <p:sp>
        <p:nvSpPr>
          <p:cNvPr id="6" name="页脚占位符 5">
            <a:extLst>
              <a:ext uri="{FF2B5EF4-FFF2-40B4-BE49-F238E27FC236}">
                <a16:creationId xmlns:a16="http://schemas.microsoft.com/office/drawing/2014/main" id="{14E75EC8-E794-9A65-B963-273A4DA8C3F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6987F22-1D1F-D6CC-55AA-CA1E3FDB6FAB}"/>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2701261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F17376-E363-BE75-1A46-93CDB4248331}"/>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FE9ED85-F876-3506-EE52-43B8BCBCBB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CCA28F8-6CBD-CB2A-4B0A-1B84000880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009FBE1-11F2-5D1F-5050-74F49BE9423D}"/>
              </a:ext>
            </a:extLst>
          </p:cNvPr>
          <p:cNvSpPr>
            <a:spLocks noGrp="1"/>
          </p:cNvSpPr>
          <p:nvPr>
            <p:ph type="dt" sz="half" idx="10"/>
          </p:nvPr>
        </p:nvSpPr>
        <p:spPr/>
        <p:txBody>
          <a:bodyPr/>
          <a:lstStyle/>
          <a:p>
            <a:fld id="{B3D856DB-DE9B-4D41-959E-311105BC9F15}" type="datetime1">
              <a:rPr lang="zh-CN" altLang="en-US" smtClean="0"/>
              <a:t>2026/9/14</a:t>
            </a:fld>
            <a:endParaRPr lang="zh-CN" altLang="en-US"/>
          </a:p>
        </p:txBody>
      </p:sp>
      <p:sp>
        <p:nvSpPr>
          <p:cNvPr id="6" name="页脚占位符 5">
            <a:extLst>
              <a:ext uri="{FF2B5EF4-FFF2-40B4-BE49-F238E27FC236}">
                <a16:creationId xmlns:a16="http://schemas.microsoft.com/office/drawing/2014/main" id="{9A8A5285-6A52-553A-ACF2-D60EF0DE6C3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980A81E-D540-66B1-93EC-F8490B0FEBD2}"/>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621944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92E624-E2F3-1C9A-D3B3-91DE9B75511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41BDFDD-AF68-0F24-6A93-49859CD47C3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F4C5F0B-7E74-4DC7-F9C5-6C31720F0D14}"/>
              </a:ext>
            </a:extLst>
          </p:cNvPr>
          <p:cNvSpPr>
            <a:spLocks noGrp="1"/>
          </p:cNvSpPr>
          <p:nvPr>
            <p:ph type="dt" sz="half" idx="10"/>
          </p:nvPr>
        </p:nvSpPr>
        <p:spPr/>
        <p:txBody>
          <a:bodyPr/>
          <a:lstStyle/>
          <a:p>
            <a:fld id="{8DF4875F-1CC6-4F12-ABE4-89166A465654}" type="datetime1">
              <a:rPr lang="zh-CN" altLang="en-US" smtClean="0"/>
              <a:t>2026/9/14</a:t>
            </a:fld>
            <a:endParaRPr lang="zh-CN" altLang="en-US"/>
          </a:p>
        </p:txBody>
      </p:sp>
      <p:sp>
        <p:nvSpPr>
          <p:cNvPr id="5" name="页脚占位符 4">
            <a:extLst>
              <a:ext uri="{FF2B5EF4-FFF2-40B4-BE49-F238E27FC236}">
                <a16:creationId xmlns:a16="http://schemas.microsoft.com/office/drawing/2014/main" id="{3632DD33-CCB5-BD84-1823-5A503B95942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CAECEE8-FAA4-AC6B-81D1-2F2FC2FFBE93}"/>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523764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9473442-FD9F-20F9-D423-EBE5FF2C99C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478F7D4-92A6-76D3-0A88-6C45503E079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C6E421C-0CB4-301C-08D0-59C03300DD19}"/>
              </a:ext>
            </a:extLst>
          </p:cNvPr>
          <p:cNvSpPr>
            <a:spLocks noGrp="1"/>
          </p:cNvSpPr>
          <p:nvPr>
            <p:ph type="dt" sz="half" idx="10"/>
          </p:nvPr>
        </p:nvSpPr>
        <p:spPr/>
        <p:txBody>
          <a:bodyPr/>
          <a:lstStyle/>
          <a:p>
            <a:fld id="{8BE3E932-BECE-42A3-9851-95B1F01952DC}" type="datetime1">
              <a:rPr lang="zh-CN" altLang="en-US" smtClean="0"/>
              <a:t>2026/9/14</a:t>
            </a:fld>
            <a:endParaRPr lang="zh-CN" altLang="en-US"/>
          </a:p>
        </p:txBody>
      </p:sp>
      <p:sp>
        <p:nvSpPr>
          <p:cNvPr id="5" name="页脚占位符 4">
            <a:extLst>
              <a:ext uri="{FF2B5EF4-FFF2-40B4-BE49-F238E27FC236}">
                <a16:creationId xmlns:a16="http://schemas.microsoft.com/office/drawing/2014/main" id="{79EA325C-ADAC-EFFE-A684-98278D2DDE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DCA15B-E99C-5FAD-0E5E-90E3DE74B525}"/>
              </a:ext>
            </a:extLst>
          </p:cNvPr>
          <p:cNvSpPr>
            <a:spLocks noGrp="1"/>
          </p:cNvSpPr>
          <p:nvPr>
            <p:ph type="sldNum" sz="quarter" idx="12"/>
          </p:nvPr>
        </p:nvSpPr>
        <p:spPr/>
        <p:txBody>
          <a:bodyPr/>
          <a:lstStyle/>
          <a:p>
            <a:fld id="{1778BC13-B753-4634-A5F7-9F4F7C9ECC5F}" type="slidenum">
              <a:rPr lang="zh-CN" altLang="en-US" smtClean="0"/>
              <a:t>‹#›</a:t>
            </a:fld>
            <a:endParaRPr lang="zh-CN" altLang="en-US"/>
          </a:p>
        </p:txBody>
      </p:sp>
    </p:spTree>
    <p:extLst>
      <p:ext uri="{BB962C8B-B14F-4D97-AF65-F5344CB8AC3E}">
        <p14:creationId xmlns:p14="http://schemas.microsoft.com/office/powerpoint/2010/main" val="18630214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7_Section Header">
    <p:spTree>
      <p:nvGrpSpPr>
        <p:cNvPr id="1" name=""/>
        <p:cNvGrpSpPr/>
        <p:nvPr/>
      </p:nvGrpSpPr>
      <p:grpSpPr>
        <a:xfrm>
          <a:off x="0" y="0"/>
          <a:ext cx="0" cy="0"/>
          <a:chOff x="0" y="0"/>
          <a:chExt cx="0" cy="0"/>
        </a:xfrm>
      </p:grpSpPr>
      <p:sp>
        <p:nvSpPr>
          <p:cNvPr id="163" name="Click to edit master title style"/>
          <p:cNvSpPr txBox="1">
            <a:spLocks noGrp="1"/>
          </p:cNvSpPr>
          <p:nvPr>
            <p:ph type="title" hasCustomPrompt="1"/>
          </p:nvPr>
        </p:nvSpPr>
        <p:spPr>
          <a:xfrm>
            <a:off x="738910" y="1882589"/>
            <a:ext cx="10714183" cy="2017060"/>
          </a:xfrm>
          <a:prstGeom prst="rect">
            <a:avLst/>
          </a:prstGeom>
        </p:spPr>
        <p:txBody>
          <a:bodyPr anchor="t"/>
          <a:lstStyle>
            <a:lvl1pPr>
              <a:defRPr sz="2500" b="1">
                <a:solidFill>
                  <a:srgbClr val="637052"/>
                </a:solidFill>
              </a:defRPr>
            </a:lvl1pPr>
          </a:lstStyle>
          <a:p>
            <a:r>
              <a:t>Click to edit master title style</a:t>
            </a:r>
          </a:p>
        </p:txBody>
      </p:sp>
      <p:sp>
        <p:nvSpPr>
          <p:cNvPr id="169" name="Slide Number"/>
          <p:cNvSpPr txBox="1">
            <a:spLocks noGrp="1"/>
          </p:cNvSpPr>
          <p:nvPr>
            <p:ph type="sldNum" sz="quarter" idx="2"/>
          </p:nvPr>
        </p:nvSpPr>
        <p:spPr>
          <a:xfrm>
            <a:off x="9347200" y="6445250"/>
            <a:ext cx="2844800" cy="368301"/>
          </a:xfrm>
          <a:prstGeom prst="rect">
            <a:avLst/>
          </a:prstGeom>
        </p:spPr>
        <p:txBody>
          <a:bodyPr/>
          <a:lstStyle>
            <a:lvl1pPr>
              <a:defRPr>
                <a:solidFill>
                  <a:schemeClr val="tx1"/>
                </a:solidFill>
              </a:defRPr>
            </a:lvl1pPr>
          </a:lstStyle>
          <a:p>
            <a:fld id="{86CB4B4D-7CA3-9044-876B-883B54F8677D}" type="slidenum">
              <a:rPr lang="en-US" smtClean="0"/>
              <a:pPr/>
              <a:t>‹#›</a:t>
            </a:fld>
            <a:endParaRPr lang="en-US" dirty="0"/>
          </a:p>
        </p:txBody>
      </p:sp>
    </p:spTree>
    <p:extLst>
      <p:ext uri="{BB962C8B-B14F-4D97-AF65-F5344CB8AC3E}">
        <p14:creationId xmlns:p14="http://schemas.microsoft.com/office/powerpoint/2010/main" val="288027287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49FEDB4-D24A-D053-B174-08C6866C18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endParaRPr lang="zh-CN" altLang="en-US" dirty="0"/>
          </a:p>
        </p:txBody>
      </p:sp>
      <p:sp>
        <p:nvSpPr>
          <p:cNvPr id="3" name="文本占位符 2">
            <a:extLst>
              <a:ext uri="{FF2B5EF4-FFF2-40B4-BE49-F238E27FC236}">
                <a16:creationId xmlns:a16="http://schemas.microsoft.com/office/drawing/2014/main" id="{558B83C5-7A07-2A5A-1F05-47DA1B865E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endParaRPr lang="zh-CN" altLang="en-US" dirty="0"/>
          </a:p>
        </p:txBody>
      </p:sp>
      <p:sp>
        <p:nvSpPr>
          <p:cNvPr id="4" name="日期占位符 3">
            <a:extLst>
              <a:ext uri="{FF2B5EF4-FFF2-40B4-BE49-F238E27FC236}">
                <a16:creationId xmlns:a16="http://schemas.microsoft.com/office/drawing/2014/main" id="{36C5B602-C58B-125C-B0F7-FE8D13927C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0D7607-91AE-4D36-ABF6-34B5F509E9BA}" type="datetime1">
              <a:rPr lang="zh-CN" altLang="en-US" smtClean="0"/>
              <a:t>2026/9/14</a:t>
            </a:fld>
            <a:endParaRPr lang="zh-CN" altLang="en-US"/>
          </a:p>
        </p:txBody>
      </p:sp>
      <p:sp>
        <p:nvSpPr>
          <p:cNvPr id="5" name="页脚占位符 4">
            <a:extLst>
              <a:ext uri="{FF2B5EF4-FFF2-40B4-BE49-F238E27FC236}">
                <a16:creationId xmlns:a16="http://schemas.microsoft.com/office/drawing/2014/main" id="{C7659421-F9E4-C409-345F-BF40647755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B3C788FF-D1B0-D606-854D-77FD64E14A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78BC13-B753-4634-A5F7-9F4F7C9ECC5F}" type="slidenum">
              <a:rPr lang="zh-CN" altLang="en-US" smtClean="0"/>
              <a:t>‹#›</a:t>
            </a:fld>
            <a:endParaRPr lang="zh-CN" altLang="en-US"/>
          </a:p>
        </p:txBody>
      </p:sp>
      <p:pic>
        <p:nvPicPr>
          <p:cNvPr id="7" name="Google Shape;66;p14">
            <a:extLst>
              <a:ext uri="{FF2B5EF4-FFF2-40B4-BE49-F238E27FC236}">
                <a16:creationId xmlns:a16="http://schemas.microsoft.com/office/drawing/2014/main" id="{31B9E400-573C-4C14-D997-522C8F8B5466}"/>
              </a:ext>
            </a:extLst>
          </p:cNvPr>
          <p:cNvPicPr preferRelativeResize="0"/>
          <p:nvPr userDrawn="1"/>
        </p:nvPicPr>
        <p:blipFill rotWithShape="1">
          <a:blip r:embed="rId14">
            <a:alphaModFix/>
          </a:blip>
          <a:srcRect/>
          <a:stretch/>
        </p:blipFill>
        <p:spPr>
          <a:xfrm>
            <a:off x="8926725" y="86421"/>
            <a:ext cx="3005534" cy="715037"/>
          </a:xfrm>
          <a:prstGeom prst="rect">
            <a:avLst/>
          </a:prstGeom>
          <a:noFill/>
          <a:ln>
            <a:noFill/>
          </a:ln>
        </p:spPr>
      </p:pic>
    </p:spTree>
    <p:extLst>
      <p:ext uri="{BB962C8B-B14F-4D97-AF65-F5344CB8AC3E}">
        <p14:creationId xmlns:p14="http://schemas.microsoft.com/office/powerpoint/2010/main" val="34595327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lvl1pPr algn="l" defTabSz="914400" rtl="0" eaLnBrk="1" latinLnBrk="0" hangingPunct="1">
        <a:lnSpc>
          <a:spcPct val="90000"/>
        </a:lnSpc>
        <a:spcBef>
          <a:spcPct val="0"/>
        </a:spcBef>
        <a:buNone/>
        <a:defRPr sz="4400" kern="1200">
          <a:solidFill>
            <a:schemeClr val="tx1"/>
          </a:solidFill>
          <a:latin typeface="Century Schoolbook" panose="020406040505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entury Schoolbook" panose="020406040505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entury Schoolbook" panose="020406040505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entury Schoolbook" panose="020406040505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Schoolbook" panose="020406040505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entury Schoolbook" panose="020406040505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www.ft.com/cms/s/2/3405a512-5cbb-11e1-8f1f-00144feabdc0.html#axzz3dJ8ZZM1h"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A1678161-9BED-4F29-94F3-A403FCC37B8F}"/>
              </a:ext>
            </a:extLst>
          </p:cNvPr>
          <p:cNvSpPr txBox="1"/>
          <p:nvPr/>
        </p:nvSpPr>
        <p:spPr>
          <a:xfrm>
            <a:off x="2351584" y="1499939"/>
            <a:ext cx="7920880" cy="1077218"/>
          </a:xfrm>
          <a:prstGeom prst="rect">
            <a:avLst/>
          </a:prstGeom>
          <a:noFill/>
        </p:spPr>
        <p:txBody>
          <a:bodyPr wrap="square">
            <a:spAutoFit/>
          </a:bodyPr>
          <a:lstStyle/>
          <a:p>
            <a:pPr algn="ctr"/>
            <a:r>
              <a:rPr lang="en-US" altLang="zh-CN" sz="3200" b="1" dirty="0">
                <a:latin typeface="Century Schoolbook" panose="02040604050505020304" pitchFamily="18" charset="0"/>
              </a:rPr>
              <a:t>Week 1: Reporting and Disclosure-Introduction </a:t>
            </a:r>
            <a:endParaRPr lang="zh-CN" altLang="en-US" sz="3200" b="1" dirty="0">
              <a:latin typeface="Century Schoolbook" panose="02040604050505020304" pitchFamily="18" charset="0"/>
            </a:endParaRPr>
          </a:p>
        </p:txBody>
      </p:sp>
      <p:sp>
        <p:nvSpPr>
          <p:cNvPr id="11" name="文本框 10">
            <a:extLst>
              <a:ext uri="{FF2B5EF4-FFF2-40B4-BE49-F238E27FC236}">
                <a16:creationId xmlns:a16="http://schemas.microsoft.com/office/drawing/2014/main" id="{7676D187-D426-44F8-A333-69F37245056A}"/>
              </a:ext>
            </a:extLst>
          </p:cNvPr>
          <p:cNvSpPr txBox="1"/>
          <p:nvPr/>
        </p:nvSpPr>
        <p:spPr>
          <a:xfrm>
            <a:off x="1307306" y="3234404"/>
            <a:ext cx="9144000" cy="1754326"/>
          </a:xfrm>
          <a:prstGeom prst="rect">
            <a:avLst/>
          </a:prstGeom>
          <a:noFill/>
        </p:spPr>
        <p:txBody>
          <a:bodyPr wrap="square">
            <a:spAutoFit/>
          </a:bodyPr>
          <a:lstStyle/>
          <a:p>
            <a:pPr algn="ctr"/>
            <a:r>
              <a:rPr lang="en-US" altLang="zh-CN" dirty="0">
                <a:latin typeface="Century Schoolbook" panose="02040604050505020304" pitchFamily="18" charset="0"/>
              </a:rPr>
              <a:t>Prof. Zheng Wang</a:t>
            </a:r>
          </a:p>
          <a:p>
            <a:pPr algn="ctr"/>
            <a:endParaRPr lang="en-US" altLang="zh-CN" dirty="0">
              <a:latin typeface="Century Schoolbook" panose="02040604050505020304" pitchFamily="18" charset="0"/>
            </a:endParaRPr>
          </a:p>
          <a:p>
            <a:pPr algn="ctr"/>
            <a:r>
              <a:rPr lang="en-US" altLang="zh-CN" dirty="0">
                <a:latin typeface="Century Schoolbook" panose="02040604050505020304" pitchFamily="18" charset="0"/>
              </a:rPr>
              <a:t>AC8900</a:t>
            </a:r>
          </a:p>
          <a:p>
            <a:pPr algn="ctr"/>
            <a:r>
              <a:rPr lang="en-US" altLang="zh-CN" dirty="0">
                <a:latin typeface="Century Schoolbook" panose="02040604050505020304" pitchFamily="18" charset="0"/>
              </a:rPr>
              <a:t>Semester A 2026/2027</a:t>
            </a:r>
          </a:p>
          <a:p>
            <a:pPr algn="ctr"/>
            <a:endParaRPr lang="en-US" altLang="zh-CN" dirty="0">
              <a:latin typeface="Century Schoolbook" panose="02040604050505020304" pitchFamily="18" charset="0"/>
            </a:endParaRPr>
          </a:p>
          <a:p>
            <a:pPr algn="ctr"/>
            <a:endParaRPr lang="en-US" altLang="zh-CN" dirty="0">
              <a:latin typeface="Century Schoolbook" panose="02040604050505020304" pitchFamily="18" charset="0"/>
            </a:endParaRPr>
          </a:p>
        </p:txBody>
      </p:sp>
      <p:sp>
        <p:nvSpPr>
          <p:cNvPr id="3" name="Date Placeholder 2">
            <a:extLst>
              <a:ext uri="{FF2B5EF4-FFF2-40B4-BE49-F238E27FC236}">
                <a16:creationId xmlns:a16="http://schemas.microsoft.com/office/drawing/2014/main" id="{1E675BC2-5E82-4461-8CE7-B909ABD01D5C}"/>
              </a:ext>
            </a:extLst>
          </p:cNvPr>
          <p:cNvSpPr>
            <a:spLocks noGrp="1"/>
          </p:cNvSpPr>
          <p:nvPr>
            <p:ph type="dt" sz="half" idx="10"/>
          </p:nvPr>
        </p:nvSpPr>
        <p:spPr/>
        <p:txBody>
          <a:bodyPr/>
          <a:lstStyle/>
          <a:p>
            <a:pPr lvl="0" eaLnBrk="1" hangingPunct="1">
              <a:buNone/>
            </a:pPr>
            <a:fld id="{71C52769-6B22-46DD-9153-0353FF374DBB}" type="datetime1">
              <a:rPr lang="en-US" smtClean="0">
                <a:latin typeface="Calibri" panose="020F0502020204030204" pitchFamily="34" charset="0"/>
                <a:ea typeface="PMingLiU" panose="02020500000000000000" pitchFamily="18" charset="-120"/>
                <a:cs typeface="Arial" panose="020B0604020202020204" pitchFamily="34" charset="0"/>
              </a:rPr>
              <a:t>9/14/2026</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
        <p:nvSpPr>
          <p:cNvPr id="4" name="Slide Number Placeholder 3">
            <a:extLst>
              <a:ext uri="{FF2B5EF4-FFF2-40B4-BE49-F238E27FC236}">
                <a16:creationId xmlns:a16="http://schemas.microsoft.com/office/drawing/2014/main" id="{A9880582-84BC-41AD-B560-8417D6BA4DFA}"/>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1184779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5">
            <a:extLst>
              <a:ext uri="{FF2B5EF4-FFF2-40B4-BE49-F238E27FC236}">
                <a16:creationId xmlns:a16="http://schemas.microsoft.com/office/drawing/2014/main" id="{F6399FE9-7A13-48D0-B537-41A436317472}"/>
              </a:ext>
            </a:extLst>
          </p:cNvPr>
          <p:cNvSpPr>
            <a:spLocks noGrp="1"/>
          </p:cNvSpPr>
          <p:nvPr>
            <p:ph type="title"/>
          </p:nvPr>
        </p:nvSpPr>
        <p:spPr>
          <a:xfrm>
            <a:off x="1330585" y="332656"/>
            <a:ext cx="9144000" cy="850578"/>
          </a:xfrm>
        </p:spPr>
        <p:txBody>
          <a:bodyPr vert="horz" wrap="square" lIns="91440" tIns="45720" rIns="91440" bIns="45720" numCol="1" rtlCol="0" anchor="ctr" anchorCtr="0" compatLnSpc="1">
            <a:noAutofit/>
          </a:bodyPr>
          <a:lstStyle/>
          <a:p>
            <a:pPr marL="462280">
              <a:lnSpc>
                <a:spcPct val="100000"/>
              </a:lnSpc>
              <a:defRPr/>
            </a:pPr>
            <a:r>
              <a:rPr lang="en-US" altLang="en-US" sz="3000" dirty="0">
                <a:solidFill>
                  <a:srgbClr val="99235E"/>
                </a:solidFill>
                <a:cs typeface="Times New Roman" panose="02020603050405020304" pitchFamily="18" charset="0"/>
              </a:rPr>
              <a:t>Types of Accounting Research</a:t>
            </a:r>
          </a:p>
        </p:txBody>
      </p:sp>
      <p:sp>
        <p:nvSpPr>
          <p:cNvPr id="3" name="Slide Number Placeholder 2">
            <a:extLst>
              <a:ext uri="{FF2B5EF4-FFF2-40B4-BE49-F238E27FC236}">
                <a16:creationId xmlns:a16="http://schemas.microsoft.com/office/drawing/2014/main" id="{929EA5A9-0845-4703-8043-41B25C7AF8FC}"/>
              </a:ext>
            </a:extLst>
          </p:cNvPr>
          <p:cNvSpPr>
            <a:spLocks noGrp="1"/>
          </p:cNvSpPr>
          <p:nvPr>
            <p:ph type="sldNum" sz="quarter" idx="2"/>
          </p:nvPr>
        </p:nvSpPr>
        <p:spPr/>
        <p:txBody>
          <a:bodyPr/>
          <a:lstStyle/>
          <a:p>
            <a:fld id="{86CB4B4D-7CA3-9044-876B-883B54F8677D}" type="slidenum">
              <a:rPr lang="en-US" smtClean="0"/>
              <a:t>2</a:t>
            </a:fld>
            <a:endParaRPr lang="en-US"/>
          </a:p>
        </p:txBody>
      </p:sp>
      <p:graphicFrame>
        <p:nvGraphicFramePr>
          <p:cNvPr id="7" name="Content Placeholder 3">
            <a:extLst>
              <a:ext uri="{FF2B5EF4-FFF2-40B4-BE49-F238E27FC236}">
                <a16:creationId xmlns:a16="http://schemas.microsoft.com/office/drawing/2014/main" id="{5A7D5001-0C12-4E95-A750-6B3D0BE9EA55}"/>
              </a:ext>
            </a:extLst>
          </p:cNvPr>
          <p:cNvGraphicFramePr>
            <a:graphicFrameLocks/>
          </p:cNvGraphicFramePr>
          <p:nvPr/>
        </p:nvGraphicFramePr>
        <p:xfrm>
          <a:off x="2423593" y="1217590"/>
          <a:ext cx="7619997" cy="4716418"/>
        </p:xfrm>
        <a:graphic>
          <a:graphicData uri="http://schemas.openxmlformats.org/drawingml/2006/table">
            <a:tbl>
              <a:tblPr/>
              <a:tblGrid>
                <a:gridCol w="1088571">
                  <a:extLst>
                    <a:ext uri="{9D8B030D-6E8A-4147-A177-3AD203B41FA5}">
                      <a16:colId xmlns:a16="http://schemas.microsoft.com/office/drawing/2014/main" val="20000"/>
                    </a:ext>
                  </a:extLst>
                </a:gridCol>
                <a:gridCol w="1088571">
                  <a:extLst>
                    <a:ext uri="{9D8B030D-6E8A-4147-A177-3AD203B41FA5}">
                      <a16:colId xmlns:a16="http://schemas.microsoft.com/office/drawing/2014/main" val="20001"/>
                    </a:ext>
                  </a:extLst>
                </a:gridCol>
                <a:gridCol w="1088571">
                  <a:extLst>
                    <a:ext uri="{9D8B030D-6E8A-4147-A177-3AD203B41FA5}">
                      <a16:colId xmlns:a16="http://schemas.microsoft.com/office/drawing/2014/main" val="20002"/>
                    </a:ext>
                  </a:extLst>
                </a:gridCol>
                <a:gridCol w="1088571">
                  <a:extLst>
                    <a:ext uri="{9D8B030D-6E8A-4147-A177-3AD203B41FA5}">
                      <a16:colId xmlns:a16="http://schemas.microsoft.com/office/drawing/2014/main" val="20003"/>
                    </a:ext>
                  </a:extLst>
                </a:gridCol>
                <a:gridCol w="1088571">
                  <a:extLst>
                    <a:ext uri="{9D8B030D-6E8A-4147-A177-3AD203B41FA5}">
                      <a16:colId xmlns:a16="http://schemas.microsoft.com/office/drawing/2014/main" val="20004"/>
                    </a:ext>
                  </a:extLst>
                </a:gridCol>
                <a:gridCol w="1088571">
                  <a:extLst>
                    <a:ext uri="{9D8B030D-6E8A-4147-A177-3AD203B41FA5}">
                      <a16:colId xmlns:a16="http://schemas.microsoft.com/office/drawing/2014/main" val="20005"/>
                    </a:ext>
                  </a:extLst>
                </a:gridCol>
                <a:gridCol w="1088571">
                  <a:extLst>
                    <a:ext uri="{9D8B030D-6E8A-4147-A177-3AD203B41FA5}">
                      <a16:colId xmlns:a16="http://schemas.microsoft.com/office/drawing/2014/main" val="20006"/>
                    </a:ext>
                  </a:extLst>
                </a:gridCol>
              </a:tblGrid>
              <a:tr h="624343">
                <a:tc>
                  <a:txBody>
                    <a:bodyPr/>
                    <a:lstStyle/>
                    <a:p>
                      <a:pPr algn="ctr"/>
                      <a:endParaRPr lang="en-US" sz="1200" dirty="0">
                        <a:solidFill>
                          <a:srgbClr val="FFFFFF"/>
                        </a:solidFill>
                        <a:effectLst/>
                        <a:latin typeface="Times New Roman" panose="02020603050405020304" pitchFamily="18" charset="0"/>
                        <a:cs typeface="Times New Roman" panose="02020603050405020304" pitchFamily="18" charset="0"/>
                      </a:endParaRP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002E62"/>
                    </a:solidFill>
                  </a:tcPr>
                </a:tc>
                <a:tc>
                  <a:txBody>
                    <a:bodyPr/>
                    <a:lstStyle/>
                    <a:p>
                      <a:pPr algn="ctr"/>
                      <a:r>
                        <a:rPr lang="en-US" sz="1200" b="1" dirty="0">
                          <a:solidFill>
                            <a:srgbClr val="FFFFFF"/>
                          </a:solidFill>
                          <a:effectLst/>
                          <a:latin typeface="Times New Roman" panose="02020603050405020304" pitchFamily="18" charset="0"/>
                          <a:cs typeface="Times New Roman" panose="02020603050405020304" pitchFamily="18" charset="0"/>
                        </a:rPr>
                        <a:t>AIS</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002E62"/>
                    </a:solidFill>
                  </a:tcPr>
                </a:tc>
                <a:tc>
                  <a:txBody>
                    <a:bodyPr/>
                    <a:lstStyle/>
                    <a:p>
                      <a:pPr algn="ctr"/>
                      <a:r>
                        <a:rPr lang="en-US" sz="1200" b="1" dirty="0">
                          <a:solidFill>
                            <a:srgbClr val="FFFFFF"/>
                          </a:solidFill>
                          <a:effectLst/>
                          <a:latin typeface="Times New Roman" panose="02020603050405020304" pitchFamily="18" charset="0"/>
                          <a:cs typeface="Times New Roman" panose="02020603050405020304" pitchFamily="18" charset="0"/>
                        </a:rPr>
                        <a:t>Audit</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002E62"/>
                    </a:solidFill>
                  </a:tcPr>
                </a:tc>
                <a:tc>
                  <a:txBody>
                    <a:bodyPr/>
                    <a:lstStyle/>
                    <a:p>
                      <a:pPr algn="ctr"/>
                      <a:r>
                        <a:rPr lang="en-US" sz="1200" b="1" dirty="0">
                          <a:solidFill>
                            <a:srgbClr val="FFFFFF"/>
                          </a:solidFill>
                          <a:effectLst/>
                          <a:latin typeface="Times New Roman" panose="02020603050405020304" pitchFamily="18" charset="0"/>
                          <a:cs typeface="Times New Roman" panose="02020603050405020304" pitchFamily="18" charset="0"/>
                        </a:rPr>
                        <a:t>Financial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002E62"/>
                    </a:solidFill>
                  </a:tcPr>
                </a:tc>
                <a:tc>
                  <a:txBody>
                    <a:bodyPr/>
                    <a:lstStyle/>
                    <a:p>
                      <a:pPr algn="ctr"/>
                      <a:r>
                        <a:rPr lang="en-US" sz="1200" b="1" dirty="0">
                          <a:solidFill>
                            <a:srgbClr val="FFFFFF"/>
                          </a:solidFill>
                          <a:effectLst/>
                          <a:latin typeface="Times New Roman" panose="02020603050405020304" pitchFamily="18" charset="0"/>
                          <a:cs typeface="Times New Roman" panose="02020603050405020304" pitchFamily="18" charset="0"/>
                        </a:rPr>
                        <a:t>Managerial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002E62"/>
                    </a:solidFill>
                  </a:tcPr>
                </a:tc>
                <a:tc>
                  <a:txBody>
                    <a:bodyPr/>
                    <a:lstStyle/>
                    <a:p>
                      <a:pPr algn="ctr"/>
                      <a:r>
                        <a:rPr lang="en-US" sz="1200" b="1" dirty="0">
                          <a:solidFill>
                            <a:srgbClr val="FFFFFF"/>
                          </a:solidFill>
                          <a:effectLst/>
                          <a:latin typeface="Times New Roman" panose="02020603050405020304" pitchFamily="18" charset="0"/>
                          <a:cs typeface="Times New Roman" panose="02020603050405020304" pitchFamily="18" charset="0"/>
                        </a:rPr>
                        <a:t>Tax</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002E62"/>
                    </a:solidFill>
                  </a:tcPr>
                </a:tc>
                <a:tc>
                  <a:txBody>
                    <a:bodyPr/>
                    <a:lstStyle/>
                    <a:p>
                      <a:pPr algn="ctr"/>
                      <a:r>
                        <a:rPr lang="en-US" sz="1200" b="1" dirty="0">
                          <a:solidFill>
                            <a:srgbClr val="FFFFFF"/>
                          </a:solidFill>
                          <a:effectLst/>
                          <a:latin typeface="Times New Roman" panose="02020603050405020304" pitchFamily="18" charset="0"/>
                          <a:cs typeface="Times New Roman" panose="02020603050405020304" pitchFamily="18" charset="0"/>
                        </a:rPr>
                        <a:t>Other Topic</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002E62"/>
                    </a:solidFill>
                  </a:tcPr>
                </a:tc>
                <a:extLst>
                  <a:ext uri="{0D108BD9-81ED-4DB2-BD59-A6C34878D82A}">
                    <a16:rowId xmlns:a16="http://schemas.microsoft.com/office/drawing/2014/main" val="10000"/>
                  </a:ext>
                </a:extLst>
              </a:tr>
              <a:tr h="869265">
                <a:tc>
                  <a:txBody>
                    <a:bodyPr/>
                    <a:lstStyle/>
                    <a:p>
                      <a:pPr algn="ctr"/>
                      <a:r>
                        <a:rPr lang="en-US" sz="1200" b="1" dirty="0">
                          <a:solidFill>
                            <a:srgbClr val="FFFFFF"/>
                          </a:solidFill>
                          <a:effectLst/>
                          <a:latin typeface="Times New Roman" panose="02020603050405020304" pitchFamily="18" charset="0"/>
                          <a:cs typeface="Times New Roman" panose="02020603050405020304" pitchFamily="18" charset="0"/>
                        </a:rPr>
                        <a:t>Analytical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002E62"/>
                    </a:solidFill>
                  </a:tcPr>
                </a:tc>
                <a:tc>
                  <a:txBody>
                    <a:bodyPr/>
                    <a:lstStyle/>
                    <a:p>
                      <a:pPr algn="ctr"/>
                      <a:r>
                        <a:rPr lang="en-US" sz="1200" dirty="0">
                          <a:solidFill>
                            <a:srgbClr val="000000"/>
                          </a:solidFill>
                          <a:effectLst/>
                          <a:latin typeface="Times New Roman" panose="02020603050405020304" pitchFamily="18" charset="0"/>
                          <a:cs typeface="Times New Roman" panose="02020603050405020304" pitchFamily="18" charset="0"/>
                        </a:rPr>
                        <a:t>AIS</a:t>
                      </a:r>
                      <a:br>
                        <a:rPr lang="en-US" sz="1200" dirty="0">
                          <a:solidFill>
                            <a:srgbClr val="000000"/>
                          </a:solidFill>
                          <a:effectLst/>
                          <a:latin typeface="Times New Roman" panose="02020603050405020304" pitchFamily="18" charset="0"/>
                          <a:cs typeface="Times New Roman" panose="02020603050405020304" pitchFamily="18" charset="0"/>
                        </a:rPr>
                      </a:br>
                      <a:r>
                        <a:rPr lang="en-US" sz="1200" dirty="0">
                          <a:solidFill>
                            <a:srgbClr val="000000"/>
                          </a:solidFill>
                          <a:effectLst/>
                          <a:latin typeface="Times New Roman" panose="02020603050405020304" pitchFamily="18" charset="0"/>
                          <a:cs typeface="Times New Roman" panose="02020603050405020304" pitchFamily="18" charset="0"/>
                        </a:rPr>
                        <a:t>Analytic</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dirty="0">
                          <a:solidFill>
                            <a:srgbClr val="000000"/>
                          </a:solidFill>
                          <a:effectLst/>
                          <a:latin typeface="Times New Roman" panose="02020603050405020304" pitchFamily="18" charset="0"/>
                          <a:cs typeface="Times New Roman" panose="02020603050405020304" pitchFamily="18" charset="0"/>
                        </a:rPr>
                        <a:t>Audit</a:t>
                      </a:r>
                      <a:br>
                        <a:rPr lang="en-US" sz="1200" dirty="0">
                          <a:solidFill>
                            <a:srgbClr val="000000"/>
                          </a:solidFill>
                          <a:effectLst/>
                          <a:latin typeface="Times New Roman" panose="02020603050405020304" pitchFamily="18" charset="0"/>
                          <a:cs typeface="Times New Roman" panose="02020603050405020304" pitchFamily="18" charset="0"/>
                        </a:rPr>
                      </a:br>
                      <a:r>
                        <a:rPr lang="en-US" sz="1200" dirty="0">
                          <a:solidFill>
                            <a:srgbClr val="000000"/>
                          </a:solidFill>
                          <a:effectLst/>
                          <a:latin typeface="Times New Roman" panose="02020603050405020304" pitchFamily="18" charset="0"/>
                          <a:cs typeface="Times New Roman" panose="02020603050405020304" pitchFamily="18" charset="0"/>
                        </a:rPr>
                        <a:t>Analytic</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b="1" dirty="0">
                          <a:solidFill>
                            <a:srgbClr val="000000"/>
                          </a:solidFill>
                          <a:effectLst/>
                          <a:latin typeface="Times New Roman" panose="02020603050405020304" pitchFamily="18" charset="0"/>
                          <a:cs typeface="Times New Roman" panose="02020603050405020304" pitchFamily="18" charset="0"/>
                        </a:rPr>
                        <a:t>Financial</a:t>
                      </a:r>
                      <a:br>
                        <a:rPr lang="en-US" sz="1200" b="1" dirty="0">
                          <a:solidFill>
                            <a:srgbClr val="000000"/>
                          </a:solidFill>
                          <a:effectLst/>
                          <a:latin typeface="Times New Roman" panose="02020603050405020304" pitchFamily="18" charset="0"/>
                          <a:cs typeface="Times New Roman" panose="02020603050405020304" pitchFamily="18" charset="0"/>
                        </a:rPr>
                      </a:br>
                      <a:r>
                        <a:rPr lang="en-US" sz="1200" b="1" dirty="0">
                          <a:solidFill>
                            <a:srgbClr val="000000"/>
                          </a:solidFill>
                          <a:effectLst/>
                          <a:latin typeface="Times New Roman" panose="02020603050405020304" pitchFamily="18" charset="0"/>
                          <a:cs typeface="Times New Roman" panose="02020603050405020304" pitchFamily="18" charset="0"/>
                        </a:rPr>
                        <a:t>Analytic</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dirty="0">
                          <a:solidFill>
                            <a:srgbClr val="000000"/>
                          </a:solidFill>
                          <a:effectLst/>
                          <a:latin typeface="Times New Roman" panose="02020603050405020304" pitchFamily="18" charset="0"/>
                          <a:cs typeface="Times New Roman" panose="02020603050405020304" pitchFamily="18" charset="0"/>
                        </a:rPr>
                        <a:t>Managerial</a:t>
                      </a:r>
                      <a:br>
                        <a:rPr lang="en-US" sz="1200" dirty="0">
                          <a:solidFill>
                            <a:srgbClr val="000000"/>
                          </a:solidFill>
                          <a:effectLst/>
                          <a:latin typeface="Times New Roman" panose="02020603050405020304" pitchFamily="18" charset="0"/>
                          <a:cs typeface="Times New Roman" panose="02020603050405020304" pitchFamily="18" charset="0"/>
                        </a:rPr>
                      </a:br>
                      <a:r>
                        <a:rPr lang="en-US" sz="1200" dirty="0">
                          <a:solidFill>
                            <a:srgbClr val="000000"/>
                          </a:solidFill>
                          <a:effectLst/>
                          <a:latin typeface="Times New Roman" panose="02020603050405020304" pitchFamily="18" charset="0"/>
                          <a:cs typeface="Times New Roman" panose="02020603050405020304" pitchFamily="18" charset="0"/>
                        </a:rPr>
                        <a:t>Analytic</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a:solidFill>
                            <a:srgbClr val="000000"/>
                          </a:solidFill>
                          <a:effectLst/>
                          <a:latin typeface="Times New Roman" panose="02020603050405020304" pitchFamily="18" charset="0"/>
                          <a:cs typeface="Times New Roman" panose="02020603050405020304" pitchFamily="18" charset="0"/>
                        </a:rPr>
                        <a:t>Tax</a:t>
                      </a:r>
                      <a:br>
                        <a:rPr lang="en-US" sz="1200">
                          <a:solidFill>
                            <a:srgbClr val="000000"/>
                          </a:solidFill>
                          <a:effectLst/>
                          <a:latin typeface="Times New Roman" panose="02020603050405020304" pitchFamily="18" charset="0"/>
                          <a:cs typeface="Times New Roman" panose="02020603050405020304" pitchFamily="18" charset="0"/>
                        </a:rPr>
                      </a:br>
                      <a:r>
                        <a:rPr lang="en-US" sz="1200">
                          <a:solidFill>
                            <a:srgbClr val="000000"/>
                          </a:solidFill>
                          <a:effectLst/>
                          <a:latin typeface="Times New Roman" panose="02020603050405020304" pitchFamily="18" charset="0"/>
                          <a:cs typeface="Times New Roman" panose="02020603050405020304" pitchFamily="18" charset="0"/>
                        </a:rPr>
                        <a:t>Analytic</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a:solidFill>
                            <a:srgbClr val="000000"/>
                          </a:solidFill>
                          <a:effectLst/>
                          <a:latin typeface="Times New Roman" panose="02020603050405020304" pitchFamily="18" charset="0"/>
                          <a:cs typeface="Times New Roman" panose="02020603050405020304" pitchFamily="18" charset="0"/>
                        </a:rPr>
                        <a:t>Other</a:t>
                      </a:r>
                      <a:br>
                        <a:rPr lang="en-US" sz="1200">
                          <a:solidFill>
                            <a:srgbClr val="000000"/>
                          </a:solidFill>
                          <a:effectLst/>
                          <a:latin typeface="Times New Roman" panose="02020603050405020304" pitchFamily="18" charset="0"/>
                          <a:cs typeface="Times New Roman" panose="02020603050405020304" pitchFamily="18" charset="0"/>
                        </a:rPr>
                      </a:br>
                      <a:r>
                        <a:rPr lang="en-US" sz="1200">
                          <a:solidFill>
                            <a:srgbClr val="000000"/>
                          </a:solidFill>
                          <a:effectLst/>
                          <a:latin typeface="Times New Roman" panose="02020603050405020304" pitchFamily="18" charset="0"/>
                          <a:cs typeface="Times New Roman" panose="02020603050405020304" pitchFamily="18" charset="0"/>
                        </a:rPr>
                        <a:t>Analytic</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extLst>
                  <a:ext uri="{0D108BD9-81ED-4DB2-BD59-A6C34878D82A}">
                    <a16:rowId xmlns:a16="http://schemas.microsoft.com/office/drawing/2014/main" val="10001"/>
                  </a:ext>
                </a:extLst>
              </a:tr>
              <a:tr h="869265">
                <a:tc>
                  <a:txBody>
                    <a:bodyPr/>
                    <a:lstStyle/>
                    <a:p>
                      <a:pPr algn="ctr"/>
                      <a:r>
                        <a:rPr lang="en-US" sz="1200" b="1" dirty="0">
                          <a:solidFill>
                            <a:srgbClr val="FFFFFF"/>
                          </a:solidFill>
                          <a:effectLst/>
                          <a:latin typeface="Times New Roman" panose="02020603050405020304" pitchFamily="18" charset="0"/>
                          <a:cs typeface="Times New Roman" panose="02020603050405020304" pitchFamily="18" charset="0"/>
                        </a:rPr>
                        <a:t>Archival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002E62"/>
                    </a:solidFill>
                  </a:tcPr>
                </a:tc>
                <a:tc>
                  <a:txBody>
                    <a:bodyPr/>
                    <a:lstStyle/>
                    <a:p>
                      <a:pPr algn="ctr"/>
                      <a:r>
                        <a:rPr lang="en-US" sz="1200" dirty="0">
                          <a:solidFill>
                            <a:srgbClr val="000000"/>
                          </a:solidFill>
                          <a:effectLst/>
                          <a:latin typeface="Times New Roman" panose="02020603050405020304" pitchFamily="18" charset="0"/>
                          <a:cs typeface="Times New Roman" panose="02020603050405020304" pitchFamily="18" charset="0"/>
                        </a:rPr>
                        <a:t>AIS</a:t>
                      </a:r>
                      <a:br>
                        <a:rPr lang="en-US" sz="1200" dirty="0">
                          <a:solidFill>
                            <a:srgbClr val="000000"/>
                          </a:solidFill>
                          <a:effectLst/>
                          <a:latin typeface="Times New Roman" panose="02020603050405020304" pitchFamily="18" charset="0"/>
                          <a:cs typeface="Times New Roman" panose="02020603050405020304" pitchFamily="18" charset="0"/>
                        </a:rPr>
                      </a:br>
                      <a:r>
                        <a:rPr lang="en-US" sz="1200" dirty="0">
                          <a:solidFill>
                            <a:srgbClr val="000000"/>
                          </a:solidFill>
                          <a:effectLst/>
                          <a:latin typeface="Times New Roman" panose="02020603050405020304" pitchFamily="18" charset="0"/>
                          <a:cs typeface="Times New Roman" panose="02020603050405020304" pitchFamily="18" charset="0"/>
                        </a:rPr>
                        <a:t>Archival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dirty="0">
                          <a:solidFill>
                            <a:srgbClr val="000000"/>
                          </a:solidFill>
                          <a:effectLst/>
                          <a:latin typeface="Times New Roman" panose="02020603050405020304" pitchFamily="18" charset="0"/>
                          <a:cs typeface="Times New Roman" panose="02020603050405020304" pitchFamily="18" charset="0"/>
                        </a:rPr>
                        <a:t>Audit</a:t>
                      </a:r>
                      <a:br>
                        <a:rPr lang="en-US" sz="1200" dirty="0">
                          <a:solidFill>
                            <a:srgbClr val="000000"/>
                          </a:solidFill>
                          <a:effectLst/>
                          <a:latin typeface="Times New Roman" panose="02020603050405020304" pitchFamily="18" charset="0"/>
                          <a:cs typeface="Times New Roman" panose="02020603050405020304" pitchFamily="18" charset="0"/>
                        </a:rPr>
                      </a:br>
                      <a:r>
                        <a:rPr lang="en-US" sz="1200" dirty="0">
                          <a:solidFill>
                            <a:srgbClr val="000000"/>
                          </a:solidFill>
                          <a:effectLst/>
                          <a:latin typeface="Times New Roman" panose="02020603050405020304" pitchFamily="18" charset="0"/>
                          <a:cs typeface="Times New Roman" panose="02020603050405020304" pitchFamily="18" charset="0"/>
                        </a:rPr>
                        <a:t>Archival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800" b="1" dirty="0">
                          <a:solidFill>
                            <a:schemeClr val="tx1"/>
                          </a:solidFill>
                          <a:effectLst/>
                          <a:latin typeface="Times New Roman" panose="02020603050405020304" pitchFamily="18" charset="0"/>
                          <a:cs typeface="Times New Roman" panose="02020603050405020304" pitchFamily="18" charset="0"/>
                        </a:rPr>
                        <a:t>Financial</a:t>
                      </a:r>
                      <a:br>
                        <a:rPr lang="en-US" sz="1800" b="1" dirty="0">
                          <a:solidFill>
                            <a:schemeClr val="tx1"/>
                          </a:solidFill>
                          <a:effectLst/>
                          <a:latin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cs typeface="Times New Roman" panose="02020603050405020304" pitchFamily="18" charset="0"/>
                        </a:rPr>
                        <a:t>Archival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dirty="0">
                          <a:solidFill>
                            <a:srgbClr val="000000"/>
                          </a:solidFill>
                          <a:effectLst/>
                          <a:latin typeface="Times New Roman" panose="02020603050405020304" pitchFamily="18" charset="0"/>
                          <a:cs typeface="Times New Roman" panose="02020603050405020304" pitchFamily="18" charset="0"/>
                        </a:rPr>
                        <a:t>Managerial</a:t>
                      </a:r>
                      <a:br>
                        <a:rPr lang="en-US" sz="1200" dirty="0">
                          <a:solidFill>
                            <a:srgbClr val="000000"/>
                          </a:solidFill>
                          <a:effectLst/>
                          <a:latin typeface="Times New Roman" panose="02020603050405020304" pitchFamily="18" charset="0"/>
                          <a:cs typeface="Times New Roman" panose="02020603050405020304" pitchFamily="18" charset="0"/>
                        </a:rPr>
                      </a:br>
                      <a:r>
                        <a:rPr lang="en-US" sz="1200" dirty="0">
                          <a:solidFill>
                            <a:srgbClr val="000000"/>
                          </a:solidFill>
                          <a:effectLst/>
                          <a:latin typeface="Times New Roman" panose="02020603050405020304" pitchFamily="18" charset="0"/>
                          <a:cs typeface="Times New Roman" panose="02020603050405020304" pitchFamily="18" charset="0"/>
                        </a:rPr>
                        <a:t>Archival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dirty="0">
                          <a:solidFill>
                            <a:srgbClr val="000000"/>
                          </a:solidFill>
                          <a:effectLst/>
                          <a:latin typeface="Times New Roman" panose="02020603050405020304" pitchFamily="18" charset="0"/>
                          <a:cs typeface="Times New Roman" panose="02020603050405020304" pitchFamily="18" charset="0"/>
                        </a:rPr>
                        <a:t>Tax</a:t>
                      </a:r>
                      <a:br>
                        <a:rPr lang="en-US" sz="1200" dirty="0">
                          <a:solidFill>
                            <a:srgbClr val="000000"/>
                          </a:solidFill>
                          <a:effectLst/>
                          <a:latin typeface="Times New Roman" panose="02020603050405020304" pitchFamily="18" charset="0"/>
                          <a:cs typeface="Times New Roman" panose="02020603050405020304" pitchFamily="18" charset="0"/>
                        </a:rPr>
                      </a:br>
                      <a:r>
                        <a:rPr lang="en-US" sz="1200" dirty="0">
                          <a:solidFill>
                            <a:srgbClr val="000000"/>
                          </a:solidFill>
                          <a:effectLst/>
                          <a:latin typeface="Times New Roman" panose="02020603050405020304" pitchFamily="18" charset="0"/>
                          <a:cs typeface="Times New Roman" panose="02020603050405020304" pitchFamily="18" charset="0"/>
                        </a:rPr>
                        <a:t>Archival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b="1" dirty="0">
                          <a:solidFill>
                            <a:srgbClr val="000000"/>
                          </a:solidFill>
                          <a:effectLst/>
                          <a:latin typeface="Times New Roman" panose="02020603050405020304" pitchFamily="18" charset="0"/>
                          <a:cs typeface="Times New Roman" panose="02020603050405020304" pitchFamily="18" charset="0"/>
                        </a:rPr>
                        <a:t>Other</a:t>
                      </a:r>
                      <a:br>
                        <a:rPr lang="en-US" sz="1200" b="1" dirty="0">
                          <a:solidFill>
                            <a:srgbClr val="000000"/>
                          </a:solidFill>
                          <a:effectLst/>
                          <a:latin typeface="Times New Roman" panose="02020603050405020304" pitchFamily="18" charset="0"/>
                          <a:cs typeface="Times New Roman" panose="02020603050405020304" pitchFamily="18" charset="0"/>
                        </a:rPr>
                      </a:br>
                      <a:r>
                        <a:rPr lang="en-US" sz="1200" b="1" dirty="0">
                          <a:solidFill>
                            <a:srgbClr val="000000"/>
                          </a:solidFill>
                          <a:effectLst/>
                          <a:latin typeface="Times New Roman" panose="02020603050405020304" pitchFamily="18" charset="0"/>
                          <a:cs typeface="Times New Roman" panose="02020603050405020304" pitchFamily="18" charset="0"/>
                        </a:rPr>
                        <a:t>Archival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extLst>
                  <a:ext uri="{0D108BD9-81ED-4DB2-BD59-A6C34878D82A}">
                    <a16:rowId xmlns:a16="http://schemas.microsoft.com/office/drawing/2014/main" val="10002"/>
                  </a:ext>
                </a:extLst>
              </a:tr>
              <a:tr h="1114187">
                <a:tc>
                  <a:txBody>
                    <a:bodyPr/>
                    <a:lstStyle/>
                    <a:p>
                      <a:pPr algn="ctr"/>
                      <a:r>
                        <a:rPr lang="en-US" sz="1200" b="1" dirty="0">
                          <a:solidFill>
                            <a:srgbClr val="FFFFFF"/>
                          </a:solidFill>
                          <a:effectLst/>
                          <a:latin typeface="Times New Roman" panose="02020603050405020304" pitchFamily="18" charset="0"/>
                          <a:cs typeface="Times New Roman" panose="02020603050405020304" pitchFamily="18" charset="0"/>
                        </a:rPr>
                        <a:t>Experimental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002E62"/>
                    </a:solidFill>
                  </a:tcPr>
                </a:tc>
                <a:tc>
                  <a:txBody>
                    <a:bodyPr/>
                    <a:lstStyle/>
                    <a:p>
                      <a:pPr algn="ctr"/>
                      <a:r>
                        <a:rPr lang="en-US" sz="1200">
                          <a:solidFill>
                            <a:srgbClr val="000000"/>
                          </a:solidFill>
                          <a:effectLst/>
                          <a:latin typeface="Times New Roman" panose="02020603050405020304" pitchFamily="18" charset="0"/>
                          <a:cs typeface="Times New Roman" panose="02020603050405020304" pitchFamily="18" charset="0"/>
                        </a:rPr>
                        <a:t>AIS</a:t>
                      </a:r>
                      <a:br>
                        <a:rPr lang="en-US" sz="1200">
                          <a:solidFill>
                            <a:srgbClr val="000000"/>
                          </a:solidFill>
                          <a:effectLst/>
                          <a:latin typeface="Times New Roman" panose="02020603050405020304" pitchFamily="18" charset="0"/>
                          <a:cs typeface="Times New Roman" panose="02020603050405020304" pitchFamily="18" charset="0"/>
                        </a:rPr>
                      </a:br>
                      <a:r>
                        <a:rPr lang="en-US" sz="1200">
                          <a:solidFill>
                            <a:srgbClr val="000000"/>
                          </a:solidFill>
                          <a:effectLst/>
                          <a:latin typeface="Times New Roman" panose="02020603050405020304" pitchFamily="18" charset="0"/>
                          <a:cs typeface="Times New Roman" panose="02020603050405020304" pitchFamily="18" charset="0"/>
                        </a:rPr>
                        <a:t>Experimental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a:solidFill>
                            <a:srgbClr val="000000"/>
                          </a:solidFill>
                          <a:effectLst/>
                          <a:latin typeface="Times New Roman" panose="02020603050405020304" pitchFamily="18" charset="0"/>
                          <a:cs typeface="Times New Roman" panose="02020603050405020304" pitchFamily="18" charset="0"/>
                        </a:rPr>
                        <a:t>Audit</a:t>
                      </a:r>
                      <a:br>
                        <a:rPr lang="en-US" sz="1200">
                          <a:solidFill>
                            <a:srgbClr val="000000"/>
                          </a:solidFill>
                          <a:effectLst/>
                          <a:latin typeface="Times New Roman" panose="02020603050405020304" pitchFamily="18" charset="0"/>
                          <a:cs typeface="Times New Roman" panose="02020603050405020304" pitchFamily="18" charset="0"/>
                        </a:rPr>
                      </a:br>
                      <a:r>
                        <a:rPr lang="en-US" sz="1200">
                          <a:solidFill>
                            <a:srgbClr val="000000"/>
                          </a:solidFill>
                          <a:effectLst/>
                          <a:latin typeface="Times New Roman" panose="02020603050405020304" pitchFamily="18" charset="0"/>
                          <a:cs typeface="Times New Roman" panose="02020603050405020304" pitchFamily="18" charset="0"/>
                        </a:rPr>
                        <a:t>Experimental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dirty="0">
                          <a:solidFill>
                            <a:srgbClr val="000000"/>
                          </a:solidFill>
                          <a:effectLst/>
                          <a:latin typeface="Times New Roman" panose="02020603050405020304" pitchFamily="18" charset="0"/>
                          <a:cs typeface="Times New Roman" panose="02020603050405020304" pitchFamily="18" charset="0"/>
                        </a:rPr>
                        <a:t>Financial</a:t>
                      </a:r>
                      <a:br>
                        <a:rPr lang="en-US" sz="1200" dirty="0">
                          <a:solidFill>
                            <a:srgbClr val="000000"/>
                          </a:solidFill>
                          <a:effectLst/>
                          <a:latin typeface="Times New Roman" panose="02020603050405020304" pitchFamily="18" charset="0"/>
                          <a:cs typeface="Times New Roman" panose="02020603050405020304" pitchFamily="18" charset="0"/>
                        </a:rPr>
                      </a:br>
                      <a:r>
                        <a:rPr lang="en-US" sz="1200" dirty="0">
                          <a:solidFill>
                            <a:srgbClr val="000000"/>
                          </a:solidFill>
                          <a:effectLst/>
                          <a:latin typeface="Times New Roman" panose="02020603050405020304" pitchFamily="18" charset="0"/>
                          <a:cs typeface="Times New Roman" panose="02020603050405020304" pitchFamily="18" charset="0"/>
                        </a:rPr>
                        <a:t>Experimental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dirty="0">
                          <a:solidFill>
                            <a:srgbClr val="000000"/>
                          </a:solidFill>
                          <a:effectLst/>
                          <a:latin typeface="Times New Roman" panose="02020603050405020304" pitchFamily="18" charset="0"/>
                          <a:cs typeface="Times New Roman" panose="02020603050405020304" pitchFamily="18" charset="0"/>
                        </a:rPr>
                        <a:t>Managerial</a:t>
                      </a:r>
                      <a:br>
                        <a:rPr lang="en-US" sz="1200" dirty="0">
                          <a:solidFill>
                            <a:srgbClr val="000000"/>
                          </a:solidFill>
                          <a:effectLst/>
                          <a:latin typeface="Times New Roman" panose="02020603050405020304" pitchFamily="18" charset="0"/>
                          <a:cs typeface="Times New Roman" panose="02020603050405020304" pitchFamily="18" charset="0"/>
                        </a:rPr>
                      </a:br>
                      <a:r>
                        <a:rPr lang="en-US" sz="1200" dirty="0">
                          <a:solidFill>
                            <a:srgbClr val="000000"/>
                          </a:solidFill>
                          <a:effectLst/>
                          <a:latin typeface="Times New Roman" panose="02020603050405020304" pitchFamily="18" charset="0"/>
                          <a:cs typeface="Times New Roman" panose="02020603050405020304" pitchFamily="18" charset="0"/>
                        </a:rPr>
                        <a:t>Experimental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dirty="0">
                          <a:solidFill>
                            <a:srgbClr val="000000"/>
                          </a:solidFill>
                          <a:effectLst/>
                          <a:latin typeface="Times New Roman" panose="02020603050405020304" pitchFamily="18" charset="0"/>
                          <a:cs typeface="Times New Roman" panose="02020603050405020304" pitchFamily="18" charset="0"/>
                        </a:rPr>
                        <a:t>Tax</a:t>
                      </a:r>
                      <a:br>
                        <a:rPr lang="en-US" sz="1200" dirty="0">
                          <a:solidFill>
                            <a:srgbClr val="000000"/>
                          </a:solidFill>
                          <a:effectLst/>
                          <a:latin typeface="Times New Roman" panose="02020603050405020304" pitchFamily="18" charset="0"/>
                          <a:cs typeface="Times New Roman" panose="02020603050405020304" pitchFamily="18" charset="0"/>
                        </a:rPr>
                      </a:br>
                      <a:r>
                        <a:rPr lang="en-US" sz="1200" dirty="0">
                          <a:solidFill>
                            <a:srgbClr val="000000"/>
                          </a:solidFill>
                          <a:effectLst/>
                          <a:latin typeface="Times New Roman" panose="02020603050405020304" pitchFamily="18" charset="0"/>
                          <a:cs typeface="Times New Roman" panose="02020603050405020304" pitchFamily="18" charset="0"/>
                        </a:rPr>
                        <a:t>Experimental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dirty="0">
                          <a:solidFill>
                            <a:srgbClr val="000000"/>
                          </a:solidFill>
                          <a:effectLst/>
                          <a:latin typeface="Times New Roman" panose="02020603050405020304" pitchFamily="18" charset="0"/>
                          <a:cs typeface="Times New Roman" panose="02020603050405020304" pitchFamily="18" charset="0"/>
                        </a:rPr>
                        <a:t>Other</a:t>
                      </a:r>
                      <a:br>
                        <a:rPr lang="en-US" sz="1200" dirty="0">
                          <a:solidFill>
                            <a:srgbClr val="000000"/>
                          </a:solidFill>
                          <a:effectLst/>
                          <a:latin typeface="Times New Roman" panose="02020603050405020304" pitchFamily="18" charset="0"/>
                          <a:cs typeface="Times New Roman" panose="02020603050405020304" pitchFamily="18" charset="0"/>
                        </a:rPr>
                      </a:br>
                      <a:r>
                        <a:rPr lang="en-US" sz="1200" dirty="0">
                          <a:solidFill>
                            <a:srgbClr val="000000"/>
                          </a:solidFill>
                          <a:effectLst/>
                          <a:latin typeface="Times New Roman" panose="02020603050405020304" pitchFamily="18" charset="0"/>
                          <a:cs typeface="Times New Roman" panose="02020603050405020304" pitchFamily="18" charset="0"/>
                        </a:rPr>
                        <a:t>Experimental</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extLst>
                  <a:ext uri="{0D108BD9-81ED-4DB2-BD59-A6C34878D82A}">
                    <a16:rowId xmlns:a16="http://schemas.microsoft.com/office/drawing/2014/main" val="10003"/>
                  </a:ext>
                </a:extLst>
              </a:tr>
              <a:tr h="1239358">
                <a:tc>
                  <a:txBody>
                    <a:bodyPr/>
                    <a:lstStyle/>
                    <a:p>
                      <a:pPr algn="ctr"/>
                      <a:r>
                        <a:rPr lang="en-US" sz="1200" b="1" dirty="0">
                          <a:solidFill>
                            <a:srgbClr val="FFFFFF"/>
                          </a:solidFill>
                          <a:effectLst/>
                          <a:latin typeface="Times New Roman" panose="02020603050405020304" pitchFamily="18" charset="0"/>
                          <a:cs typeface="Times New Roman" panose="02020603050405020304" pitchFamily="18" charset="0"/>
                        </a:rPr>
                        <a:t>Other Method</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002E62"/>
                    </a:solidFill>
                  </a:tcPr>
                </a:tc>
                <a:tc>
                  <a:txBody>
                    <a:bodyPr/>
                    <a:lstStyle/>
                    <a:p>
                      <a:pPr algn="ctr"/>
                      <a:r>
                        <a:rPr lang="en-US" sz="1200">
                          <a:solidFill>
                            <a:srgbClr val="000000"/>
                          </a:solidFill>
                          <a:effectLst/>
                          <a:latin typeface="Times New Roman" panose="02020603050405020304" pitchFamily="18" charset="0"/>
                          <a:cs typeface="Times New Roman" panose="02020603050405020304" pitchFamily="18" charset="0"/>
                        </a:rPr>
                        <a:t>AIS</a:t>
                      </a:r>
                      <a:br>
                        <a:rPr lang="en-US" sz="1200">
                          <a:solidFill>
                            <a:srgbClr val="000000"/>
                          </a:solidFill>
                          <a:effectLst/>
                          <a:latin typeface="Times New Roman" panose="02020603050405020304" pitchFamily="18" charset="0"/>
                          <a:cs typeface="Times New Roman" panose="02020603050405020304" pitchFamily="18" charset="0"/>
                        </a:rPr>
                      </a:br>
                      <a:r>
                        <a:rPr lang="en-US" sz="1200">
                          <a:solidFill>
                            <a:srgbClr val="000000"/>
                          </a:solidFill>
                          <a:effectLst/>
                          <a:latin typeface="Times New Roman" panose="02020603050405020304" pitchFamily="18" charset="0"/>
                          <a:cs typeface="Times New Roman" panose="02020603050405020304" pitchFamily="18" charset="0"/>
                        </a:rPr>
                        <a:t>Other</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a:solidFill>
                            <a:srgbClr val="000000"/>
                          </a:solidFill>
                          <a:effectLst/>
                          <a:latin typeface="Times New Roman" panose="02020603050405020304" pitchFamily="18" charset="0"/>
                          <a:cs typeface="Times New Roman" panose="02020603050405020304" pitchFamily="18" charset="0"/>
                        </a:rPr>
                        <a:t>Audit</a:t>
                      </a:r>
                      <a:br>
                        <a:rPr lang="en-US" sz="1200">
                          <a:solidFill>
                            <a:srgbClr val="000000"/>
                          </a:solidFill>
                          <a:effectLst/>
                          <a:latin typeface="Times New Roman" panose="02020603050405020304" pitchFamily="18" charset="0"/>
                          <a:cs typeface="Times New Roman" panose="02020603050405020304" pitchFamily="18" charset="0"/>
                        </a:rPr>
                      </a:br>
                      <a:r>
                        <a:rPr lang="en-US" sz="1200">
                          <a:solidFill>
                            <a:srgbClr val="000000"/>
                          </a:solidFill>
                          <a:effectLst/>
                          <a:latin typeface="Times New Roman" panose="02020603050405020304" pitchFamily="18" charset="0"/>
                          <a:cs typeface="Times New Roman" panose="02020603050405020304" pitchFamily="18" charset="0"/>
                        </a:rPr>
                        <a:t>Other</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a:solidFill>
                            <a:srgbClr val="000000"/>
                          </a:solidFill>
                          <a:effectLst/>
                          <a:latin typeface="Times New Roman" panose="02020603050405020304" pitchFamily="18" charset="0"/>
                          <a:cs typeface="Times New Roman" panose="02020603050405020304" pitchFamily="18" charset="0"/>
                        </a:rPr>
                        <a:t>Financial</a:t>
                      </a:r>
                      <a:br>
                        <a:rPr lang="en-US" sz="1200">
                          <a:solidFill>
                            <a:srgbClr val="000000"/>
                          </a:solidFill>
                          <a:effectLst/>
                          <a:latin typeface="Times New Roman" panose="02020603050405020304" pitchFamily="18" charset="0"/>
                          <a:cs typeface="Times New Roman" panose="02020603050405020304" pitchFamily="18" charset="0"/>
                        </a:rPr>
                      </a:br>
                      <a:r>
                        <a:rPr lang="en-US" sz="1200">
                          <a:solidFill>
                            <a:srgbClr val="000000"/>
                          </a:solidFill>
                          <a:effectLst/>
                          <a:latin typeface="Times New Roman" panose="02020603050405020304" pitchFamily="18" charset="0"/>
                          <a:cs typeface="Times New Roman" panose="02020603050405020304" pitchFamily="18" charset="0"/>
                        </a:rPr>
                        <a:t>Other</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a:solidFill>
                            <a:srgbClr val="000000"/>
                          </a:solidFill>
                          <a:effectLst/>
                          <a:latin typeface="Times New Roman" panose="02020603050405020304" pitchFamily="18" charset="0"/>
                          <a:cs typeface="Times New Roman" panose="02020603050405020304" pitchFamily="18" charset="0"/>
                        </a:rPr>
                        <a:t>Managerial</a:t>
                      </a:r>
                      <a:br>
                        <a:rPr lang="en-US" sz="1200">
                          <a:solidFill>
                            <a:srgbClr val="000000"/>
                          </a:solidFill>
                          <a:effectLst/>
                          <a:latin typeface="Times New Roman" panose="02020603050405020304" pitchFamily="18" charset="0"/>
                          <a:cs typeface="Times New Roman" panose="02020603050405020304" pitchFamily="18" charset="0"/>
                        </a:rPr>
                      </a:br>
                      <a:r>
                        <a:rPr lang="en-US" sz="1200">
                          <a:solidFill>
                            <a:srgbClr val="000000"/>
                          </a:solidFill>
                          <a:effectLst/>
                          <a:latin typeface="Times New Roman" panose="02020603050405020304" pitchFamily="18" charset="0"/>
                          <a:cs typeface="Times New Roman" panose="02020603050405020304" pitchFamily="18" charset="0"/>
                        </a:rPr>
                        <a:t>Other</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dirty="0">
                          <a:solidFill>
                            <a:srgbClr val="000000"/>
                          </a:solidFill>
                          <a:effectLst/>
                          <a:latin typeface="Times New Roman" panose="02020603050405020304" pitchFamily="18" charset="0"/>
                          <a:cs typeface="Times New Roman" panose="02020603050405020304" pitchFamily="18" charset="0"/>
                        </a:rPr>
                        <a:t>Tax</a:t>
                      </a:r>
                      <a:br>
                        <a:rPr lang="en-US" sz="1200" dirty="0">
                          <a:solidFill>
                            <a:srgbClr val="000000"/>
                          </a:solidFill>
                          <a:effectLst/>
                          <a:latin typeface="Times New Roman" panose="02020603050405020304" pitchFamily="18" charset="0"/>
                          <a:cs typeface="Times New Roman" panose="02020603050405020304" pitchFamily="18" charset="0"/>
                        </a:rPr>
                      </a:br>
                      <a:r>
                        <a:rPr lang="en-US" sz="1200" dirty="0">
                          <a:solidFill>
                            <a:srgbClr val="000000"/>
                          </a:solidFill>
                          <a:effectLst/>
                          <a:latin typeface="Times New Roman" panose="02020603050405020304" pitchFamily="18" charset="0"/>
                          <a:cs typeface="Times New Roman" panose="02020603050405020304" pitchFamily="18" charset="0"/>
                        </a:rPr>
                        <a:t>Other</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tc>
                  <a:txBody>
                    <a:bodyPr/>
                    <a:lstStyle/>
                    <a:p>
                      <a:pPr algn="ctr"/>
                      <a:r>
                        <a:rPr lang="en-US" sz="1200" dirty="0">
                          <a:solidFill>
                            <a:srgbClr val="000000"/>
                          </a:solidFill>
                          <a:effectLst/>
                          <a:latin typeface="Times New Roman" panose="02020603050405020304" pitchFamily="18" charset="0"/>
                          <a:cs typeface="Times New Roman" panose="02020603050405020304" pitchFamily="18" charset="0"/>
                        </a:rPr>
                        <a:t>Other Topic</a:t>
                      </a:r>
                      <a:br>
                        <a:rPr lang="en-US" sz="1200" dirty="0">
                          <a:solidFill>
                            <a:srgbClr val="000000"/>
                          </a:solidFill>
                          <a:effectLst/>
                          <a:latin typeface="Times New Roman" panose="02020603050405020304" pitchFamily="18" charset="0"/>
                          <a:cs typeface="Times New Roman" panose="02020603050405020304" pitchFamily="18" charset="0"/>
                        </a:rPr>
                      </a:br>
                      <a:r>
                        <a:rPr lang="en-US" sz="1200" dirty="0">
                          <a:solidFill>
                            <a:srgbClr val="000000"/>
                          </a:solidFill>
                          <a:effectLst/>
                          <a:latin typeface="Times New Roman" panose="02020603050405020304" pitchFamily="18" charset="0"/>
                          <a:cs typeface="Times New Roman" panose="02020603050405020304" pitchFamily="18" charset="0"/>
                        </a:rPr>
                        <a:t>Other Method</a:t>
                      </a:r>
                    </a:p>
                  </a:txBody>
                  <a:tcPr marL="66952" marR="66952" marT="66952" marB="66952" anchor="ctr">
                    <a:lnL w="19050" cap="flat" cmpd="sng" algn="ctr">
                      <a:solidFill>
                        <a:srgbClr val="C0C0C0"/>
                      </a:solidFill>
                      <a:prstDash val="solid"/>
                      <a:round/>
                      <a:headEnd type="none" w="med" len="med"/>
                      <a:tailEnd type="none" w="med" len="med"/>
                    </a:lnL>
                    <a:lnR w="19050" cap="flat" cmpd="sng" algn="ctr">
                      <a:solidFill>
                        <a:srgbClr val="C0C0C0"/>
                      </a:solidFill>
                      <a:prstDash val="solid"/>
                      <a:round/>
                      <a:headEnd type="none" w="med" len="med"/>
                      <a:tailEnd type="none" w="med" len="med"/>
                    </a:lnR>
                    <a:lnT w="19050" cap="flat" cmpd="sng" algn="ctr">
                      <a:solidFill>
                        <a:srgbClr val="C0C0C0"/>
                      </a:solidFill>
                      <a:prstDash val="solid"/>
                      <a:round/>
                      <a:headEnd type="none" w="med" len="med"/>
                      <a:tailEnd type="none" w="med" len="med"/>
                    </a:lnT>
                    <a:lnB w="19050" cap="flat" cmpd="sng" algn="ctr">
                      <a:solidFill>
                        <a:srgbClr val="C0C0C0"/>
                      </a:solidFill>
                      <a:prstDash val="solid"/>
                      <a:round/>
                      <a:headEnd type="none" w="med" len="med"/>
                      <a:tailEnd type="none" w="med" len="med"/>
                    </a:lnB>
                    <a:solidFill>
                      <a:srgbClr val="C1A367"/>
                    </a:solidFill>
                  </a:tcPr>
                </a:tc>
                <a:extLst>
                  <a:ext uri="{0D108BD9-81ED-4DB2-BD59-A6C34878D82A}">
                    <a16:rowId xmlns:a16="http://schemas.microsoft.com/office/drawing/2014/main" val="10004"/>
                  </a:ext>
                </a:extLst>
              </a:tr>
            </a:tbl>
          </a:graphicData>
        </a:graphic>
      </p:graphicFrame>
      <p:sp>
        <p:nvSpPr>
          <p:cNvPr id="8" name="TextBox 7">
            <a:extLst>
              <a:ext uri="{FF2B5EF4-FFF2-40B4-BE49-F238E27FC236}">
                <a16:creationId xmlns:a16="http://schemas.microsoft.com/office/drawing/2014/main" id="{60961962-E240-4E6D-B4E9-D5B695E9414A}"/>
              </a:ext>
            </a:extLst>
          </p:cNvPr>
          <p:cNvSpPr txBox="1"/>
          <p:nvPr/>
        </p:nvSpPr>
        <p:spPr>
          <a:xfrm>
            <a:off x="7789427" y="6004962"/>
            <a:ext cx="2646878"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Source: byuaccounting.net</a:t>
            </a:r>
          </a:p>
        </p:txBody>
      </p:sp>
    </p:spTree>
    <p:extLst>
      <p:ext uri="{BB962C8B-B14F-4D97-AF65-F5344CB8AC3E}">
        <p14:creationId xmlns:p14="http://schemas.microsoft.com/office/powerpoint/2010/main" val="4249274337"/>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5">
            <a:extLst>
              <a:ext uri="{FF2B5EF4-FFF2-40B4-BE49-F238E27FC236}">
                <a16:creationId xmlns:a16="http://schemas.microsoft.com/office/drawing/2014/main" id="{F6399FE9-7A13-48D0-B537-41A436317472}"/>
              </a:ext>
            </a:extLst>
          </p:cNvPr>
          <p:cNvSpPr>
            <a:spLocks noGrp="1"/>
          </p:cNvSpPr>
          <p:nvPr>
            <p:ph type="title"/>
          </p:nvPr>
        </p:nvSpPr>
        <p:spPr>
          <a:xfrm>
            <a:off x="1524000" y="352270"/>
            <a:ext cx="9144000" cy="850578"/>
          </a:xfrm>
        </p:spPr>
        <p:txBody>
          <a:bodyPr vert="horz" wrap="square" lIns="91440" tIns="45720" rIns="91440" bIns="45720" numCol="1" rtlCol="0" anchor="ctr" anchorCtr="0" compatLnSpc="1">
            <a:noAutofit/>
          </a:bodyPr>
          <a:lstStyle/>
          <a:p>
            <a:pPr marL="462280">
              <a:lnSpc>
                <a:spcPct val="100000"/>
              </a:lnSpc>
              <a:defRPr/>
            </a:pPr>
            <a:r>
              <a:rPr lang="en-US" altLang="en-US" sz="3000" dirty="0">
                <a:solidFill>
                  <a:srgbClr val="99235E"/>
                </a:solidFill>
                <a:cs typeface="Times New Roman" panose="02020603050405020304" pitchFamily="18" charset="0"/>
              </a:rPr>
              <a:t>Major Journals Publishing Accounting Research</a:t>
            </a:r>
          </a:p>
        </p:txBody>
      </p:sp>
      <p:sp>
        <p:nvSpPr>
          <p:cNvPr id="5" name="文本框 4">
            <a:extLst>
              <a:ext uri="{FF2B5EF4-FFF2-40B4-BE49-F238E27FC236}">
                <a16:creationId xmlns:a16="http://schemas.microsoft.com/office/drawing/2014/main" id="{4C0A2C25-8CB6-4B5D-AAAA-54B8BD9E6887}"/>
              </a:ext>
            </a:extLst>
          </p:cNvPr>
          <p:cNvSpPr txBox="1"/>
          <p:nvPr/>
        </p:nvSpPr>
        <p:spPr>
          <a:xfrm>
            <a:off x="2135560" y="1720840"/>
            <a:ext cx="7920880" cy="3416320"/>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Century Schoolbook" panose="02040604050505020304" pitchFamily="18" charset="0"/>
              </a:rPr>
              <a:t>Major Accounting Journals: TAR, JAR, JAE, CAR, RAST</a:t>
            </a:r>
          </a:p>
          <a:p>
            <a:pPr marL="342900" indent="-342900">
              <a:buFont typeface="Arial" panose="020B0604020202020204" pitchFamily="34" charset="0"/>
              <a:buChar char="•"/>
            </a:pPr>
            <a:r>
              <a:rPr lang="en-US" sz="2400" dirty="0">
                <a:latin typeface="Century Schoolbook" panose="02040604050505020304" pitchFamily="18" charset="0"/>
              </a:rPr>
              <a:t>Other Accounting Journals: AOS, AJPT, JATA, JMAR, JAAF, JAPP, JBFA, AH</a:t>
            </a:r>
          </a:p>
          <a:p>
            <a:pPr marL="342900" indent="-342900">
              <a:buFont typeface="Arial" panose="020B0604020202020204" pitchFamily="34" charset="0"/>
              <a:buChar char="•"/>
            </a:pPr>
            <a:r>
              <a:rPr lang="en-US" sz="2400" dirty="0">
                <a:latin typeface="Century Schoolbook" panose="02040604050505020304" pitchFamily="18" charset="0"/>
              </a:rPr>
              <a:t>Major Finance Journals: JF, JFE, RFS, JFQA</a:t>
            </a:r>
          </a:p>
          <a:p>
            <a:pPr marL="342900" indent="-342900">
              <a:buFont typeface="Arial" panose="020B0604020202020204" pitchFamily="34" charset="0"/>
              <a:buChar char="•"/>
            </a:pPr>
            <a:r>
              <a:rPr lang="en-US" sz="2400" dirty="0">
                <a:latin typeface="Century Schoolbook" panose="02040604050505020304" pitchFamily="18" charset="0"/>
              </a:rPr>
              <a:t>Other Finance Journals: ROF, JBF, JCF, JEF, FM</a:t>
            </a:r>
          </a:p>
          <a:p>
            <a:pPr marL="342900" indent="-342900">
              <a:buFont typeface="Arial" panose="020B0604020202020204" pitchFamily="34" charset="0"/>
              <a:buChar char="•"/>
            </a:pPr>
            <a:r>
              <a:rPr lang="en-US" sz="2400" dirty="0">
                <a:latin typeface="Century Schoolbook" panose="02040604050505020304" pitchFamily="18" charset="0"/>
              </a:rPr>
              <a:t>Other Journals: FT 45 Journals </a:t>
            </a:r>
            <a:r>
              <a:rPr lang="en-US" sz="2400" dirty="0">
                <a:latin typeface="Century Schoolbook" panose="02040604050505020304" pitchFamily="18" charset="0"/>
                <a:hlinkClick r:id="rId3"/>
              </a:rPr>
              <a:t>http://www.ft.com/cms/s/2/3405a512-5cbb-11e1-8f1f-00144feabdc0.html#axzz3dJ8ZZM1h</a:t>
            </a:r>
            <a:endParaRPr lang="en-US" sz="2400" dirty="0">
              <a:latin typeface="Century Schoolbook" panose="02040604050505020304" pitchFamily="18" charset="0"/>
            </a:endParaRPr>
          </a:p>
        </p:txBody>
      </p:sp>
      <p:sp>
        <p:nvSpPr>
          <p:cNvPr id="3" name="Slide Number Placeholder 2">
            <a:extLst>
              <a:ext uri="{FF2B5EF4-FFF2-40B4-BE49-F238E27FC236}">
                <a16:creationId xmlns:a16="http://schemas.microsoft.com/office/drawing/2014/main" id="{929EA5A9-0845-4703-8043-41B25C7AF8FC}"/>
              </a:ext>
            </a:extLst>
          </p:cNvPr>
          <p:cNvSpPr>
            <a:spLocks noGrp="1"/>
          </p:cNvSpPr>
          <p:nvPr>
            <p:ph type="sldNum" sz="quarter" idx="2"/>
          </p:nvPr>
        </p:nvSpPr>
        <p:spPr/>
        <p:txBody>
          <a:bodyPr/>
          <a:lstStyle/>
          <a:p>
            <a:fld id="{86CB4B4D-7CA3-9044-876B-883B54F8677D}" type="slidenum">
              <a:rPr lang="en-US" smtClean="0"/>
              <a:t>3</a:t>
            </a:fld>
            <a:endParaRPr lang="en-US"/>
          </a:p>
        </p:txBody>
      </p:sp>
    </p:spTree>
    <p:extLst>
      <p:ext uri="{BB962C8B-B14F-4D97-AF65-F5344CB8AC3E}">
        <p14:creationId xmlns:p14="http://schemas.microsoft.com/office/powerpoint/2010/main" val="320724766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5">
            <a:extLst>
              <a:ext uri="{FF2B5EF4-FFF2-40B4-BE49-F238E27FC236}">
                <a16:creationId xmlns:a16="http://schemas.microsoft.com/office/drawing/2014/main" id="{F6399FE9-7A13-48D0-B537-41A436317472}"/>
              </a:ext>
            </a:extLst>
          </p:cNvPr>
          <p:cNvSpPr>
            <a:spLocks noGrp="1"/>
          </p:cNvSpPr>
          <p:nvPr>
            <p:ph type="title"/>
          </p:nvPr>
        </p:nvSpPr>
        <p:spPr>
          <a:xfrm>
            <a:off x="1330585" y="332656"/>
            <a:ext cx="9144000" cy="850578"/>
          </a:xfrm>
        </p:spPr>
        <p:txBody>
          <a:bodyPr vert="horz" wrap="square" lIns="91440" tIns="45720" rIns="91440" bIns="45720" numCol="1" rtlCol="0" anchor="ctr" anchorCtr="0" compatLnSpc="1">
            <a:noAutofit/>
          </a:bodyPr>
          <a:lstStyle/>
          <a:p>
            <a:pPr marL="462280">
              <a:lnSpc>
                <a:spcPct val="100000"/>
              </a:lnSpc>
              <a:defRPr/>
            </a:pPr>
            <a:r>
              <a:rPr lang="en-US" altLang="en-US" sz="3000" dirty="0">
                <a:solidFill>
                  <a:srgbClr val="99235E"/>
                </a:solidFill>
                <a:cs typeface="Times New Roman" panose="02020603050405020304" pitchFamily="18" charset="0"/>
              </a:rPr>
              <a:t>Information and Capital Market</a:t>
            </a:r>
          </a:p>
        </p:txBody>
      </p:sp>
      <p:sp>
        <p:nvSpPr>
          <p:cNvPr id="3" name="Slide Number Placeholder 2">
            <a:extLst>
              <a:ext uri="{FF2B5EF4-FFF2-40B4-BE49-F238E27FC236}">
                <a16:creationId xmlns:a16="http://schemas.microsoft.com/office/drawing/2014/main" id="{929EA5A9-0845-4703-8043-41B25C7AF8FC}"/>
              </a:ext>
            </a:extLst>
          </p:cNvPr>
          <p:cNvSpPr>
            <a:spLocks noGrp="1"/>
          </p:cNvSpPr>
          <p:nvPr>
            <p:ph type="sldNum" sz="quarter" idx="2"/>
          </p:nvPr>
        </p:nvSpPr>
        <p:spPr/>
        <p:txBody>
          <a:bodyPr/>
          <a:lstStyle/>
          <a:p>
            <a:fld id="{86CB4B4D-7CA3-9044-876B-883B54F8677D}" type="slidenum">
              <a:rPr lang="en-US" smtClean="0"/>
              <a:t>4</a:t>
            </a:fld>
            <a:endParaRPr lang="en-US"/>
          </a:p>
        </p:txBody>
      </p:sp>
      <p:pic>
        <p:nvPicPr>
          <p:cNvPr id="2" name="Picture 2">
            <a:extLst>
              <a:ext uri="{FF2B5EF4-FFF2-40B4-BE49-F238E27FC236}">
                <a16:creationId xmlns:a16="http://schemas.microsoft.com/office/drawing/2014/main" id="{9247F832-03FE-4C70-3A0C-4FC9A21372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49648" y="1183234"/>
            <a:ext cx="7118761" cy="49820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a:extLst>
              <a:ext uri="{FF2B5EF4-FFF2-40B4-BE49-F238E27FC236}">
                <a16:creationId xmlns:a16="http://schemas.microsoft.com/office/drawing/2014/main" id="{CA71E352-F480-EE54-FA21-9B4AE1994C88}"/>
              </a:ext>
            </a:extLst>
          </p:cNvPr>
          <p:cNvSpPr txBox="1"/>
          <p:nvPr/>
        </p:nvSpPr>
        <p:spPr>
          <a:xfrm>
            <a:off x="8168952" y="6026805"/>
            <a:ext cx="2491388" cy="276999"/>
          </a:xfrm>
          <a:prstGeom prst="rect">
            <a:avLst/>
          </a:prstGeom>
          <a:noFill/>
        </p:spPr>
        <p:txBody>
          <a:bodyPr wrap="none" rtlCol="0">
            <a:spAutoFit/>
          </a:bodyPr>
          <a:lstStyle/>
          <a:p>
            <a:r>
              <a:rPr lang="en-US" sz="1200" dirty="0"/>
              <a:t>Source: Healy and </a:t>
            </a:r>
            <a:r>
              <a:rPr lang="en-US" sz="1200" dirty="0" err="1"/>
              <a:t>Palepu</a:t>
            </a:r>
            <a:r>
              <a:rPr lang="en-US" sz="1200" dirty="0"/>
              <a:t>, JAE2001</a:t>
            </a:r>
          </a:p>
        </p:txBody>
      </p:sp>
    </p:spTree>
    <p:extLst>
      <p:ext uri="{BB962C8B-B14F-4D97-AF65-F5344CB8AC3E}">
        <p14:creationId xmlns:p14="http://schemas.microsoft.com/office/powerpoint/2010/main" val="261660802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5">
            <a:extLst>
              <a:ext uri="{FF2B5EF4-FFF2-40B4-BE49-F238E27FC236}">
                <a16:creationId xmlns:a16="http://schemas.microsoft.com/office/drawing/2014/main" id="{F6399FE9-7A13-48D0-B537-41A436317472}"/>
              </a:ext>
            </a:extLst>
          </p:cNvPr>
          <p:cNvSpPr>
            <a:spLocks noGrp="1"/>
          </p:cNvSpPr>
          <p:nvPr>
            <p:ph type="title"/>
          </p:nvPr>
        </p:nvSpPr>
        <p:spPr>
          <a:xfrm>
            <a:off x="1524000" y="116632"/>
            <a:ext cx="9144000" cy="850578"/>
          </a:xfrm>
        </p:spPr>
        <p:txBody>
          <a:bodyPr vert="horz" wrap="square" lIns="91440" tIns="45720" rIns="91440" bIns="45720" numCol="1" rtlCol="0" anchor="ctr" anchorCtr="0" compatLnSpc="1">
            <a:noAutofit/>
          </a:bodyPr>
          <a:lstStyle/>
          <a:p>
            <a:pPr marL="462280">
              <a:lnSpc>
                <a:spcPct val="100000"/>
              </a:lnSpc>
              <a:defRPr/>
            </a:pPr>
            <a:r>
              <a:rPr lang="en-US" altLang="en-US" sz="3000" dirty="0">
                <a:solidFill>
                  <a:srgbClr val="99235E"/>
                </a:solidFill>
                <a:cs typeface="Times New Roman" panose="02020603050405020304" pitchFamily="18" charset="0"/>
              </a:rPr>
              <a:t>Two Agency Prob</a:t>
            </a:r>
            <a:r>
              <a:rPr lang="en-US" altLang="en-US" sz="3000" dirty="0" err="1">
                <a:solidFill>
                  <a:srgbClr val="99235E"/>
                </a:solidFill>
                <a:cs typeface="Times New Roman" panose="02020603050405020304" pitchFamily="18" charset="0"/>
              </a:rPr>
              <a:t>lems</a:t>
            </a:r>
            <a:r>
              <a:rPr lang="en-US" altLang="en-US" sz="3000" dirty="0">
                <a:solidFill>
                  <a:srgbClr val="99235E"/>
                </a:solidFill>
                <a:cs typeface="Times New Roman" panose="02020603050405020304" pitchFamily="18" charset="0"/>
              </a:rPr>
              <a:t> that Give Rise to the Demand for Information</a:t>
            </a:r>
          </a:p>
        </p:txBody>
      </p:sp>
      <p:sp>
        <p:nvSpPr>
          <p:cNvPr id="5" name="文本框 4">
            <a:extLst>
              <a:ext uri="{FF2B5EF4-FFF2-40B4-BE49-F238E27FC236}">
                <a16:creationId xmlns:a16="http://schemas.microsoft.com/office/drawing/2014/main" id="{4C0A2C25-8CB6-4B5D-AAAA-54B8BD9E6887}"/>
              </a:ext>
            </a:extLst>
          </p:cNvPr>
          <p:cNvSpPr txBox="1"/>
          <p:nvPr/>
        </p:nvSpPr>
        <p:spPr>
          <a:xfrm>
            <a:off x="2207568" y="1208740"/>
            <a:ext cx="7920880" cy="4832092"/>
          </a:xfrm>
          <a:prstGeom prst="rect">
            <a:avLst/>
          </a:prstGeom>
          <a:noFill/>
        </p:spPr>
        <p:txBody>
          <a:bodyPr wrap="square">
            <a:spAutoFit/>
          </a:bodyPr>
          <a:lstStyle/>
          <a:p>
            <a:pPr marL="342900" indent="-342900">
              <a:buAutoNum type="arabicPeriod"/>
            </a:pPr>
            <a:r>
              <a:rPr lang="en-HK" sz="2200" dirty="0">
                <a:latin typeface="Century Schoolbook" panose="02040604050505020304" pitchFamily="18" charset="0"/>
              </a:rPr>
              <a:t>Adverse Selection:</a:t>
            </a:r>
          </a:p>
          <a:p>
            <a:pPr marL="742950" lvl="1" indent="-285750">
              <a:buFont typeface="Wingdings" pitchFamily="2" charset="2"/>
              <a:buChar char="Ø"/>
            </a:pPr>
            <a:r>
              <a:rPr lang="en-HK" dirty="0">
                <a:latin typeface="Century Schoolbook" panose="02040604050505020304" pitchFamily="18" charset="0"/>
              </a:rPr>
              <a:t>The information asymmetry between firms’ insiders (managers or existing owners) and outside capital providers makes it difficult for outside capital providers to assess the profitability of the firm’s investment opportunities. If capital providers cannot assess firms’ profitability, they will under- price firms with high profitability and over-price firms with low profitability, potentially leading to market failure. </a:t>
            </a:r>
          </a:p>
          <a:p>
            <a:pPr marL="742950" lvl="1" indent="-285750">
              <a:buFont typeface="Wingdings" pitchFamily="2" charset="2"/>
              <a:buChar char="Ø"/>
            </a:pPr>
            <a:endParaRPr lang="en-HK" sz="2400" dirty="0">
              <a:latin typeface="Century Schoolbook" panose="02040604050505020304" pitchFamily="18" charset="0"/>
            </a:endParaRPr>
          </a:p>
          <a:p>
            <a:pPr marL="342900" indent="-342900">
              <a:buAutoNum type="arabicPeriod"/>
            </a:pPr>
            <a:r>
              <a:rPr lang="en-HK" sz="2200" dirty="0">
                <a:latin typeface="Century Schoolbook" panose="02040604050505020304" pitchFamily="18" charset="0"/>
              </a:rPr>
              <a:t>Moral Hazard:</a:t>
            </a:r>
          </a:p>
          <a:p>
            <a:pPr marL="742950" lvl="1" indent="-285750">
              <a:buFont typeface="Wingdings" pitchFamily="2" charset="2"/>
              <a:buChar char="Ø"/>
            </a:pPr>
            <a:r>
              <a:rPr lang="en-HK" dirty="0">
                <a:latin typeface="Century Schoolbook" panose="02040604050505020304" pitchFamily="18" charset="0"/>
              </a:rPr>
              <a:t>Due to the separation of ownership and control, capital providers do not have full decision-making rights. To solve this agency problem, both implicit and explicit contracts often use accounting information such as the use of resources, decisions taken, and generated return on investments. Investors value such information ex-post for monitoring managerial </a:t>
            </a:r>
            <a:r>
              <a:rPr lang="en-HK" dirty="0" err="1">
                <a:latin typeface="Century Schoolbook" panose="02040604050505020304" pitchFamily="18" charset="0"/>
              </a:rPr>
              <a:t>behavior</a:t>
            </a:r>
            <a:r>
              <a:rPr lang="en-HK" dirty="0">
                <a:latin typeface="Century Schoolbook" panose="02040604050505020304" pitchFamily="18" charset="0"/>
              </a:rPr>
              <a:t>. </a:t>
            </a:r>
            <a:endParaRPr lang="en-HK" sz="2400" dirty="0">
              <a:latin typeface="Century Schoolbook" panose="02040604050505020304" pitchFamily="18" charset="0"/>
            </a:endParaRPr>
          </a:p>
        </p:txBody>
      </p:sp>
      <p:sp>
        <p:nvSpPr>
          <p:cNvPr id="3" name="Slide Number Placeholder 2">
            <a:extLst>
              <a:ext uri="{FF2B5EF4-FFF2-40B4-BE49-F238E27FC236}">
                <a16:creationId xmlns:a16="http://schemas.microsoft.com/office/drawing/2014/main" id="{929EA5A9-0845-4703-8043-41B25C7AF8FC}"/>
              </a:ext>
            </a:extLst>
          </p:cNvPr>
          <p:cNvSpPr>
            <a:spLocks noGrp="1"/>
          </p:cNvSpPr>
          <p:nvPr>
            <p:ph type="sldNum" sz="quarter" idx="2"/>
          </p:nvPr>
        </p:nvSpPr>
        <p:spPr/>
        <p:txBody>
          <a:bodyPr/>
          <a:lstStyle/>
          <a:p>
            <a:fld id="{86CB4B4D-7CA3-9044-876B-883B54F8677D}" type="slidenum">
              <a:rPr lang="en-US" smtClean="0"/>
              <a:t>5</a:t>
            </a:fld>
            <a:endParaRPr lang="en-US"/>
          </a:p>
        </p:txBody>
      </p:sp>
    </p:spTree>
    <p:extLst>
      <p:ext uri="{BB962C8B-B14F-4D97-AF65-F5344CB8AC3E}">
        <p14:creationId xmlns:p14="http://schemas.microsoft.com/office/powerpoint/2010/main" val="69075893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5">
            <a:extLst>
              <a:ext uri="{FF2B5EF4-FFF2-40B4-BE49-F238E27FC236}">
                <a16:creationId xmlns:a16="http://schemas.microsoft.com/office/drawing/2014/main" id="{F6399FE9-7A13-48D0-B537-41A436317472}"/>
              </a:ext>
            </a:extLst>
          </p:cNvPr>
          <p:cNvSpPr>
            <a:spLocks noGrp="1"/>
          </p:cNvSpPr>
          <p:nvPr>
            <p:ph type="title"/>
          </p:nvPr>
        </p:nvSpPr>
        <p:spPr>
          <a:xfrm>
            <a:off x="1489021" y="404664"/>
            <a:ext cx="9144000" cy="850578"/>
          </a:xfrm>
        </p:spPr>
        <p:txBody>
          <a:bodyPr vert="horz" wrap="square" lIns="91440" tIns="45720" rIns="91440" bIns="45720" numCol="1" rtlCol="0" anchor="ctr" anchorCtr="0" compatLnSpc="1">
            <a:noAutofit/>
          </a:bodyPr>
          <a:lstStyle/>
          <a:p>
            <a:pPr marL="462280">
              <a:lnSpc>
                <a:spcPct val="100000"/>
              </a:lnSpc>
              <a:defRPr/>
            </a:pPr>
            <a:r>
              <a:rPr lang="en-US" altLang="en-US" sz="3000" dirty="0">
                <a:solidFill>
                  <a:srgbClr val="99235E"/>
                </a:solidFill>
                <a:cs typeface="Times New Roman" panose="02020603050405020304" pitchFamily="18" charset="0"/>
              </a:rPr>
              <a:t>The Roles of Accounting Information </a:t>
            </a:r>
          </a:p>
        </p:txBody>
      </p:sp>
      <p:sp>
        <p:nvSpPr>
          <p:cNvPr id="5" name="文本框 4">
            <a:extLst>
              <a:ext uri="{FF2B5EF4-FFF2-40B4-BE49-F238E27FC236}">
                <a16:creationId xmlns:a16="http://schemas.microsoft.com/office/drawing/2014/main" id="{4C0A2C25-8CB6-4B5D-AAAA-54B8BD9E6887}"/>
              </a:ext>
            </a:extLst>
          </p:cNvPr>
          <p:cNvSpPr txBox="1"/>
          <p:nvPr/>
        </p:nvSpPr>
        <p:spPr>
          <a:xfrm>
            <a:off x="2160745" y="1556793"/>
            <a:ext cx="7884368" cy="4524315"/>
          </a:xfrm>
          <a:prstGeom prst="rect">
            <a:avLst/>
          </a:prstGeom>
          <a:noFill/>
        </p:spPr>
        <p:txBody>
          <a:bodyPr wrap="square">
            <a:spAutoFit/>
          </a:bodyPr>
          <a:lstStyle/>
          <a:p>
            <a:pPr marL="342900" indent="-342900">
              <a:buAutoNum type="arabicPeriod"/>
            </a:pPr>
            <a:r>
              <a:rPr lang="en-HK" sz="2400" dirty="0">
                <a:latin typeface="Century Schoolbook" panose="02040604050505020304" pitchFamily="18" charset="0"/>
              </a:rPr>
              <a:t>Valuation role: control adverse selection</a:t>
            </a:r>
          </a:p>
          <a:p>
            <a:pPr marL="800100" lvl="1" indent="-342900">
              <a:buFont typeface="Wingdings" panose="05000000000000000000" pitchFamily="2" charset="2"/>
              <a:buChar char="Ø"/>
            </a:pPr>
            <a:r>
              <a:rPr lang="en-HK" sz="2400" dirty="0">
                <a:latin typeface="Century Schoolbook" panose="02040604050505020304" pitchFamily="18" charset="0"/>
              </a:rPr>
              <a:t>allows capital providers (shareholders and creditors) to evaluate the return potential of investment opportunities. </a:t>
            </a:r>
          </a:p>
          <a:p>
            <a:pPr marL="800100" lvl="1" indent="-342900">
              <a:buFont typeface="Wingdings" panose="05000000000000000000" pitchFamily="2" charset="2"/>
              <a:buChar char="Ø"/>
            </a:pPr>
            <a:r>
              <a:rPr lang="en-HK" sz="2400" dirty="0">
                <a:latin typeface="Century Schoolbook" panose="02040604050505020304" pitchFamily="18" charset="0"/>
              </a:rPr>
              <a:t>Ex ante information demand</a:t>
            </a:r>
          </a:p>
          <a:p>
            <a:pPr lvl="1"/>
            <a:endParaRPr lang="en-HK" sz="2400" dirty="0">
              <a:latin typeface="Century Schoolbook" panose="02040604050505020304" pitchFamily="18" charset="0"/>
            </a:endParaRPr>
          </a:p>
          <a:p>
            <a:pPr marL="342900" indent="-342900">
              <a:buAutoNum type="arabicPeriod"/>
            </a:pPr>
            <a:r>
              <a:rPr lang="en-HK" sz="2400" dirty="0">
                <a:latin typeface="Century Schoolbook" panose="02040604050505020304" pitchFamily="18" charset="0"/>
              </a:rPr>
              <a:t>Stewardship role: control moral hazard</a:t>
            </a:r>
          </a:p>
          <a:p>
            <a:pPr marL="800100" lvl="1" indent="-342900">
              <a:buFont typeface="Wingdings" panose="05000000000000000000" pitchFamily="2" charset="2"/>
              <a:buChar char="Ø"/>
            </a:pPr>
            <a:r>
              <a:rPr lang="en-HK" sz="2400" dirty="0">
                <a:latin typeface="Century Schoolbook" panose="02040604050505020304" pitchFamily="18" charset="0"/>
              </a:rPr>
              <a:t>allows capital providers to monitor managerial </a:t>
            </a:r>
            <a:r>
              <a:rPr lang="en-HK" sz="2400" dirty="0" err="1">
                <a:latin typeface="Century Schoolbook" panose="02040604050505020304" pitchFamily="18" charset="0"/>
              </a:rPr>
              <a:t>behavior</a:t>
            </a:r>
            <a:r>
              <a:rPr lang="en-HK" sz="2400" dirty="0">
                <a:latin typeface="Century Schoolbook" panose="02040604050505020304" pitchFamily="18" charset="0"/>
              </a:rPr>
              <a:t> after their capital is committed.  </a:t>
            </a:r>
          </a:p>
          <a:p>
            <a:pPr marL="800100" lvl="1" indent="-342900">
              <a:buFont typeface="Wingdings" panose="05000000000000000000" pitchFamily="2" charset="2"/>
              <a:buChar char="Ø"/>
            </a:pPr>
            <a:r>
              <a:rPr lang="en-HK" sz="2400" dirty="0">
                <a:latin typeface="Century Schoolbook" panose="02040604050505020304" pitchFamily="18" charset="0"/>
              </a:rPr>
              <a:t>Ex-post information demand. </a:t>
            </a:r>
          </a:p>
          <a:p>
            <a:pPr marL="800100" lvl="1" indent="-342900">
              <a:buFont typeface="Wingdings" panose="05000000000000000000" pitchFamily="2" charset="2"/>
              <a:buChar char="Ø"/>
            </a:pPr>
            <a:endParaRPr lang="en-HK" sz="2400" dirty="0">
              <a:latin typeface="Century Schoolbook" panose="02040604050505020304" pitchFamily="18" charset="0"/>
            </a:endParaRPr>
          </a:p>
          <a:p>
            <a:r>
              <a:rPr lang="en-HK" sz="2400" dirty="0">
                <a:latin typeface="Century Schoolbook" panose="02040604050505020304" pitchFamily="18" charset="0"/>
              </a:rPr>
              <a:t>Both roles are crucial, but may not overlap completely. </a:t>
            </a:r>
          </a:p>
        </p:txBody>
      </p:sp>
      <p:sp>
        <p:nvSpPr>
          <p:cNvPr id="3" name="Slide Number Placeholder 2">
            <a:extLst>
              <a:ext uri="{FF2B5EF4-FFF2-40B4-BE49-F238E27FC236}">
                <a16:creationId xmlns:a16="http://schemas.microsoft.com/office/drawing/2014/main" id="{929EA5A9-0845-4703-8043-41B25C7AF8FC}"/>
              </a:ext>
            </a:extLst>
          </p:cNvPr>
          <p:cNvSpPr>
            <a:spLocks noGrp="1"/>
          </p:cNvSpPr>
          <p:nvPr>
            <p:ph type="sldNum" sz="quarter" idx="2"/>
          </p:nvPr>
        </p:nvSpPr>
        <p:spPr/>
        <p:txBody>
          <a:bodyPr/>
          <a:lstStyle/>
          <a:p>
            <a:fld id="{86CB4B4D-7CA3-9044-876B-883B54F8677D}" type="slidenum">
              <a:rPr lang="en-US" smtClean="0"/>
              <a:t>6</a:t>
            </a:fld>
            <a:endParaRPr lang="en-US"/>
          </a:p>
        </p:txBody>
      </p:sp>
    </p:spTree>
    <p:extLst>
      <p:ext uri="{BB962C8B-B14F-4D97-AF65-F5344CB8AC3E}">
        <p14:creationId xmlns:p14="http://schemas.microsoft.com/office/powerpoint/2010/main" val="71710701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5">
            <a:extLst>
              <a:ext uri="{FF2B5EF4-FFF2-40B4-BE49-F238E27FC236}">
                <a16:creationId xmlns:a16="http://schemas.microsoft.com/office/drawing/2014/main" id="{F6399FE9-7A13-48D0-B537-41A436317472}"/>
              </a:ext>
            </a:extLst>
          </p:cNvPr>
          <p:cNvSpPr>
            <a:spLocks noGrp="1"/>
          </p:cNvSpPr>
          <p:nvPr>
            <p:ph type="title"/>
          </p:nvPr>
        </p:nvSpPr>
        <p:spPr>
          <a:xfrm>
            <a:off x="1489021" y="404664"/>
            <a:ext cx="9490552" cy="850578"/>
          </a:xfrm>
        </p:spPr>
        <p:txBody>
          <a:bodyPr vert="horz" wrap="square" lIns="91440" tIns="45720" rIns="91440" bIns="45720" numCol="1" rtlCol="0" anchor="ctr" anchorCtr="0" compatLnSpc="1">
            <a:noAutofit/>
          </a:bodyPr>
          <a:lstStyle/>
          <a:p>
            <a:pPr marL="462280">
              <a:lnSpc>
                <a:spcPct val="100000"/>
              </a:lnSpc>
              <a:defRPr/>
            </a:pPr>
            <a:r>
              <a:rPr lang="en-US" altLang="en-US" sz="3000" dirty="0">
                <a:solidFill>
                  <a:srgbClr val="99235E"/>
                </a:solidFill>
                <a:cs typeface="Times New Roman" panose="02020603050405020304" pitchFamily="18" charset="0"/>
              </a:rPr>
              <a:t>Unraveling Result (Grossman and Hart 1980; Grossman 1981; Milgrom 1981; Milgrom and Roberts 1986)</a:t>
            </a:r>
          </a:p>
        </p:txBody>
      </p:sp>
      <p:sp>
        <p:nvSpPr>
          <p:cNvPr id="5" name="文本框 4">
            <a:extLst>
              <a:ext uri="{FF2B5EF4-FFF2-40B4-BE49-F238E27FC236}">
                <a16:creationId xmlns:a16="http://schemas.microsoft.com/office/drawing/2014/main" id="{4C0A2C25-8CB6-4B5D-AAAA-54B8BD9E6887}"/>
              </a:ext>
            </a:extLst>
          </p:cNvPr>
          <p:cNvSpPr txBox="1"/>
          <p:nvPr/>
        </p:nvSpPr>
        <p:spPr>
          <a:xfrm>
            <a:off x="1991360" y="1942873"/>
            <a:ext cx="8547947" cy="3939540"/>
          </a:xfrm>
          <a:prstGeom prst="rect">
            <a:avLst/>
          </a:prstGeom>
          <a:noFill/>
        </p:spPr>
        <p:txBody>
          <a:bodyPr wrap="square">
            <a:spAutoFit/>
          </a:bodyPr>
          <a:lstStyle/>
          <a:p>
            <a:r>
              <a:rPr lang="en-HK" sz="2400" dirty="0">
                <a:latin typeface="Century Schoolbook" panose="02040604050505020304" pitchFamily="18" charset="0"/>
              </a:rPr>
              <a:t>Managers will voluntarily disclose all of their private information if: </a:t>
            </a:r>
          </a:p>
          <a:p>
            <a:endParaRPr lang="en-HK" sz="2400" dirty="0">
              <a:latin typeface="Century Schoolbook" panose="02040604050505020304" pitchFamily="18" charset="0"/>
            </a:endParaRPr>
          </a:p>
          <a:p>
            <a:pPr marL="457200" indent="-457200">
              <a:buAutoNum type="arabicParenBoth"/>
            </a:pPr>
            <a:r>
              <a:rPr lang="en-HK" sz="2200" dirty="0">
                <a:latin typeface="Century Schoolbook" panose="02040604050505020304" pitchFamily="18" charset="0"/>
              </a:rPr>
              <a:t>disclosures are costless; </a:t>
            </a:r>
          </a:p>
          <a:p>
            <a:pPr marL="457200" indent="-457200">
              <a:buAutoNum type="arabicParenBoth"/>
            </a:pPr>
            <a:r>
              <a:rPr lang="en-HK" sz="2200" dirty="0">
                <a:latin typeface="Century Schoolbook" panose="02040604050505020304" pitchFamily="18" charset="0"/>
              </a:rPr>
              <a:t>investors know that ﬁrms have, in fact, private information; </a:t>
            </a:r>
          </a:p>
          <a:p>
            <a:pPr marL="457200" indent="-457200">
              <a:buAutoNum type="arabicParenBoth"/>
            </a:pPr>
            <a:r>
              <a:rPr lang="en-HK" sz="2200" dirty="0">
                <a:latin typeface="Century Schoolbook" panose="02040604050505020304" pitchFamily="18" charset="0"/>
              </a:rPr>
              <a:t>all investors interpret the ﬁrms’ disclosure in the same way and ﬁrms know how investors will interpret that disclosure; </a:t>
            </a:r>
          </a:p>
          <a:p>
            <a:pPr marL="457200" indent="-457200">
              <a:buAutoNum type="arabicParenBoth"/>
            </a:pPr>
            <a:r>
              <a:rPr lang="en-HK" sz="2200" dirty="0">
                <a:latin typeface="Century Schoolbook" panose="02040604050505020304" pitchFamily="18" charset="0"/>
              </a:rPr>
              <a:t>managers want to maximize their ﬁrms’ share prices; </a:t>
            </a:r>
          </a:p>
          <a:p>
            <a:pPr marL="457200" indent="-457200">
              <a:buAutoNum type="arabicParenBoth"/>
            </a:pPr>
            <a:r>
              <a:rPr lang="en-HK" sz="2200" dirty="0">
                <a:latin typeface="Century Schoolbook" panose="02040604050505020304" pitchFamily="18" charset="0"/>
              </a:rPr>
              <a:t>ﬁrms can credibly disclose their private information; </a:t>
            </a:r>
          </a:p>
          <a:p>
            <a:pPr marL="457200" indent="-457200">
              <a:buAutoNum type="arabicParenBoth"/>
            </a:pPr>
            <a:r>
              <a:rPr lang="en-HK" sz="2200" dirty="0">
                <a:latin typeface="Century Schoolbook" panose="02040604050505020304" pitchFamily="18" charset="0"/>
              </a:rPr>
              <a:t>ﬁrms cannot commit ex-ante to a speciﬁc disclosure policy.</a:t>
            </a:r>
          </a:p>
          <a:p>
            <a:pPr marL="342900" indent="-342900">
              <a:buAutoNum type="arabicPeriod"/>
            </a:pPr>
            <a:endParaRPr lang="en-HK" sz="2400" dirty="0">
              <a:latin typeface="Century Schoolbook" panose="02040604050505020304" pitchFamily="18" charset="0"/>
            </a:endParaRPr>
          </a:p>
        </p:txBody>
      </p:sp>
      <p:sp>
        <p:nvSpPr>
          <p:cNvPr id="3" name="Slide Number Placeholder 2">
            <a:extLst>
              <a:ext uri="{FF2B5EF4-FFF2-40B4-BE49-F238E27FC236}">
                <a16:creationId xmlns:a16="http://schemas.microsoft.com/office/drawing/2014/main" id="{929EA5A9-0845-4703-8043-41B25C7AF8FC}"/>
              </a:ext>
            </a:extLst>
          </p:cNvPr>
          <p:cNvSpPr>
            <a:spLocks noGrp="1"/>
          </p:cNvSpPr>
          <p:nvPr>
            <p:ph type="sldNum" sz="quarter" idx="2"/>
          </p:nvPr>
        </p:nvSpPr>
        <p:spPr/>
        <p:txBody>
          <a:bodyPr/>
          <a:lstStyle/>
          <a:p>
            <a:fld id="{86CB4B4D-7CA3-9044-876B-883B54F8677D}" type="slidenum">
              <a:rPr lang="en-US" smtClean="0"/>
              <a:t>7</a:t>
            </a:fld>
            <a:endParaRPr lang="en-US"/>
          </a:p>
        </p:txBody>
      </p:sp>
    </p:spTree>
    <p:extLst>
      <p:ext uri="{BB962C8B-B14F-4D97-AF65-F5344CB8AC3E}">
        <p14:creationId xmlns:p14="http://schemas.microsoft.com/office/powerpoint/2010/main" val="4039152208"/>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5">
            <a:extLst>
              <a:ext uri="{FF2B5EF4-FFF2-40B4-BE49-F238E27FC236}">
                <a16:creationId xmlns:a16="http://schemas.microsoft.com/office/drawing/2014/main" id="{F6399FE9-7A13-48D0-B537-41A436317472}"/>
              </a:ext>
            </a:extLst>
          </p:cNvPr>
          <p:cNvSpPr>
            <a:spLocks noGrp="1"/>
          </p:cNvSpPr>
          <p:nvPr>
            <p:ph type="title"/>
          </p:nvPr>
        </p:nvSpPr>
        <p:spPr>
          <a:xfrm>
            <a:off x="1530929" y="311642"/>
            <a:ext cx="9144000" cy="850578"/>
          </a:xfrm>
        </p:spPr>
        <p:txBody>
          <a:bodyPr vert="horz" wrap="square" lIns="91440" tIns="45720" rIns="91440" bIns="45720" numCol="1" rtlCol="0" anchor="ctr" anchorCtr="0" compatLnSpc="1">
            <a:noAutofit/>
          </a:bodyPr>
          <a:lstStyle/>
          <a:p>
            <a:pPr marL="462280">
              <a:lnSpc>
                <a:spcPct val="100000"/>
              </a:lnSpc>
              <a:defRPr/>
            </a:pPr>
            <a:r>
              <a:rPr lang="en-US" altLang="en-US" sz="3000" dirty="0">
                <a:solidFill>
                  <a:srgbClr val="99235E"/>
                </a:solidFill>
                <a:cs typeface="Times New Roman" panose="02020603050405020304" pitchFamily="18" charset="0"/>
              </a:rPr>
              <a:t>Different Information Sources</a:t>
            </a:r>
          </a:p>
        </p:txBody>
      </p:sp>
      <p:sp>
        <p:nvSpPr>
          <p:cNvPr id="5" name="文本框 4">
            <a:extLst>
              <a:ext uri="{FF2B5EF4-FFF2-40B4-BE49-F238E27FC236}">
                <a16:creationId xmlns:a16="http://schemas.microsoft.com/office/drawing/2014/main" id="{4C0A2C25-8CB6-4B5D-AAAA-54B8BD9E6887}"/>
              </a:ext>
            </a:extLst>
          </p:cNvPr>
          <p:cNvSpPr txBox="1"/>
          <p:nvPr/>
        </p:nvSpPr>
        <p:spPr>
          <a:xfrm>
            <a:off x="1919536" y="1484785"/>
            <a:ext cx="7884368" cy="4031873"/>
          </a:xfrm>
          <a:prstGeom prst="rect">
            <a:avLst/>
          </a:prstGeom>
          <a:noFill/>
        </p:spPr>
        <p:txBody>
          <a:bodyPr wrap="square">
            <a:spAutoFit/>
          </a:bodyPr>
          <a:lstStyle/>
          <a:p>
            <a:pPr marL="342900" indent="-342900">
              <a:buAutoNum type="arabicPeriod"/>
            </a:pPr>
            <a:r>
              <a:rPr lang="en-US" altLang="zh-CN" sz="2400" dirty="0">
                <a:latin typeface="Century Schoolbook" panose="02040604050505020304" pitchFamily="18" charset="0"/>
              </a:rPr>
              <a:t>Mandatory Reporting</a:t>
            </a:r>
          </a:p>
          <a:p>
            <a:pPr lvl="1"/>
            <a:r>
              <a:rPr lang="en-US" altLang="zh-CN" sz="2400" dirty="0">
                <a:latin typeface="Century Schoolbook" panose="02040604050505020304" pitchFamily="18" charset="0"/>
              </a:rPr>
              <a:t>e.g., 10-K and 8-K filings, earnings announcements</a:t>
            </a:r>
          </a:p>
          <a:p>
            <a:pPr lvl="1"/>
            <a:endParaRPr lang="en-US" altLang="zh-CN" sz="2400" dirty="0">
              <a:latin typeface="Century Schoolbook" panose="02040604050505020304" pitchFamily="18" charset="0"/>
            </a:endParaRPr>
          </a:p>
          <a:p>
            <a:pPr marL="342900" indent="-342900">
              <a:buAutoNum type="arabicPeriod"/>
            </a:pPr>
            <a:r>
              <a:rPr lang="en-US" altLang="zh-CN" sz="2400" dirty="0">
                <a:latin typeface="Century Schoolbook" panose="02040604050505020304" pitchFamily="18" charset="0"/>
              </a:rPr>
              <a:t>Voluntary corporate disclosure</a:t>
            </a:r>
          </a:p>
          <a:p>
            <a:pPr lvl="1"/>
            <a:r>
              <a:rPr lang="en-US" altLang="zh-CN" sz="2400" dirty="0">
                <a:latin typeface="Century Schoolbook" panose="02040604050505020304" pitchFamily="18" charset="0"/>
              </a:rPr>
              <a:t>Usually forward looking, e.g., management forecasts, conference calls, discretionary news release</a:t>
            </a:r>
          </a:p>
          <a:p>
            <a:pPr lvl="1"/>
            <a:endParaRPr lang="en-US" altLang="zh-CN" sz="2400" dirty="0">
              <a:latin typeface="Century Schoolbook" panose="02040604050505020304" pitchFamily="18" charset="0"/>
            </a:endParaRPr>
          </a:p>
          <a:p>
            <a:r>
              <a:rPr lang="en-US" altLang="zh-CN" sz="2400" dirty="0">
                <a:latin typeface="Century Schoolbook" panose="02040604050505020304" pitchFamily="18" charset="0"/>
              </a:rPr>
              <a:t>3. Third party: information intermediary</a:t>
            </a:r>
          </a:p>
          <a:p>
            <a:pPr lvl="1"/>
            <a:r>
              <a:rPr lang="en-US" altLang="zh-CN" sz="2400" dirty="0">
                <a:latin typeface="Century Schoolbook" panose="02040604050505020304" pitchFamily="18" charset="0"/>
              </a:rPr>
              <a:t>Analyst forecasts, short-selling reports</a:t>
            </a:r>
          </a:p>
          <a:p>
            <a:endParaRPr lang="en-US" altLang="zh-CN" sz="1600" dirty="0">
              <a:latin typeface="Century Schoolbook" panose="02040604050505020304" pitchFamily="18" charset="0"/>
            </a:endParaRPr>
          </a:p>
        </p:txBody>
      </p:sp>
      <p:sp>
        <p:nvSpPr>
          <p:cNvPr id="3" name="Slide Number Placeholder 2">
            <a:extLst>
              <a:ext uri="{FF2B5EF4-FFF2-40B4-BE49-F238E27FC236}">
                <a16:creationId xmlns:a16="http://schemas.microsoft.com/office/drawing/2014/main" id="{929EA5A9-0845-4703-8043-41B25C7AF8FC}"/>
              </a:ext>
            </a:extLst>
          </p:cNvPr>
          <p:cNvSpPr>
            <a:spLocks noGrp="1"/>
          </p:cNvSpPr>
          <p:nvPr>
            <p:ph type="sldNum" sz="quarter" idx="2"/>
          </p:nvPr>
        </p:nvSpPr>
        <p:spPr/>
        <p:txBody>
          <a:bodyPr/>
          <a:lstStyle/>
          <a:p>
            <a:fld id="{86CB4B4D-7CA3-9044-876B-883B54F8677D}" type="slidenum">
              <a:rPr lang="en-US" smtClean="0"/>
              <a:t>8</a:t>
            </a:fld>
            <a:endParaRPr lang="en-US" dirty="0"/>
          </a:p>
        </p:txBody>
      </p:sp>
    </p:spTree>
    <p:extLst>
      <p:ext uri="{BB962C8B-B14F-4D97-AF65-F5344CB8AC3E}">
        <p14:creationId xmlns:p14="http://schemas.microsoft.com/office/powerpoint/2010/main" val="109359229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5">
            <a:extLst>
              <a:ext uri="{FF2B5EF4-FFF2-40B4-BE49-F238E27FC236}">
                <a16:creationId xmlns:a16="http://schemas.microsoft.com/office/drawing/2014/main" id="{F6399FE9-7A13-48D0-B537-41A436317472}"/>
              </a:ext>
            </a:extLst>
          </p:cNvPr>
          <p:cNvSpPr>
            <a:spLocks noGrp="1"/>
          </p:cNvSpPr>
          <p:nvPr>
            <p:ph type="title"/>
          </p:nvPr>
        </p:nvSpPr>
        <p:spPr>
          <a:xfrm>
            <a:off x="1511606" y="716526"/>
            <a:ext cx="9144000" cy="850578"/>
          </a:xfrm>
        </p:spPr>
        <p:txBody>
          <a:bodyPr vert="horz" wrap="square" lIns="91440" tIns="45720" rIns="91440" bIns="45720" numCol="1" rtlCol="0" anchor="ctr" anchorCtr="0" compatLnSpc="1">
            <a:noAutofit/>
          </a:bodyPr>
          <a:lstStyle/>
          <a:p>
            <a:pPr marL="462280">
              <a:lnSpc>
                <a:spcPct val="100000"/>
              </a:lnSpc>
              <a:defRPr/>
            </a:pPr>
            <a:r>
              <a:rPr lang="en-US" altLang="en-US" sz="3000" dirty="0">
                <a:solidFill>
                  <a:srgbClr val="99235E"/>
                </a:solidFill>
                <a:cs typeface="Times New Roman" panose="02020603050405020304" pitchFamily="18" charset="0"/>
              </a:rPr>
              <a:t>Beyer, Cohen, Lys, and Walther (2010): JAE</a:t>
            </a:r>
          </a:p>
        </p:txBody>
      </p:sp>
      <p:sp>
        <p:nvSpPr>
          <p:cNvPr id="3" name="Slide Number Placeholder 2">
            <a:extLst>
              <a:ext uri="{FF2B5EF4-FFF2-40B4-BE49-F238E27FC236}">
                <a16:creationId xmlns:a16="http://schemas.microsoft.com/office/drawing/2014/main" id="{929EA5A9-0845-4703-8043-41B25C7AF8FC}"/>
              </a:ext>
            </a:extLst>
          </p:cNvPr>
          <p:cNvSpPr>
            <a:spLocks noGrp="1"/>
          </p:cNvSpPr>
          <p:nvPr>
            <p:ph type="sldNum" sz="quarter" idx="2"/>
          </p:nvPr>
        </p:nvSpPr>
        <p:spPr/>
        <p:txBody>
          <a:bodyPr/>
          <a:lstStyle/>
          <a:p>
            <a:fld id="{86CB4B4D-7CA3-9044-876B-883B54F8677D}" type="slidenum">
              <a:rPr lang="en-US" smtClean="0"/>
              <a:t>9</a:t>
            </a:fld>
            <a:endParaRPr lang="en-US"/>
          </a:p>
        </p:txBody>
      </p:sp>
      <p:pic>
        <p:nvPicPr>
          <p:cNvPr id="2" name="Picture 1">
            <a:extLst>
              <a:ext uri="{FF2B5EF4-FFF2-40B4-BE49-F238E27FC236}">
                <a16:creationId xmlns:a16="http://schemas.microsoft.com/office/drawing/2014/main" id="{3A608E81-CD5C-4E94-8831-21A8B60BD702}"/>
              </a:ext>
            </a:extLst>
          </p:cNvPr>
          <p:cNvPicPr>
            <a:picLocks noChangeAspect="1"/>
          </p:cNvPicPr>
          <p:nvPr/>
        </p:nvPicPr>
        <p:blipFill>
          <a:blip r:embed="rId3"/>
          <a:stretch>
            <a:fillRect/>
          </a:stretch>
        </p:blipFill>
        <p:spPr>
          <a:xfrm>
            <a:off x="1919536" y="1710996"/>
            <a:ext cx="8532440" cy="2907822"/>
          </a:xfrm>
          <a:prstGeom prst="rect">
            <a:avLst/>
          </a:prstGeom>
        </p:spPr>
      </p:pic>
    </p:spTree>
    <p:extLst>
      <p:ext uri="{BB962C8B-B14F-4D97-AF65-F5344CB8AC3E}">
        <p14:creationId xmlns:p14="http://schemas.microsoft.com/office/powerpoint/2010/main" val="1235471849"/>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5">
            <a:extLst>
              <a:ext uri="{FF2B5EF4-FFF2-40B4-BE49-F238E27FC236}">
                <a16:creationId xmlns:a16="http://schemas.microsoft.com/office/drawing/2014/main" id="{F6399FE9-7A13-48D0-B537-41A436317472}"/>
              </a:ext>
            </a:extLst>
          </p:cNvPr>
          <p:cNvSpPr>
            <a:spLocks noGrp="1"/>
          </p:cNvSpPr>
          <p:nvPr>
            <p:ph type="title"/>
          </p:nvPr>
        </p:nvSpPr>
        <p:spPr>
          <a:xfrm>
            <a:off x="1402236" y="298095"/>
            <a:ext cx="9144000" cy="850578"/>
          </a:xfrm>
        </p:spPr>
        <p:txBody>
          <a:bodyPr vert="horz" wrap="square" lIns="91440" tIns="45720" rIns="91440" bIns="45720" numCol="1" rtlCol="0" anchor="ctr" anchorCtr="0" compatLnSpc="1">
            <a:noAutofit/>
          </a:bodyPr>
          <a:lstStyle/>
          <a:p>
            <a:pPr marL="462280">
              <a:lnSpc>
                <a:spcPct val="100000"/>
              </a:lnSpc>
              <a:defRPr/>
            </a:pPr>
            <a:r>
              <a:rPr lang="en-US" altLang="en-US" sz="3000" dirty="0">
                <a:solidFill>
                  <a:srgbClr val="99235E"/>
                </a:solidFill>
                <a:cs typeface="Times New Roman" panose="02020603050405020304" pitchFamily="18" charset="0"/>
              </a:rPr>
              <a:t>“Broad” Research Questions in </a:t>
            </a:r>
            <a:r>
              <a:rPr lang="en-US" altLang="en-US" sz="3000" dirty="0" err="1">
                <a:solidFill>
                  <a:srgbClr val="99235E"/>
                </a:solidFill>
                <a:cs typeface="Times New Roman" panose="02020603050405020304" pitchFamily="18" charset="0"/>
              </a:rPr>
              <a:t>Reportingand</a:t>
            </a:r>
            <a:r>
              <a:rPr lang="en-US" altLang="en-US" sz="3000" dirty="0">
                <a:solidFill>
                  <a:srgbClr val="99235E"/>
                </a:solidFill>
                <a:cs typeface="Times New Roman" panose="02020603050405020304" pitchFamily="18" charset="0"/>
              </a:rPr>
              <a:t> Disclosure</a:t>
            </a:r>
          </a:p>
        </p:txBody>
      </p:sp>
      <p:sp>
        <p:nvSpPr>
          <p:cNvPr id="3" name="Slide Number Placeholder 2">
            <a:extLst>
              <a:ext uri="{FF2B5EF4-FFF2-40B4-BE49-F238E27FC236}">
                <a16:creationId xmlns:a16="http://schemas.microsoft.com/office/drawing/2014/main" id="{929EA5A9-0845-4703-8043-41B25C7AF8FC}"/>
              </a:ext>
            </a:extLst>
          </p:cNvPr>
          <p:cNvSpPr>
            <a:spLocks noGrp="1"/>
          </p:cNvSpPr>
          <p:nvPr>
            <p:ph type="sldNum" sz="quarter" idx="2"/>
          </p:nvPr>
        </p:nvSpPr>
        <p:spPr/>
        <p:txBody>
          <a:bodyPr/>
          <a:lstStyle/>
          <a:p>
            <a:fld id="{86CB4B4D-7CA3-9044-876B-883B54F8677D}" type="slidenum">
              <a:rPr lang="en-US" smtClean="0"/>
              <a:t>10</a:t>
            </a:fld>
            <a:endParaRPr lang="en-US"/>
          </a:p>
        </p:txBody>
      </p:sp>
      <p:sp>
        <p:nvSpPr>
          <p:cNvPr id="5" name="文本框 4">
            <a:extLst>
              <a:ext uri="{FF2B5EF4-FFF2-40B4-BE49-F238E27FC236}">
                <a16:creationId xmlns:a16="http://schemas.microsoft.com/office/drawing/2014/main" id="{F5203343-732A-4EA4-9D89-1101B9C001D4}"/>
              </a:ext>
            </a:extLst>
          </p:cNvPr>
          <p:cNvSpPr txBox="1"/>
          <p:nvPr/>
        </p:nvSpPr>
        <p:spPr>
          <a:xfrm>
            <a:off x="1919536" y="1484785"/>
            <a:ext cx="7884368" cy="2554545"/>
          </a:xfrm>
          <a:prstGeom prst="rect">
            <a:avLst/>
          </a:prstGeom>
          <a:noFill/>
        </p:spPr>
        <p:txBody>
          <a:bodyPr wrap="square">
            <a:spAutoFit/>
          </a:bodyPr>
          <a:lstStyle/>
          <a:p>
            <a:r>
              <a:rPr lang="en-US" sz="2400" dirty="0">
                <a:latin typeface="Century Schoolbook" panose="02040604050505020304" pitchFamily="18" charset="0"/>
              </a:rPr>
              <a:t>1. Evaluate the decision usefulness of financial reporting and disclosure to capital providers. </a:t>
            </a:r>
          </a:p>
          <a:p>
            <a:pPr marL="342900" indent="-342900">
              <a:buFont typeface="Arial" panose="020B0604020202020204" pitchFamily="34" charset="0"/>
              <a:buChar char="•"/>
            </a:pPr>
            <a:endParaRPr lang="en-US" sz="2400" dirty="0">
              <a:latin typeface="Century Schoolbook" panose="02040604050505020304" pitchFamily="18" charset="0"/>
            </a:endParaRPr>
          </a:p>
          <a:p>
            <a:r>
              <a:rPr lang="en-US" sz="2400" dirty="0">
                <a:latin typeface="Century Schoolbook" panose="02040604050505020304" pitchFamily="18" charset="0"/>
              </a:rPr>
              <a:t>2. Manager’s accounting and disclosure choices </a:t>
            </a:r>
          </a:p>
          <a:p>
            <a:pPr marL="800100" lvl="1" indent="-342900">
              <a:buFont typeface="Wingdings" panose="05000000000000000000" pitchFamily="2" charset="2"/>
              <a:buChar char="Ø"/>
            </a:pPr>
            <a:r>
              <a:rPr lang="en-US" sz="2400" dirty="0">
                <a:latin typeface="Century Schoolbook" panose="02040604050505020304" pitchFamily="18" charset="0"/>
              </a:rPr>
              <a:t>Determinants and consequences of earnings management and voluntary disclosures</a:t>
            </a:r>
          </a:p>
          <a:p>
            <a:endParaRPr lang="en-US" altLang="zh-CN" sz="1600" dirty="0">
              <a:latin typeface="Century Schoolbook" panose="02040604050505020304" pitchFamily="18" charset="0"/>
            </a:endParaRPr>
          </a:p>
        </p:txBody>
      </p:sp>
    </p:spTree>
    <p:extLst>
      <p:ext uri="{BB962C8B-B14F-4D97-AF65-F5344CB8AC3E}">
        <p14:creationId xmlns:p14="http://schemas.microsoft.com/office/powerpoint/2010/main" val="350317407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13265-80F9-4D23-8710-5A391C42BD7F}"/>
              </a:ext>
            </a:extLst>
          </p:cNvPr>
          <p:cNvSpPr>
            <a:spLocks noGrp="1"/>
          </p:cNvSpPr>
          <p:nvPr>
            <p:ph type="title"/>
          </p:nvPr>
        </p:nvSpPr>
        <p:spPr>
          <a:xfrm>
            <a:off x="1991545" y="2420470"/>
            <a:ext cx="8035637" cy="2017060"/>
          </a:xfrm>
        </p:spPr>
        <p:txBody>
          <a:bodyPr/>
          <a:lstStyle/>
          <a:p>
            <a:r>
              <a:rPr lang="en-US" sz="3200" dirty="0">
                <a:solidFill>
                  <a:schemeClr val="tx2"/>
                </a:solidFill>
              </a:rPr>
              <a:t>Mandatory Reporting</a:t>
            </a:r>
          </a:p>
        </p:txBody>
      </p:sp>
      <p:sp>
        <p:nvSpPr>
          <p:cNvPr id="3" name="Slide Number Placeholder 2">
            <a:extLst>
              <a:ext uri="{FF2B5EF4-FFF2-40B4-BE49-F238E27FC236}">
                <a16:creationId xmlns:a16="http://schemas.microsoft.com/office/drawing/2014/main" id="{295ACB22-B2E3-4093-9B95-43CBE20D619D}"/>
              </a:ext>
            </a:extLst>
          </p:cNvPr>
          <p:cNvSpPr>
            <a:spLocks noGrp="1"/>
          </p:cNvSpPr>
          <p:nvPr>
            <p:ph type="sldNum" sz="quarter" idx="2"/>
          </p:nvPr>
        </p:nvSpPr>
        <p:spPr/>
        <p:txBody>
          <a:bodyPr/>
          <a:lstStyle/>
          <a:p>
            <a:fld id="{86CB4B4D-7CA3-9044-876B-883B54F8677D}" type="slidenum">
              <a:rPr lang="en-US" smtClean="0"/>
              <a:pPr/>
              <a:t>11</a:t>
            </a:fld>
            <a:endParaRPr lang="en-US" dirty="0"/>
          </a:p>
        </p:txBody>
      </p:sp>
    </p:spTree>
    <p:extLst>
      <p:ext uri="{BB962C8B-B14F-4D97-AF65-F5344CB8AC3E}">
        <p14:creationId xmlns:p14="http://schemas.microsoft.com/office/powerpoint/2010/main" val="1842994431"/>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10A84-685D-460D-873B-3CC8AA743F25}"/>
              </a:ext>
            </a:extLst>
          </p:cNvPr>
          <p:cNvSpPr>
            <a:spLocks noGrp="1"/>
          </p:cNvSpPr>
          <p:nvPr>
            <p:ph type="title"/>
          </p:nvPr>
        </p:nvSpPr>
        <p:spPr/>
        <p:txBody>
          <a:bodyPr/>
          <a:lstStyle/>
          <a:p>
            <a:r>
              <a:rPr lang="en-US" sz="3400" dirty="0"/>
              <a:t>Topics Related to Mandatory Reporting</a:t>
            </a:r>
          </a:p>
        </p:txBody>
      </p:sp>
      <p:sp>
        <p:nvSpPr>
          <p:cNvPr id="3" name="Content Placeholder 2">
            <a:extLst>
              <a:ext uri="{FF2B5EF4-FFF2-40B4-BE49-F238E27FC236}">
                <a16:creationId xmlns:a16="http://schemas.microsoft.com/office/drawing/2014/main" id="{1C6A8577-AA85-45DD-B7AC-4D84AB2606C3}"/>
              </a:ext>
            </a:extLst>
          </p:cNvPr>
          <p:cNvSpPr>
            <a:spLocks noGrp="1"/>
          </p:cNvSpPr>
          <p:nvPr>
            <p:ph idx="1"/>
          </p:nvPr>
        </p:nvSpPr>
        <p:spPr/>
        <p:txBody>
          <a:bodyPr/>
          <a:lstStyle/>
          <a:p>
            <a:r>
              <a:rPr lang="en-US" sz="3000" dirty="0"/>
              <a:t>Usefulness of Earnings for decision making</a:t>
            </a:r>
          </a:p>
          <a:p>
            <a:r>
              <a:rPr lang="en-US" sz="3000" dirty="0"/>
              <a:t>Earnings Management</a:t>
            </a:r>
          </a:p>
          <a:p>
            <a:r>
              <a:rPr lang="en-US" sz="3000" dirty="0"/>
              <a:t>Earnings Quality</a:t>
            </a:r>
          </a:p>
          <a:p>
            <a:r>
              <a:rPr lang="en-US" sz="3000" dirty="0"/>
              <a:t>Conservatism</a:t>
            </a:r>
          </a:p>
          <a:p>
            <a:r>
              <a:rPr lang="en-US" sz="3000" dirty="0"/>
              <a:t>Mandatory reporting requirement changes: e.g., risk factor disclosure, segment reporting, IFRS adoption</a:t>
            </a:r>
          </a:p>
          <a:p>
            <a:endParaRPr lang="en-US" dirty="0"/>
          </a:p>
          <a:p>
            <a:endParaRPr lang="en-US" dirty="0"/>
          </a:p>
        </p:txBody>
      </p:sp>
      <p:sp>
        <p:nvSpPr>
          <p:cNvPr id="4" name="Date Placeholder 3">
            <a:extLst>
              <a:ext uri="{FF2B5EF4-FFF2-40B4-BE49-F238E27FC236}">
                <a16:creationId xmlns:a16="http://schemas.microsoft.com/office/drawing/2014/main" id="{3018D66D-856D-4CC2-BDE4-F361620305C3}"/>
              </a:ext>
            </a:extLst>
          </p:cNvPr>
          <p:cNvSpPr>
            <a:spLocks noGrp="1"/>
          </p:cNvSpPr>
          <p:nvPr>
            <p:ph type="dt" sz="half" idx="10"/>
          </p:nvPr>
        </p:nvSpPr>
        <p:spPr/>
        <p:txBody>
          <a:bodyPr/>
          <a:lstStyle/>
          <a:p>
            <a:fld id="{AC6EB80C-1B93-4878-B4F2-109FC389C177}" type="datetime1">
              <a:rPr lang="en-US" smtClean="0">
                <a:ea typeface="PMingLiU" panose="02020500000000000000" pitchFamily="18" charset="-120"/>
                <a:cs typeface="Arial" panose="020B0604020202020204" pitchFamily="34" charset="0"/>
              </a:rPr>
              <a:pPr/>
              <a:t>9/14/2026</a:t>
            </a:fld>
            <a:endParaRPr lang="en-US" dirty="0">
              <a:ea typeface="PMingLiU" panose="02020500000000000000" pitchFamily="18" charset="-120"/>
              <a:cs typeface="Arial" panose="020B0604020202020204" pitchFamily="34" charset="0"/>
            </a:endParaRPr>
          </a:p>
        </p:txBody>
      </p:sp>
      <p:sp>
        <p:nvSpPr>
          <p:cNvPr id="5" name="Slide Number Placeholder 4">
            <a:extLst>
              <a:ext uri="{FF2B5EF4-FFF2-40B4-BE49-F238E27FC236}">
                <a16:creationId xmlns:a16="http://schemas.microsoft.com/office/drawing/2014/main" id="{5FCF52A4-4B60-4FE8-8074-9A1394D41FC2}"/>
              </a:ext>
            </a:extLst>
          </p:cNvPr>
          <p:cNvSpPr>
            <a:spLocks noGrp="1"/>
          </p:cNvSpPr>
          <p:nvPr>
            <p:ph type="sldNum" sz="quarter" idx="12"/>
          </p:nvPr>
        </p:nvSpPr>
        <p:spPr/>
        <p:txBody>
          <a:bodyPr/>
          <a:lstStyle/>
          <a:p>
            <a:pPr lvl="0" eaLnBrk="1" hangingPunct="1">
              <a:buNone/>
            </a:pPr>
            <a:fld id="{9A0DB2DC-4C9A-4742-B13C-FB6460FD3503}" type="slidenum">
              <a:rPr lang="en-US" smtClean="0">
                <a:latin typeface="Calibri" panose="020F0502020204030204" pitchFamily="34" charset="0"/>
                <a:ea typeface="PMingLiU" panose="02020500000000000000" pitchFamily="18" charset="-120"/>
                <a:cs typeface="Arial" panose="020B0604020202020204" pitchFamily="34" charset="0"/>
              </a:rPr>
              <a:t>12</a:t>
            </a:fld>
            <a:endParaRPr lang="en-US" dirty="0">
              <a:latin typeface="Calibri" panose="020F0502020204030204" pitchFamily="34" charset="0"/>
              <a:ea typeface="PMingLiU" panose="02020500000000000000" pitchFamily="18" charset="-120"/>
              <a:cs typeface="Arial" panose="020B0604020202020204" pitchFamily="34" charset="0"/>
            </a:endParaRPr>
          </a:p>
        </p:txBody>
      </p:sp>
    </p:spTree>
    <p:extLst>
      <p:ext uri="{BB962C8B-B14F-4D97-AF65-F5344CB8AC3E}">
        <p14:creationId xmlns:p14="http://schemas.microsoft.com/office/powerpoint/2010/main" val="2262356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5">
            <a:extLst>
              <a:ext uri="{FF2B5EF4-FFF2-40B4-BE49-F238E27FC236}">
                <a16:creationId xmlns:a16="http://schemas.microsoft.com/office/drawing/2014/main" id="{F6399FE9-7A13-48D0-B537-41A436317472}"/>
              </a:ext>
            </a:extLst>
          </p:cNvPr>
          <p:cNvSpPr>
            <a:spLocks noGrp="1"/>
          </p:cNvSpPr>
          <p:nvPr>
            <p:ph type="title"/>
          </p:nvPr>
        </p:nvSpPr>
        <p:spPr>
          <a:xfrm>
            <a:off x="1530929" y="311642"/>
            <a:ext cx="9144000" cy="850578"/>
          </a:xfrm>
        </p:spPr>
        <p:txBody>
          <a:bodyPr vert="horz" wrap="square" lIns="91440" tIns="45720" rIns="91440" bIns="45720" numCol="1" rtlCol="0" anchor="ctr" anchorCtr="0" compatLnSpc="1">
            <a:noAutofit/>
          </a:bodyPr>
          <a:lstStyle/>
          <a:p>
            <a:pPr marL="462280">
              <a:defRPr/>
            </a:pPr>
            <a:r>
              <a:rPr lang="en-US" sz="3200" dirty="0">
                <a:solidFill>
                  <a:schemeClr val="tx2"/>
                </a:solidFill>
              </a:rPr>
              <a:t>Decision usefulness (Efficient market approach)</a:t>
            </a:r>
            <a:endParaRPr lang="en-US" altLang="en-US" sz="3000" dirty="0">
              <a:solidFill>
                <a:schemeClr val="tx2"/>
              </a:solidFill>
              <a:cs typeface="Times New Roman" panose="02020603050405020304" pitchFamily="18" charset="0"/>
            </a:endParaRPr>
          </a:p>
        </p:txBody>
      </p:sp>
      <p:sp>
        <p:nvSpPr>
          <p:cNvPr id="3" name="Slide Number Placeholder 2">
            <a:extLst>
              <a:ext uri="{FF2B5EF4-FFF2-40B4-BE49-F238E27FC236}">
                <a16:creationId xmlns:a16="http://schemas.microsoft.com/office/drawing/2014/main" id="{929EA5A9-0845-4703-8043-41B25C7AF8FC}"/>
              </a:ext>
            </a:extLst>
          </p:cNvPr>
          <p:cNvSpPr>
            <a:spLocks noGrp="1"/>
          </p:cNvSpPr>
          <p:nvPr>
            <p:ph type="sldNum" sz="quarter" idx="2"/>
          </p:nvPr>
        </p:nvSpPr>
        <p:spPr/>
        <p:txBody>
          <a:bodyPr/>
          <a:lstStyle/>
          <a:p>
            <a:fld id="{86CB4B4D-7CA3-9044-876B-883B54F8677D}" type="slidenum">
              <a:rPr lang="en-US" smtClean="0"/>
              <a:t>13</a:t>
            </a:fld>
            <a:endParaRPr lang="en-US"/>
          </a:p>
        </p:txBody>
      </p:sp>
      <p:sp>
        <p:nvSpPr>
          <p:cNvPr id="5" name="文本框 4">
            <a:extLst>
              <a:ext uri="{FF2B5EF4-FFF2-40B4-BE49-F238E27FC236}">
                <a16:creationId xmlns:a16="http://schemas.microsoft.com/office/drawing/2014/main" id="{F5203343-732A-4EA4-9D89-1101B9C001D4}"/>
              </a:ext>
            </a:extLst>
          </p:cNvPr>
          <p:cNvSpPr txBox="1"/>
          <p:nvPr/>
        </p:nvSpPr>
        <p:spPr>
          <a:xfrm>
            <a:off x="1919535" y="1484785"/>
            <a:ext cx="8599451" cy="3662541"/>
          </a:xfrm>
          <a:prstGeom prst="rect">
            <a:avLst/>
          </a:prstGeom>
          <a:noFill/>
        </p:spPr>
        <p:txBody>
          <a:bodyPr wrap="square">
            <a:spAutoFit/>
          </a:bodyPr>
          <a:lstStyle/>
          <a:p>
            <a:pPr marL="285750" indent="-285750">
              <a:buFont typeface="Arial" panose="020B0604020202020204" pitchFamily="34" charset="0"/>
              <a:buChar char="•"/>
            </a:pPr>
            <a:r>
              <a:rPr lang="en-CA" altLang="en-US" sz="2400" dirty="0">
                <a:latin typeface="Century Schoolbook" panose="02040604050505020304" pitchFamily="18" charset="0"/>
              </a:rPr>
              <a:t>Assumes securities market efficiency</a:t>
            </a:r>
          </a:p>
          <a:p>
            <a:endParaRPr lang="en-CA" altLang="en-US" sz="2400" dirty="0">
              <a:latin typeface="Century Schoolbook" panose="02040604050505020304" pitchFamily="18" charset="0"/>
            </a:endParaRPr>
          </a:p>
          <a:p>
            <a:pPr marL="342900" indent="-342900">
              <a:buFont typeface="Arial" panose="020B0604020202020204" pitchFamily="34" charset="0"/>
              <a:buChar char="•"/>
            </a:pPr>
            <a:r>
              <a:rPr lang="en-CA" altLang="en-US" sz="2400" dirty="0">
                <a:latin typeface="Century Schoolbook" panose="02040604050505020304" pitchFamily="18" charset="0"/>
              </a:rPr>
              <a:t>Investors predict future firm performance to price firms’ securities</a:t>
            </a:r>
          </a:p>
          <a:p>
            <a:pPr marL="800100" lvl="1" indent="-342900">
              <a:buFont typeface="Wingdings" panose="05000000000000000000" pitchFamily="2" charset="2"/>
              <a:buChar char="Ø"/>
            </a:pPr>
            <a:r>
              <a:rPr lang="en-CA" altLang="en-US" sz="2400" dirty="0">
                <a:latin typeface="Century Schoolbook" panose="02040604050505020304" pitchFamily="18" charset="0"/>
              </a:rPr>
              <a:t>Role of financial reporting to provide useful information for this purpose </a:t>
            </a:r>
          </a:p>
          <a:p>
            <a:pPr lvl="1"/>
            <a:endParaRPr lang="en-CA" altLang="en-US" sz="2400" dirty="0">
              <a:latin typeface="Century Schoolbook" panose="02040604050505020304" pitchFamily="18" charset="0"/>
            </a:endParaRPr>
          </a:p>
          <a:p>
            <a:pPr marL="285750" indent="-285750">
              <a:buFont typeface="Arial" panose="020B0604020202020204" pitchFamily="34" charset="0"/>
              <a:buChar char="•"/>
            </a:pPr>
            <a:r>
              <a:rPr lang="en-CA" altLang="en-US" sz="2400" dirty="0">
                <a:latin typeface="Century Schoolbook" panose="02040604050505020304" pitchFamily="18" charset="0"/>
              </a:rPr>
              <a:t>Usefulness of financial information evaluated by magnitude of security price response to that information</a:t>
            </a:r>
          </a:p>
          <a:p>
            <a:endParaRPr lang="en-US" altLang="zh-CN" sz="1600" dirty="0">
              <a:latin typeface="Century Schoolbook" panose="02040604050505020304" pitchFamily="18" charset="0"/>
            </a:endParaRPr>
          </a:p>
        </p:txBody>
      </p:sp>
    </p:spTree>
    <p:extLst>
      <p:ext uri="{BB962C8B-B14F-4D97-AF65-F5344CB8AC3E}">
        <p14:creationId xmlns:p14="http://schemas.microsoft.com/office/powerpoint/2010/main" val="401884338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1080" y="561552"/>
            <a:ext cx="10515600" cy="1325563"/>
          </a:xfrm>
        </p:spPr>
        <p:txBody>
          <a:bodyPr>
            <a:normAutofit/>
          </a:bodyPr>
          <a:lstStyle/>
          <a:p>
            <a:r>
              <a:rPr lang="en-CA" altLang="en-US" b="1" dirty="0"/>
              <a:t>Reasons for Security Price Response</a:t>
            </a:r>
            <a:endParaRPr lang="en-US" b="1" dirty="0"/>
          </a:p>
        </p:txBody>
      </p:sp>
      <p:sp>
        <p:nvSpPr>
          <p:cNvPr id="3" name="Content Placeholder 2"/>
          <p:cNvSpPr>
            <a:spLocks noGrp="1"/>
          </p:cNvSpPr>
          <p:nvPr>
            <p:ph idx="1"/>
          </p:nvPr>
        </p:nvSpPr>
        <p:spPr>
          <a:xfrm>
            <a:off x="580813" y="2141537"/>
            <a:ext cx="10515600" cy="4351338"/>
          </a:xfrm>
        </p:spPr>
        <p:txBody>
          <a:bodyPr/>
          <a:lstStyle/>
          <a:p>
            <a:pPr lvl="1"/>
            <a:r>
              <a:rPr lang="en-CA" altLang="en-US" dirty="0"/>
              <a:t>Investors have prior expectations on future firm performance</a:t>
            </a:r>
          </a:p>
          <a:p>
            <a:pPr lvl="1"/>
            <a:r>
              <a:rPr lang="en-CA" altLang="en-US" dirty="0"/>
              <a:t>Investors obtain useful information from financial statements</a:t>
            </a:r>
          </a:p>
          <a:p>
            <a:pPr lvl="1"/>
            <a:r>
              <a:rPr lang="en-CA" altLang="en-US" dirty="0"/>
              <a:t>Investors revise their expectations</a:t>
            </a:r>
          </a:p>
          <a:p>
            <a:pPr lvl="1"/>
            <a:r>
              <a:rPr lang="en-CA" altLang="en-US" dirty="0"/>
              <a:t>Leads to buy/sell decisions</a:t>
            </a:r>
          </a:p>
          <a:p>
            <a:pPr lvl="1"/>
            <a:r>
              <a:rPr lang="en-CA" altLang="en-US" dirty="0"/>
              <a:t>Security price changes</a:t>
            </a:r>
          </a:p>
          <a:p>
            <a:pPr lvl="1"/>
            <a:r>
              <a:rPr lang="en-CA" altLang="en-US" dirty="0"/>
              <a:t>Return on share changes</a:t>
            </a:r>
          </a:p>
        </p:txBody>
      </p:sp>
    </p:spTree>
    <p:extLst>
      <p:ext uri="{BB962C8B-B14F-4D97-AF65-F5344CB8AC3E}">
        <p14:creationId xmlns:p14="http://schemas.microsoft.com/office/powerpoint/2010/main" val="2288300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ltLang="en-US" b="1" dirty="0"/>
              <a:t>Abnormal Share Return</a:t>
            </a:r>
            <a:endParaRPr lang="en-US" b="1" dirty="0"/>
          </a:p>
        </p:txBody>
      </p:sp>
      <p:sp>
        <p:nvSpPr>
          <p:cNvPr id="3" name="Content Placeholder 2"/>
          <p:cNvSpPr>
            <a:spLocks noGrp="1"/>
          </p:cNvSpPr>
          <p:nvPr>
            <p:ph idx="1"/>
          </p:nvPr>
        </p:nvSpPr>
        <p:spPr/>
        <p:txBody>
          <a:bodyPr>
            <a:normAutofit/>
          </a:bodyPr>
          <a:lstStyle/>
          <a:p>
            <a:r>
              <a:rPr lang="en-CA" altLang="en-US" dirty="0"/>
              <a:t>Total share return = return due to market-wide factors </a:t>
            </a:r>
            <a:r>
              <a:rPr lang="en-US" altLang="en-US" dirty="0">
                <a:cs typeface="Arial" charset="0"/>
              </a:rPr>
              <a:t>± abnormal share return due to firm-specific factors</a:t>
            </a:r>
          </a:p>
          <a:p>
            <a:pPr lvl="1"/>
            <a:r>
              <a:rPr lang="en-US" altLang="en-US" dirty="0">
                <a:cs typeface="Arial" charset="0"/>
              </a:rPr>
              <a:t>Only abnormal share return can be attributed to financial accounting information</a:t>
            </a:r>
          </a:p>
          <a:p>
            <a:pPr lvl="1"/>
            <a:r>
              <a:rPr lang="en-US" altLang="en-US" dirty="0">
                <a:cs typeface="Arial" charset="0"/>
              </a:rPr>
              <a:t>If good news in financial statements leads to positive abnormal share return (and vice versa), conclude financial statement information is useful.</a:t>
            </a:r>
          </a:p>
          <a:p>
            <a:pPr lvl="1"/>
            <a:r>
              <a:rPr lang="en-US" altLang="en-US" dirty="0">
                <a:cs typeface="Arial" charset="0"/>
              </a:rPr>
              <a:t>To reach such a conclusion, need to separate market-wide and firm-specific returns</a:t>
            </a:r>
          </a:p>
          <a:p>
            <a:endParaRPr lang="en-US" dirty="0"/>
          </a:p>
        </p:txBody>
      </p:sp>
    </p:spTree>
    <p:extLst>
      <p:ext uri="{BB962C8B-B14F-4D97-AF65-F5344CB8AC3E}">
        <p14:creationId xmlns:p14="http://schemas.microsoft.com/office/powerpoint/2010/main" val="33659527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altLang="en-US" b="1" dirty="0"/>
              <a:t>Separating Market-Wide and Firm-Specific Factors</a:t>
            </a:r>
            <a:endParaRPr lang="en-US" b="1" dirty="0"/>
          </a:p>
        </p:txBody>
      </p:sp>
      <p:sp>
        <p:nvSpPr>
          <p:cNvPr id="3" name="Content Placeholder 2"/>
          <p:cNvSpPr>
            <a:spLocks noGrp="1"/>
          </p:cNvSpPr>
          <p:nvPr>
            <p:ph idx="1"/>
          </p:nvPr>
        </p:nvSpPr>
        <p:spPr/>
        <p:txBody>
          <a:bodyPr/>
          <a:lstStyle/>
          <a:p>
            <a:r>
              <a:rPr lang="en-CA" altLang="en-US" dirty="0"/>
              <a:t>Firm releases financial information</a:t>
            </a:r>
          </a:p>
          <a:p>
            <a:pPr lvl="1"/>
            <a:r>
              <a:rPr lang="en-CA" altLang="en-US" dirty="0"/>
              <a:t>Most studies look at release of earnings</a:t>
            </a:r>
          </a:p>
          <a:p>
            <a:r>
              <a:rPr lang="en-CA" altLang="en-US" dirty="0"/>
              <a:t>Use market model to estimate market-wide return on that day (or narrow window)</a:t>
            </a:r>
          </a:p>
          <a:p>
            <a:pPr lvl="1"/>
            <a:r>
              <a:rPr lang="en-CA" altLang="en-US" dirty="0"/>
              <a:t>Assumes market efficiency</a:t>
            </a:r>
          </a:p>
          <a:p>
            <a:r>
              <a:rPr lang="en-CA" altLang="en-US" dirty="0"/>
              <a:t>Abnormal share return during narrow window = total return – market-wide return</a:t>
            </a:r>
            <a:endParaRPr lang="en-US" dirty="0"/>
          </a:p>
        </p:txBody>
      </p:sp>
    </p:spTree>
    <p:extLst>
      <p:ext uri="{BB962C8B-B14F-4D97-AF65-F5344CB8AC3E}">
        <p14:creationId xmlns:p14="http://schemas.microsoft.com/office/powerpoint/2010/main" val="14907994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altLang="en-US" b="1" dirty="0"/>
              <a:t>Unexpected Earnings</a:t>
            </a:r>
            <a:endParaRPr lang="en-US" b="1" dirty="0"/>
          </a:p>
        </p:txBody>
      </p:sp>
      <p:sp>
        <p:nvSpPr>
          <p:cNvPr id="3" name="Content Placeholder 2"/>
          <p:cNvSpPr>
            <a:spLocks noGrp="1"/>
          </p:cNvSpPr>
          <p:nvPr>
            <p:ph idx="1"/>
          </p:nvPr>
        </p:nvSpPr>
        <p:spPr/>
        <p:txBody>
          <a:bodyPr>
            <a:normAutofit/>
          </a:bodyPr>
          <a:lstStyle/>
          <a:p>
            <a:r>
              <a:rPr lang="en-CA" altLang="en-US" dirty="0"/>
              <a:t>Investors have expectations of the to-be-announced earnings</a:t>
            </a:r>
          </a:p>
          <a:p>
            <a:r>
              <a:rPr lang="en-CA" altLang="en-US" dirty="0"/>
              <a:t>Investors’ expectations are built into share price prior to release of current earnings</a:t>
            </a:r>
          </a:p>
          <a:p>
            <a:pPr lvl="1"/>
            <a:r>
              <a:rPr lang="en-CA" altLang="en-US" dirty="0"/>
              <a:t>Assumes market efficiency</a:t>
            </a:r>
          </a:p>
          <a:p>
            <a:r>
              <a:rPr lang="en-CA" altLang="en-US" dirty="0"/>
              <a:t>Investors will react only to unexpected earnings</a:t>
            </a:r>
          </a:p>
          <a:p>
            <a:r>
              <a:rPr lang="en-CA" altLang="en-US" dirty="0"/>
              <a:t>Investors’ earnings expectations unobservable</a:t>
            </a:r>
          </a:p>
          <a:p>
            <a:pPr lvl="1"/>
            <a:r>
              <a:rPr lang="en-CA" altLang="en-US" dirty="0"/>
              <a:t>How to separate expected and unexpected earnings?</a:t>
            </a:r>
          </a:p>
          <a:p>
            <a:endParaRPr lang="en-CA" altLang="en-US" dirty="0"/>
          </a:p>
          <a:p>
            <a:endParaRPr lang="en-US" dirty="0"/>
          </a:p>
        </p:txBody>
      </p:sp>
    </p:spTree>
    <p:extLst>
      <p:ext uri="{BB962C8B-B14F-4D97-AF65-F5344CB8AC3E}">
        <p14:creationId xmlns:p14="http://schemas.microsoft.com/office/powerpoint/2010/main" val="3599774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b="1" dirty="0"/>
              <a:t>Estimation of Investors’ Earnings Expectations</a:t>
            </a:r>
            <a:endParaRPr lang="en-US" b="1" dirty="0"/>
          </a:p>
        </p:txBody>
      </p:sp>
      <p:sp>
        <p:nvSpPr>
          <p:cNvPr id="3" name="Content Placeholder 2"/>
          <p:cNvSpPr>
            <a:spLocks noGrp="1"/>
          </p:cNvSpPr>
          <p:nvPr>
            <p:ph idx="1"/>
          </p:nvPr>
        </p:nvSpPr>
        <p:spPr/>
        <p:txBody>
          <a:bodyPr/>
          <a:lstStyle/>
          <a:p>
            <a:r>
              <a:rPr lang="en-CA" altLang="en-US" dirty="0"/>
              <a:t>Time series approach</a:t>
            </a:r>
          </a:p>
          <a:p>
            <a:pPr lvl="1"/>
            <a:r>
              <a:rPr lang="en-CA" altLang="en-US" dirty="0"/>
              <a:t>Based on earnings in prior years</a:t>
            </a:r>
          </a:p>
          <a:p>
            <a:r>
              <a:rPr lang="en-CA" altLang="en-US" dirty="0"/>
              <a:t>Analysts’ forecasts</a:t>
            </a:r>
          </a:p>
          <a:p>
            <a:pPr lvl="1"/>
            <a:r>
              <a:rPr lang="en-CA" altLang="en-US" dirty="0"/>
              <a:t>Available for most large firms</a:t>
            </a:r>
          </a:p>
          <a:p>
            <a:pPr lvl="1"/>
            <a:r>
              <a:rPr lang="en-CA" altLang="en-US" dirty="0"/>
              <a:t>Now the most common approach</a:t>
            </a:r>
          </a:p>
          <a:p>
            <a:endParaRPr lang="en-US" dirty="0"/>
          </a:p>
        </p:txBody>
      </p:sp>
    </p:spTree>
    <p:extLst>
      <p:ext uri="{BB962C8B-B14F-4D97-AF65-F5344CB8AC3E}">
        <p14:creationId xmlns:p14="http://schemas.microsoft.com/office/powerpoint/2010/main" val="556951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The Ball and Brown (1968) Study</a:t>
            </a:r>
            <a:endParaRPr lang="en-US" b="1" dirty="0"/>
          </a:p>
        </p:txBody>
      </p:sp>
      <p:sp>
        <p:nvSpPr>
          <p:cNvPr id="3" name="Content Placeholder 2"/>
          <p:cNvSpPr>
            <a:spLocks noGrp="1"/>
          </p:cNvSpPr>
          <p:nvPr>
            <p:ph idx="1"/>
          </p:nvPr>
        </p:nvSpPr>
        <p:spPr/>
        <p:txBody>
          <a:bodyPr/>
          <a:lstStyle/>
          <a:p>
            <a:r>
              <a:rPr lang="en-US" altLang="en-US" dirty="0"/>
              <a:t>The First Study to Document Statistically a Share Price Response to Reported Net Income (1968)</a:t>
            </a:r>
          </a:p>
          <a:p>
            <a:endParaRPr lang="en-US" altLang="en-US" dirty="0"/>
          </a:p>
          <a:p>
            <a:r>
              <a:rPr lang="en-US" altLang="en-US" dirty="0"/>
              <a:t>Methodology Still in Use Today</a:t>
            </a:r>
          </a:p>
          <a:p>
            <a:endParaRPr lang="en-US" dirty="0"/>
          </a:p>
        </p:txBody>
      </p:sp>
    </p:spTree>
    <p:extLst>
      <p:ext uri="{BB962C8B-B14F-4D97-AF65-F5344CB8AC3E}">
        <p14:creationId xmlns:p14="http://schemas.microsoft.com/office/powerpoint/2010/main" val="92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B&amp;B Methodology</a:t>
            </a:r>
            <a:endParaRPr lang="en-US" b="1" dirty="0"/>
          </a:p>
        </p:txBody>
      </p:sp>
      <p:sp>
        <p:nvSpPr>
          <p:cNvPr id="3" name="Content Placeholder 2"/>
          <p:cNvSpPr>
            <a:spLocks noGrp="1"/>
          </p:cNvSpPr>
          <p:nvPr>
            <p:ph idx="1"/>
          </p:nvPr>
        </p:nvSpPr>
        <p:spPr/>
        <p:txBody>
          <a:bodyPr/>
          <a:lstStyle/>
          <a:p>
            <a:r>
              <a:rPr lang="en-US" altLang="en-US" dirty="0"/>
              <a:t>For Each Sample Firm:</a:t>
            </a:r>
          </a:p>
          <a:p>
            <a:pPr lvl="1"/>
            <a:r>
              <a:rPr lang="en-US" altLang="en-US" dirty="0"/>
              <a:t>Estimate investors’ earnings expectations  (Expected earnings based on regression model and last year’s earnings)</a:t>
            </a:r>
          </a:p>
          <a:p>
            <a:pPr lvl="1"/>
            <a:r>
              <a:rPr lang="en-US" altLang="en-US" dirty="0"/>
              <a:t>Classify each firm as having GN (actual earnings &gt; expected earnings) or BN (vice versa)</a:t>
            </a:r>
          </a:p>
          <a:p>
            <a:pPr lvl="1"/>
            <a:r>
              <a:rPr lang="en-US" altLang="en-US" dirty="0"/>
              <a:t>Estimate abnormal </a:t>
            </a:r>
            <a:r>
              <a:rPr lang="en-US" altLang="en-US" i="1" dirty="0"/>
              <a:t>share</a:t>
            </a:r>
            <a:r>
              <a:rPr lang="en-US" altLang="en-US" dirty="0"/>
              <a:t> return for month of release of earnings (month 0)</a:t>
            </a:r>
            <a:endParaRPr lang="en-US" dirty="0"/>
          </a:p>
        </p:txBody>
      </p:sp>
    </p:spTree>
    <p:extLst>
      <p:ext uri="{BB962C8B-B14F-4D97-AF65-F5344CB8AC3E}">
        <p14:creationId xmlns:p14="http://schemas.microsoft.com/office/powerpoint/2010/main" val="3655663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B&amp;B Methodology</a:t>
            </a:r>
            <a:endParaRPr lang="en-US" b="1" dirty="0"/>
          </a:p>
        </p:txBody>
      </p:sp>
      <p:sp>
        <p:nvSpPr>
          <p:cNvPr id="3" name="Content Placeholder 2"/>
          <p:cNvSpPr>
            <a:spLocks noGrp="1"/>
          </p:cNvSpPr>
          <p:nvPr>
            <p:ph idx="1"/>
          </p:nvPr>
        </p:nvSpPr>
        <p:spPr/>
        <p:txBody>
          <a:bodyPr/>
          <a:lstStyle/>
          <a:p>
            <a:r>
              <a:rPr lang="en-US" altLang="en-US" dirty="0"/>
              <a:t>Calculate </a:t>
            </a:r>
            <a:r>
              <a:rPr lang="en-US" altLang="en-US" i="1" dirty="0"/>
              <a:t>Average</a:t>
            </a:r>
            <a:r>
              <a:rPr lang="en-US" altLang="en-US" dirty="0"/>
              <a:t> Abnormal Share Return for GN Firms for Month 0</a:t>
            </a:r>
          </a:p>
          <a:p>
            <a:r>
              <a:rPr lang="en-US" altLang="en-US" dirty="0"/>
              <a:t>Ditto for BN Firms</a:t>
            </a:r>
          </a:p>
          <a:p>
            <a:r>
              <a:rPr lang="en-US" altLang="en-US" dirty="0"/>
              <a:t>Repeat for Months -1, -2,…,-11, and Months +1, +2,…,+6</a:t>
            </a:r>
          </a:p>
          <a:p>
            <a:r>
              <a:rPr lang="en-US" altLang="en-US" dirty="0"/>
              <a:t>Plot Results</a:t>
            </a:r>
            <a:endParaRPr lang="en-US" dirty="0"/>
          </a:p>
        </p:txBody>
      </p:sp>
    </p:spTree>
    <p:extLst>
      <p:ext uri="{BB962C8B-B14F-4D97-AF65-F5344CB8AC3E}">
        <p14:creationId xmlns:p14="http://schemas.microsoft.com/office/powerpoint/2010/main" val="27309851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r>
              <a:rPr lang="en-US" b="1" dirty="0"/>
              <a:t>B&amp;B Results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066800"/>
            <a:ext cx="6491808" cy="5522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69242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ltLang="en-US" b="1" dirty="0"/>
              <a:t>B&amp;B Conclusion</a:t>
            </a:r>
            <a:endParaRPr lang="en-US" b="1" dirty="0"/>
          </a:p>
        </p:txBody>
      </p:sp>
      <p:sp>
        <p:nvSpPr>
          <p:cNvPr id="3" name="Content Placeholder 2"/>
          <p:cNvSpPr>
            <a:spLocks noGrp="1"/>
          </p:cNvSpPr>
          <p:nvPr>
            <p:ph idx="1"/>
          </p:nvPr>
        </p:nvSpPr>
        <p:spPr/>
        <p:txBody>
          <a:bodyPr/>
          <a:lstStyle/>
          <a:p>
            <a:r>
              <a:rPr lang="en-CA" altLang="en-US" sz="3000" dirty="0"/>
              <a:t>Stock Market Reacts to Accounting Information, but Begins to Anticipate the GN or BN in Earnings 12 Months Prior to Month of Earnings Announcement</a:t>
            </a:r>
          </a:p>
          <a:p>
            <a:pPr lvl="1"/>
            <a:r>
              <a:rPr lang="en-CA" altLang="en-US" dirty="0"/>
              <a:t>	Consistent  with securities market efficiency and underlying rational decision theory	</a:t>
            </a:r>
          </a:p>
          <a:p>
            <a:endParaRPr lang="en-US" dirty="0"/>
          </a:p>
        </p:txBody>
      </p:sp>
    </p:spTree>
    <p:extLst>
      <p:ext uri="{BB962C8B-B14F-4D97-AF65-F5344CB8AC3E}">
        <p14:creationId xmlns:p14="http://schemas.microsoft.com/office/powerpoint/2010/main" val="877269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HK" dirty="0"/>
              <a:t>Earnings Management</a:t>
            </a:r>
            <a:endParaRPr lang="zh-HK" altLang="en-US" dirty="0"/>
          </a:p>
        </p:txBody>
      </p:sp>
    </p:spTree>
    <p:extLst>
      <p:ext uri="{BB962C8B-B14F-4D97-AF65-F5344CB8AC3E}">
        <p14:creationId xmlns:p14="http://schemas.microsoft.com/office/powerpoint/2010/main" val="12532989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idx="4294967295"/>
          </p:nvPr>
        </p:nvSpPr>
        <p:spPr/>
        <p:txBody>
          <a:bodyPr/>
          <a:lstStyle/>
          <a:p>
            <a:r>
              <a:rPr lang="en-CA" altLang="zh-HK" sz="3600"/>
              <a:t>What is Earnings Management?</a:t>
            </a:r>
            <a:endParaRPr lang="en-US" altLang="zh-HK" sz="3600"/>
          </a:p>
        </p:txBody>
      </p:sp>
      <p:sp>
        <p:nvSpPr>
          <p:cNvPr id="5123" name="Content Placeholder 2"/>
          <p:cNvSpPr>
            <a:spLocks noGrp="1"/>
          </p:cNvSpPr>
          <p:nvPr>
            <p:ph idx="4294967295"/>
          </p:nvPr>
        </p:nvSpPr>
        <p:spPr/>
        <p:txBody>
          <a:bodyPr/>
          <a:lstStyle/>
          <a:p>
            <a:r>
              <a:rPr lang="en-CA" altLang="zh-HK" b="1" dirty="0">
                <a:solidFill>
                  <a:schemeClr val="hlink"/>
                </a:solidFill>
              </a:rPr>
              <a:t>Earnings management</a:t>
            </a:r>
            <a:r>
              <a:rPr lang="en-CA" altLang="zh-HK" dirty="0"/>
              <a:t> is the choice by a manager of </a:t>
            </a:r>
            <a:r>
              <a:rPr lang="en-CA" altLang="zh-HK" dirty="0">
                <a:solidFill>
                  <a:schemeClr val="hlink"/>
                </a:solidFill>
              </a:rPr>
              <a:t>accounting policies, or real actions</a:t>
            </a:r>
            <a:r>
              <a:rPr lang="en-CA" altLang="zh-HK" dirty="0"/>
              <a:t> that affect earnings, so as to achieve some specific reported earnings objective</a:t>
            </a:r>
          </a:p>
          <a:p>
            <a:endParaRPr lang="en-US" altLang="zh-HK" dirty="0"/>
          </a:p>
        </p:txBody>
      </p:sp>
      <p:sp>
        <p:nvSpPr>
          <p:cNvPr id="5125" name="Slide Number Placeholder 4"/>
          <p:cNvSpPr>
            <a:spLocks noGrp="1"/>
          </p:cNvSpPr>
          <p:nvPr>
            <p:ph type="sldNum" sz="quarter" idx="11"/>
          </p:nvPr>
        </p:nvSpPr>
        <p:spPr>
          <a:xfrm>
            <a:off x="8077200" y="6356351"/>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13474EC3-A210-4E40-B047-C154B1B667ED}" type="slidenum">
              <a:rPr lang="en-AU" altLang="zh-HK">
                <a:solidFill>
                  <a:srgbClr val="898989"/>
                </a:solidFill>
                <a:latin typeface="Calibri" pitchFamily="34" charset="0"/>
                <a:ea typeface="新細明體" charset="-120"/>
              </a:rPr>
              <a:pPr eaLnBrk="1" hangingPunct="1"/>
              <a:t>25</a:t>
            </a:fld>
            <a:endParaRPr lang="en-AU" altLang="zh-HK">
              <a:solidFill>
                <a:srgbClr val="898989"/>
              </a:solidFill>
              <a:latin typeface="Calibri" pitchFamily="34" charset="0"/>
              <a:ea typeface="新細明體" charset="-120"/>
            </a:endParaRPr>
          </a:p>
        </p:txBody>
      </p:sp>
    </p:spTree>
    <p:extLst>
      <p:ext uri="{BB962C8B-B14F-4D97-AF65-F5344CB8AC3E}">
        <p14:creationId xmlns:p14="http://schemas.microsoft.com/office/powerpoint/2010/main" val="36117480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idx="4294967295"/>
          </p:nvPr>
        </p:nvSpPr>
        <p:spPr/>
        <p:txBody>
          <a:bodyPr/>
          <a:lstStyle/>
          <a:p>
            <a:r>
              <a:rPr lang="en-CA" altLang="zh-HK" sz="3600" dirty="0"/>
              <a:t>What is Earnings Management?</a:t>
            </a:r>
            <a:endParaRPr lang="en-US" altLang="zh-HK" sz="3600" dirty="0"/>
          </a:p>
        </p:txBody>
      </p:sp>
      <p:sp>
        <p:nvSpPr>
          <p:cNvPr id="38915" name="Content Placeholder 2"/>
          <p:cNvSpPr>
            <a:spLocks noGrp="1"/>
          </p:cNvSpPr>
          <p:nvPr>
            <p:ph idx="4294967295"/>
          </p:nvPr>
        </p:nvSpPr>
        <p:spPr/>
        <p:txBody>
          <a:bodyPr>
            <a:normAutofit/>
          </a:bodyPr>
          <a:lstStyle/>
          <a:p>
            <a:r>
              <a:rPr lang="en-CA" altLang="zh-HK" sz="2600" b="1" dirty="0" err="1">
                <a:solidFill>
                  <a:schemeClr val="hlink"/>
                </a:solidFill>
              </a:rPr>
              <a:t>Schipper</a:t>
            </a:r>
            <a:r>
              <a:rPr lang="en-CA" altLang="zh-HK" sz="2600" b="1" dirty="0">
                <a:solidFill>
                  <a:schemeClr val="hlink"/>
                </a:solidFill>
              </a:rPr>
              <a:t> (1989, 92):</a:t>
            </a:r>
            <a:r>
              <a:rPr lang="en-CA" altLang="zh-HK" sz="2600" dirty="0"/>
              <a:t> "...a </a:t>
            </a:r>
            <a:r>
              <a:rPr lang="en-CA" altLang="zh-HK" sz="2600" dirty="0">
                <a:solidFill>
                  <a:schemeClr val="hlink"/>
                </a:solidFill>
              </a:rPr>
              <a:t>purposeful intervention</a:t>
            </a:r>
            <a:r>
              <a:rPr lang="en-CA" altLang="zh-HK" sz="2600" dirty="0"/>
              <a:t> in the external financial reporting process, with the intent of obtaining some </a:t>
            </a:r>
            <a:r>
              <a:rPr lang="en-CA" altLang="zh-HK" sz="2600" dirty="0">
                <a:solidFill>
                  <a:schemeClr val="hlink"/>
                </a:solidFill>
              </a:rPr>
              <a:t>private gain</a:t>
            </a:r>
            <a:r>
              <a:rPr lang="en-CA" altLang="zh-HK" sz="2600" dirty="0"/>
              <a:t> (as opposed to, say, merely facilitating the neutral operation of the process)....“</a:t>
            </a:r>
          </a:p>
          <a:p>
            <a:endParaRPr lang="en-CA" altLang="zh-HK" sz="2600" dirty="0"/>
          </a:p>
          <a:p>
            <a:r>
              <a:rPr lang="en-CA" altLang="zh-HK" sz="2600" b="1" dirty="0">
                <a:solidFill>
                  <a:schemeClr val="hlink"/>
                </a:solidFill>
              </a:rPr>
              <a:t>Healy and </a:t>
            </a:r>
            <a:r>
              <a:rPr lang="en-CA" altLang="zh-HK" sz="2600" b="1" dirty="0" err="1">
                <a:solidFill>
                  <a:schemeClr val="hlink"/>
                </a:solidFill>
              </a:rPr>
              <a:t>Wahlen</a:t>
            </a:r>
            <a:r>
              <a:rPr lang="en-CA" altLang="zh-HK" sz="2600" b="1" dirty="0">
                <a:solidFill>
                  <a:schemeClr val="hlink"/>
                </a:solidFill>
              </a:rPr>
              <a:t> (1999, 368):</a:t>
            </a:r>
            <a:r>
              <a:rPr lang="en-CA" altLang="zh-HK" sz="2600" dirty="0"/>
              <a:t> "Earnings management occurs when managers </a:t>
            </a:r>
            <a:r>
              <a:rPr lang="en-CA" altLang="zh-HK" sz="2600" dirty="0">
                <a:solidFill>
                  <a:schemeClr val="hlink"/>
                </a:solidFill>
              </a:rPr>
              <a:t>use judgment in financial reporting</a:t>
            </a:r>
            <a:r>
              <a:rPr lang="en-CA" altLang="zh-HK" sz="2600" dirty="0"/>
              <a:t> and in </a:t>
            </a:r>
            <a:r>
              <a:rPr lang="en-CA" altLang="zh-HK" sz="2600" dirty="0">
                <a:solidFill>
                  <a:schemeClr val="hlink"/>
                </a:solidFill>
              </a:rPr>
              <a:t>structuring transactions</a:t>
            </a:r>
            <a:r>
              <a:rPr lang="en-CA" altLang="zh-HK" sz="2600" dirty="0"/>
              <a:t> to alter financial reports to either </a:t>
            </a:r>
            <a:r>
              <a:rPr lang="en-CA" altLang="zh-HK" sz="2600" dirty="0">
                <a:solidFill>
                  <a:schemeClr val="hlink"/>
                </a:solidFill>
              </a:rPr>
              <a:t>mislead some stakeholders</a:t>
            </a:r>
            <a:r>
              <a:rPr lang="en-CA" altLang="zh-HK" sz="2600" dirty="0"/>
              <a:t> about the underlying economic performance of the company, or </a:t>
            </a:r>
            <a:r>
              <a:rPr lang="en-CA" altLang="zh-HK" sz="2600" dirty="0">
                <a:solidFill>
                  <a:schemeClr val="hlink"/>
                </a:solidFill>
              </a:rPr>
              <a:t>to influence contractual outcomes</a:t>
            </a:r>
            <a:r>
              <a:rPr lang="en-CA" altLang="zh-HK" sz="2600" dirty="0"/>
              <a:t> that depend on reported accounting numbers"</a:t>
            </a:r>
            <a:endParaRPr lang="en-US" altLang="zh-HK" sz="2600" dirty="0"/>
          </a:p>
        </p:txBody>
      </p:sp>
      <p:sp>
        <p:nvSpPr>
          <p:cNvPr id="38916" name="Footer Placeholder 3"/>
          <p:cNvSpPr txBox="1">
            <a:spLocks noGrp="1"/>
          </p:cNvSpPr>
          <p:nvPr/>
        </p:nvSpPr>
        <p:spPr bwMode="auto">
          <a:xfrm>
            <a:off x="4648200" y="6356351"/>
            <a:ext cx="2895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endParaRPr lang="en-US" altLang="zh-HK" sz="1200">
              <a:solidFill>
                <a:srgbClr val="898989"/>
              </a:solidFill>
              <a:latin typeface="Calibri" pitchFamily="34" charset="0"/>
            </a:endParaRPr>
          </a:p>
        </p:txBody>
      </p:sp>
      <p:sp>
        <p:nvSpPr>
          <p:cNvPr id="38917" name="Slide Number Placeholder 4"/>
          <p:cNvSpPr txBox="1">
            <a:spLocks noGrp="1"/>
          </p:cNvSpPr>
          <p:nvPr/>
        </p:nvSpPr>
        <p:spPr bwMode="auto">
          <a:xfrm>
            <a:off x="8077200" y="6356351"/>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fld id="{8F38AED2-F8B5-448B-A7C0-F8FD77C9CD84}" type="slidenum">
              <a:rPr lang="en-AU" altLang="zh-HK" sz="1200">
                <a:solidFill>
                  <a:srgbClr val="898989"/>
                </a:solidFill>
                <a:latin typeface="Calibri" pitchFamily="34" charset="0"/>
                <a:ea typeface="新細明體" charset="-120"/>
              </a:rPr>
              <a:pPr algn="r" eaLnBrk="1" hangingPunct="1"/>
              <a:t>26</a:t>
            </a:fld>
            <a:endParaRPr lang="en-AU" altLang="zh-HK" sz="1200">
              <a:solidFill>
                <a:srgbClr val="898989"/>
              </a:solidFill>
              <a:latin typeface="Calibri" pitchFamily="34" charset="0"/>
              <a:ea typeface="新細明體" charset="-120"/>
            </a:endParaRPr>
          </a:p>
        </p:txBody>
      </p:sp>
    </p:spTree>
    <p:extLst>
      <p:ext uri="{BB962C8B-B14F-4D97-AF65-F5344CB8AC3E}">
        <p14:creationId xmlns:p14="http://schemas.microsoft.com/office/powerpoint/2010/main" val="34441903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idx="4294967295"/>
          </p:nvPr>
        </p:nvSpPr>
        <p:spPr/>
        <p:txBody>
          <a:bodyPr/>
          <a:lstStyle/>
          <a:p>
            <a:r>
              <a:rPr lang="en-US" altLang="zh-HK" sz="3600"/>
              <a:t>Patterns of Earnings Management</a:t>
            </a:r>
          </a:p>
        </p:txBody>
      </p:sp>
      <p:sp>
        <p:nvSpPr>
          <p:cNvPr id="3" name="Content Placeholder 2"/>
          <p:cNvSpPr>
            <a:spLocks noGrp="1"/>
          </p:cNvSpPr>
          <p:nvPr>
            <p:ph idx="4294967295"/>
          </p:nvPr>
        </p:nvSpPr>
        <p:spPr/>
        <p:txBody>
          <a:bodyPr/>
          <a:lstStyle/>
          <a:p>
            <a:r>
              <a:rPr lang="en-US" altLang="zh-HK" dirty="0"/>
              <a:t>Big Bath</a:t>
            </a:r>
          </a:p>
          <a:p>
            <a:r>
              <a:rPr lang="en-US" altLang="zh-HK" dirty="0"/>
              <a:t>Income minimization</a:t>
            </a:r>
          </a:p>
          <a:p>
            <a:r>
              <a:rPr lang="en-US" altLang="zh-HK" dirty="0"/>
              <a:t>Income maximization</a:t>
            </a:r>
          </a:p>
          <a:p>
            <a:r>
              <a:rPr lang="en-US" altLang="zh-HK" dirty="0"/>
              <a:t>Income smooth</a:t>
            </a:r>
          </a:p>
          <a:p>
            <a:pPr>
              <a:buFont typeface="Wingdings" pitchFamily="2" charset="2"/>
              <a:buNone/>
            </a:pPr>
            <a:endParaRPr lang="en-US" altLang="zh-HK" dirty="0"/>
          </a:p>
        </p:txBody>
      </p:sp>
      <p:sp>
        <p:nvSpPr>
          <p:cNvPr id="8197" name="Slide Number Placeholder 4"/>
          <p:cNvSpPr>
            <a:spLocks noGrp="1"/>
          </p:cNvSpPr>
          <p:nvPr>
            <p:ph type="sldNum" sz="quarter" idx="11"/>
          </p:nvPr>
        </p:nvSpPr>
        <p:spPr>
          <a:xfrm>
            <a:off x="8077200" y="6356351"/>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818D8D65-A90C-4BD8-9172-7B1E8BDEBA21}" type="slidenum">
              <a:rPr lang="en-AU" altLang="zh-HK">
                <a:solidFill>
                  <a:srgbClr val="898989"/>
                </a:solidFill>
                <a:latin typeface="Calibri" pitchFamily="34" charset="0"/>
                <a:ea typeface="新細明體" charset="-120"/>
              </a:rPr>
              <a:pPr eaLnBrk="1" hangingPunct="1"/>
              <a:t>27</a:t>
            </a:fld>
            <a:endParaRPr lang="en-AU" altLang="zh-HK">
              <a:solidFill>
                <a:srgbClr val="898989"/>
              </a:solidFill>
              <a:latin typeface="Calibri" pitchFamily="34" charset="0"/>
              <a:ea typeface="新細明體" charset="-120"/>
            </a:endParaRPr>
          </a:p>
        </p:txBody>
      </p:sp>
    </p:spTree>
    <p:extLst>
      <p:ext uri="{BB962C8B-B14F-4D97-AF65-F5344CB8AC3E}">
        <p14:creationId xmlns:p14="http://schemas.microsoft.com/office/powerpoint/2010/main" val="3976440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idx="4294967295"/>
          </p:nvPr>
        </p:nvSpPr>
        <p:spPr/>
        <p:txBody>
          <a:bodyPr/>
          <a:lstStyle/>
          <a:p>
            <a:r>
              <a:rPr lang="en-US" altLang="zh-HK" sz="3600"/>
              <a:t>Methods of Earnings Management</a:t>
            </a:r>
          </a:p>
        </p:txBody>
      </p:sp>
      <p:sp>
        <p:nvSpPr>
          <p:cNvPr id="9219" name="Content Placeholder 2"/>
          <p:cNvSpPr>
            <a:spLocks noGrp="1"/>
          </p:cNvSpPr>
          <p:nvPr>
            <p:ph idx="4294967295"/>
          </p:nvPr>
        </p:nvSpPr>
        <p:spPr/>
        <p:txBody>
          <a:bodyPr/>
          <a:lstStyle/>
          <a:p>
            <a:r>
              <a:rPr lang="en-US" altLang="zh-HK" b="1" dirty="0"/>
              <a:t>Accrual vs. real manipulation</a:t>
            </a:r>
          </a:p>
          <a:p>
            <a:endParaRPr lang="en-US" altLang="zh-HK" b="1" dirty="0"/>
          </a:p>
          <a:p>
            <a:r>
              <a:rPr lang="en-US" altLang="zh-HK" b="1" dirty="0"/>
              <a:t>GAAP-consistent vs. GAAP-violating manipulation (restatements, SEC investigations)</a:t>
            </a:r>
            <a:endParaRPr lang="en-US" altLang="zh-HK" dirty="0"/>
          </a:p>
        </p:txBody>
      </p:sp>
      <p:sp>
        <p:nvSpPr>
          <p:cNvPr id="9221" name="Slide Number Placeholder 4"/>
          <p:cNvSpPr>
            <a:spLocks noGrp="1"/>
          </p:cNvSpPr>
          <p:nvPr>
            <p:ph type="sldNum" sz="quarter" idx="11"/>
          </p:nvPr>
        </p:nvSpPr>
        <p:spPr>
          <a:xfrm>
            <a:off x="8077200" y="6356351"/>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6E752293-2CAD-4EE8-BB5B-8C0C4EEF070C}" type="slidenum">
              <a:rPr lang="en-AU" altLang="zh-HK">
                <a:solidFill>
                  <a:srgbClr val="898989"/>
                </a:solidFill>
                <a:latin typeface="Calibri" pitchFamily="34" charset="0"/>
                <a:ea typeface="新細明體" charset="-120"/>
              </a:rPr>
              <a:pPr eaLnBrk="1" hangingPunct="1"/>
              <a:t>28</a:t>
            </a:fld>
            <a:endParaRPr lang="en-AU" altLang="zh-HK">
              <a:solidFill>
                <a:srgbClr val="898989"/>
              </a:solidFill>
              <a:latin typeface="Calibri" pitchFamily="34" charset="0"/>
              <a:ea typeface="新細明體" charset="-120"/>
            </a:endParaRPr>
          </a:p>
        </p:txBody>
      </p:sp>
    </p:spTree>
    <p:extLst>
      <p:ext uri="{BB962C8B-B14F-4D97-AF65-F5344CB8AC3E}">
        <p14:creationId xmlns:p14="http://schemas.microsoft.com/office/powerpoint/2010/main" val="10464150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idx="4294967295"/>
          </p:nvPr>
        </p:nvSpPr>
        <p:spPr/>
        <p:txBody>
          <a:bodyPr>
            <a:normAutofit/>
          </a:bodyPr>
          <a:lstStyle/>
          <a:p>
            <a:r>
              <a:rPr lang="en-US" altLang="zh-HK" sz="3600"/>
              <a:t>Managing Reported Earnings Through Discretionary Accruals</a:t>
            </a:r>
          </a:p>
        </p:txBody>
      </p:sp>
      <p:sp>
        <p:nvSpPr>
          <p:cNvPr id="11267" name="Content Placeholder 2"/>
          <p:cNvSpPr>
            <a:spLocks noGrp="1"/>
          </p:cNvSpPr>
          <p:nvPr>
            <p:ph idx="4294967295"/>
          </p:nvPr>
        </p:nvSpPr>
        <p:spPr>
          <a:xfrm>
            <a:off x="1981200" y="1600200"/>
            <a:ext cx="8218488" cy="4781550"/>
          </a:xfrm>
        </p:spPr>
        <p:txBody>
          <a:bodyPr/>
          <a:lstStyle/>
          <a:p>
            <a:r>
              <a:rPr lang="en-US" altLang="zh-HK" sz="2400"/>
              <a:t>NI = OCF ± net accruals	</a:t>
            </a:r>
          </a:p>
          <a:p>
            <a:pPr lvl="1">
              <a:buFontTx/>
              <a:buNone/>
            </a:pPr>
            <a:r>
              <a:rPr lang="en-US" altLang="zh-HK"/>
              <a:t>	= OCF ± net non-discretionary accruals ± net 	discretionary accruals</a:t>
            </a:r>
          </a:p>
          <a:p>
            <a:r>
              <a:rPr lang="en-US" altLang="zh-HK" sz="2400" b="1">
                <a:solidFill>
                  <a:schemeClr val="hlink"/>
                </a:solidFill>
              </a:rPr>
              <a:t>Examples of discretionary accruals</a:t>
            </a:r>
          </a:p>
          <a:p>
            <a:pPr lvl="1"/>
            <a:r>
              <a:rPr lang="en-US" altLang="zh-HK"/>
              <a:t>Allowance for doubtful accounts</a:t>
            </a:r>
          </a:p>
          <a:p>
            <a:pPr lvl="1"/>
            <a:r>
              <a:rPr lang="en-US" altLang="zh-HK"/>
              <a:t>Warranty provisions</a:t>
            </a:r>
          </a:p>
          <a:p>
            <a:pPr lvl="1"/>
            <a:r>
              <a:rPr lang="en-US" altLang="zh-HK"/>
              <a:t>Provisions for reorganization, layoffs, restructuring</a:t>
            </a:r>
          </a:p>
          <a:p>
            <a:pPr lvl="1"/>
            <a:r>
              <a:rPr lang="en-US" altLang="zh-HK"/>
              <a:t>Contract completion costs</a:t>
            </a:r>
          </a:p>
          <a:p>
            <a:pPr lvl="1"/>
            <a:endParaRPr lang="en-US" altLang="zh-HK"/>
          </a:p>
          <a:p>
            <a:r>
              <a:rPr lang="en-US" altLang="zh-HK" sz="2400"/>
              <a:t>Note that discretionary accruals </a:t>
            </a:r>
            <a:r>
              <a:rPr lang="en-US" altLang="zh-HK" sz="2400">
                <a:solidFill>
                  <a:schemeClr val="hlink"/>
                </a:solidFill>
              </a:rPr>
              <a:t>not directly observable</a:t>
            </a:r>
            <a:r>
              <a:rPr lang="en-US" altLang="zh-HK" sz="2400"/>
              <a:t> by investors</a:t>
            </a:r>
          </a:p>
          <a:p>
            <a:endParaRPr lang="en-US" altLang="zh-HK"/>
          </a:p>
        </p:txBody>
      </p:sp>
      <p:sp>
        <p:nvSpPr>
          <p:cNvPr id="11269" name="Slide Number Placeholder 4"/>
          <p:cNvSpPr>
            <a:spLocks noGrp="1"/>
          </p:cNvSpPr>
          <p:nvPr>
            <p:ph type="sldNum" sz="quarter" idx="11"/>
          </p:nvPr>
        </p:nvSpPr>
        <p:spPr>
          <a:xfrm>
            <a:off x="8077200" y="6356351"/>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02CCAD8E-D7AA-4946-9242-852E49ADC0B2}" type="slidenum">
              <a:rPr lang="en-AU" altLang="zh-HK">
                <a:solidFill>
                  <a:srgbClr val="898989"/>
                </a:solidFill>
                <a:latin typeface="Calibri" pitchFamily="34" charset="0"/>
                <a:ea typeface="新細明體" charset="-120"/>
              </a:rPr>
              <a:pPr eaLnBrk="1" hangingPunct="1"/>
              <a:t>29</a:t>
            </a:fld>
            <a:endParaRPr lang="en-AU" altLang="zh-HK">
              <a:solidFill>
                <a:srgbClr val="898989"/>
              </a:solidFill>
              <a:latin typeface="Calibri" pitchFamily="34" charset="0"/>
              <a:ea typeface="新細明體" charset="-120"/>
            </a:endParaRPr>
          </a:p>
        </p:txBody>
      </p:sp>
    </p:spTree>
    <p:extLst>
      <p:ext uri="{BB962C8B-B14F-4D97-AF65-F5344CB8AC3E}">
        <p14:creationId xmlns:p14="http://schemas.microsoft.com/office/powerpoint/2010/main" val="13332110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idx="4294967295"/>
          </p:nvPr>
        </p:nvSpPr>
        <p:spPr/>
        <p:txBody>
          <a:bodyPr/>
          <a:lstStyle/>
          <a:p>
            <a:r>
              <a:rPr lang="en-US" altLang="zh-HK" sz="3600"/>
              <a:t>Real Manipulations</a:t>
            </a:r>
          </a:p>
        </p:txBody>
      </p:sp>
      <p:sp>
        <p:nvSpPr>
          <p:cNvPr id="12291" name="Content Placeholder 2"/>
          <p:cNvSpPr>
            <a:spLocks noGrp="1"/>
          </p:cNvSpPr>
          <p:nvPr>
            <p:ph idx="4294967295"/>
          </p:nvPr>
        </p:nvSpPr>
        <p:spPr/>
        <p:txBody>
          <a:bodyPr/>
          <a:lstStyle/>
          <a:p>
            <a:r>
              <a:rPr lang="en-US" altLang="zh-HK" sz="2400" b="1">
                <a:solidFill>
                  <a:schemeClr val="hlink"/>
                </a:solidFill>
              </a:rPr>
              <a:t>Sales manipulation</a:t>
            </a:r>
            <a:r>
              <a:rPr lang="en-US" altLang="zh-HK" sz="2400"/>
              <a:t>, that is, accelerating the timing of sales and/or generating additional unsustainable sales through increased price discounts, more lenient credit terms, announcement of price increase in future period, etc… ;</a:t>
            </a:r>
          </a:p>
          <a:p>
            <a:r>
              <a:rPr lang="en-US" altLang="zh-HK" sz="2400" b="1">
                <a:solidFill>
                  <a:schemeClr val="hlink"/>
                </a:solidFill>
              </a:rPr>
              <a:t>Reduction of discretionary expenditures</a:t>
            </a:r>
            <a:r>
              <a:rPr lang="en-US" altLang="zh-HK" sz="2400"/>
              <a:t> (R&amp;D, advertising, maintenance, etc…);</a:t>
            </a:r>
          </a:p>
          <a:p>
            <a:r>
              <a:rPr lang="en-US" altLang="zh-HK" sz="2400" b="1">
                <a:solidFill>
                  <a:schemeClr val="hlink"/>
                </a:solidFill>
              </a:rPr>
              <a:t>Overproduction</a:t>
            </a:r>
            <a:r>
              <a:rPr lang="en-US" altLang="zh-HK" sz="2400"/>
              <a:t>, or increasing production to report lower COGS;</a:t>
            </a:r>
          </a:p>
          <a:p>
            <a:r>
              <a:rPr lang="en-US" altLang="zh-HK" sz="2400" b="1">
                <a:solidFill>
                  <a:schemeClr val="hlink"/>
                </a:solidFill>
              </a:rPr>
              <a:t>Timing of assets disposals.</a:t>
            </a:r>
          </a:p>
        </p:txBody>
      </p:sp>
      <p:sp>
        <p:nvSpPr>
          <p:cNvPr id="12293" name="Slide Number Placeholder 4"/>
          <p:cNvSpPr>
            <a:spLocks noGrp="1"/>
          </p:cNvSpPr>
          <p:nvPr>
            <p:ph type="sldNum" sz="quarter" idx="11"/>
          </p:nvPr>
        </p:nvSpPr>
        <p:spPr>
          <a:xfrm>
            <a:off x="8077200" y="6356351"/>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4A5BC2B6-5740-4AAD-A481-52E15E17D31D}" type="slidenum">
              <a:rPr lang="en-AU" altLang="zh-HK">
                <a:solidFill>
                  <a:srgbClr val="898989"/>
                </a:solidFill>
                <a:latin typeface="Calibri" pitchFamily="34" charset="0"/>
                <a:ea typeface="新細明體" charset="-120"/>
              </a:rPr>
              <a:pPr eaLnBrk="1" hangingPunct="1"/>
              <a:t>30</a:t>
            </a:fld>
            <a:endParaRPr lang="en-AU" altLang="zh-HK">
              <a:solidFill>
                <a:srgbClr val="898989"/>
              </a:solidFill>
              <a:latin typeface="Calibri" pitchFamily="34" charset="0"/>
              <a:ea typeface="新細明體" charset="-120"/>
            </a:endParaRPr>
          </a:p>
        </p:txBody>
      </p:sp>
    </p:spTree>
    <p:extLst>
      <p:ext uri="{BB962C8B-B14F-4D97-AF65-F5344CB8AC3E}">
        <p14:creationId xmlns:p14="http://schemas.microsoft.com/office/powerpoint/2010/main" val="13045166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Measurements</a:t>
            </a:r>
            <a:endParaRPr lang="zh-HK" altLang="en-US" dirty="0"/>
          </a:p>
        </p:txBody>
      </p:sp>
      <p:sp>
        <p:nvSpPr>
          <p:cNvPr id="3" name="Content Placeholder 2"/>
          <p:cNvSpPr>
            <a:spLocks noGrp="1"/>
          </p:cNvSpPr>
          <p:nvPr>
            <p:ph idx="1"/>
          </p:nvPr>
        </p:nvSpPr>
        <p:spPr/>
        <p:txBody>
          <a:bodyPr/>
          <a:lstStyle/>
          <a:p>
            <a:r>
              <a:rPr lang="en-US" altLang="zh-HK" dirty="0"/>
              <a:t>Accrual magnitudes</a:t>
            </a:r>
          </a:p>
          <a:p>
            <a:r>
              <a:rPr lang="en-US" altLang="zh-HK" dirty="0"/>
              <a:t>Abnormal accruals</a:t>
            </a:r>
          </a:p>
          <a:p>
            <a:r>
              <a:rPr lang="en-US" altLang="zh-HK" dirty="0"/>
              <a:t>Earnings distributions (benchmark beating)</a:t>
            </a:r>
          </a:p>
          <a:p>
            <a:r>
              <a:rPr lang="en-US" altLang="zh-HK" dirty="0"/>
              <a:t>Restatements, AAERs</a:t>
            </a:r>
          </a:p>
          <a:p>
            <a:r>
              <a:rPr lang="en-US" altLang="zh-HK" dirty="0"/>
              <a:t>Earnings smoothing</a:t>
            </a:r>
          </a:p>
          <a:p>
            <a:endParaRPr lang="zh-HK" altLang="en-US" dirty="0"/>
          </a:p>
        </p:txBody>
      </p:sp>
    </p:spTree>
    <p:extLst>
      <p:ext uri="{BB962C8B-B14F-4D97-AF65-F5344CB8AC3E}">
        <p14:creationId xmlns:p14="http://schemas.microsoft.com/office/powerpoint/2010/main" val="19398002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2479" y="619634"/>
            <a:ext cx="8862774" cy="59766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9950627" y="6319299"/>
            <a:ext cx="1863011" cy="276999"/>
          </a:xfrm>
          <a:prstGeom prst="rect">
            <a:avLst/>
          </a:prstGeom>
          <a:noFill/>
        </p:spPr>
        <p:txBody>
          <a:bodyPr wrap="none" rtlCol="0">
            <a:spAutoFit/>
          </a:bodyPr>
          <a:lstStyle/>
          <a:p>
            <a:r>
              <a:rPr lang="en-US" altLang="zh-HK" sz="1200" dirty="0">
                <a:latin typeface="Times New Roman" panose="02020603050405020304" pitchFamily="18" charset="0"/>
                <a:cs typeface="Times New Roman" panose="02020603050405020304" pitchFamily="18" charset="0"/>
              </a:rPr>
              <a:t>From: </a:t>
            </a:r>
            <a:r>
              <a:rPr lang="en-US" altLang="zh-HK" sz="1200" dirty="0" err="1">
                <a:latin typeface="Times New Roman" panose="02020603050405020304" pitchFamily="18" charset="0"/>
                <a:cs typeface="Times New Roman" panose="02020603050405020304" pitchFamily="18" charset="0"/>
              </a:rPr>
              <a:t>Dechow</a:t>
            </a:r>
            <a:r>
              <a:rPr lang="en-US" altLang="zh-HK" sz="1200" dirty="0">
                <a:latin typeface="Times New Roman" panose="02020603050405020304" pitchFamily="18" charset="0"/>
                <a:cs typeface="Times New Roman" panose="02020603050405020304" pitchFamily="18" charset="0"/>
              </a:rPr>
              <a:t> et al. 2010</a:t>
            </a:r>
            <a:endParaRPr lang="zh-HK" alt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54748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zh-HK" b="1" dirty="0"/>
              <a:t>Accounting Conservatism</a:t>
            </a:r>
            <a:endParaRPr lang="zh-HK" altLang="en-US" b="1" dirty="0"/>
          </a:p>
        </p:txBody>
      </p:sp>
    </p:spTree>
    <p:extLst>
      <p:ext uri="{BB962C8B-B14F-4D97-AF65-F5344CB8AC3E}">
        <p14:creationId xmlns:p14="http://schemas.microsoft.com/office/powerpoint/2010/main" val="34329030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Conservatism Defined</a:t>
            </a:r>
            <a:endParaRPr lang="zh-HK" altLang="en-US" dirty="0"/>
          </a:p>
        </p:txBody>
      </p:sp>
      <p:sp>
        <p:nvSpPr>
          <p:cNvPr id="3" name="Content Placeholder 2"/>
          <p:cNvSpPr>
            <a:spLocks noGrp="1"/>
          </p:cNvSpPr>
          <p:nvPr>
            <p:ph idx="1"/>
          </p:nvPr>
        </p:nvSpPr>
        <p:spPr/>
        <p:txBody>
          <a:bodyPr>
            <a:normAutofit/>
          </a:bodyPr>
          <a:lstStyle/>
          <a:p>
            <a:r>
              <a:rPr lang="en-US" altLang="zh-HK" dirty="0"/>
              <a:t>The accountant’s tendency to require a higher degree of verification to recognize good news as gains than to recognize bad news as losses.</a:t>
            </a:r>
          </a:p>
          <a:p>
            <a:endParaRPr lang="en-US" altLang="zh-HK" dirty="0"/>
          </a:p>
          <a:p>
            <a:r>
              <a:rPr lang="en-US" altLang="zh-HK" dirty="0"/>
              <a:t>E.g. lower of cost or market rules for inventory, impairment accounting rules</a:t>
            </a:r>
          </a:p>
          <a:p>
            <a:endParaRPr lang="en-US" altLang="zh-HK" dirty="0"/>
          </a:p>
          <a:p>
            <a:r>
              <a:rPr lang="en-US" altLang="zh-HK" dirty="0"/>
              <a:t>“Conditional” vs. “unconditional” conservatism</a:t>
            </a:r>
            <a:endParaRPr lang="zh-HK" altLang="en-US" dirty="0"/>
          </a:p>
        </p:txBody>
      </p:sp>
    </p:spTree>
    <p:extLst>
      <p:ext uri="{BB962C8B-B14F-4D97-AF65-F5344CB8AC3E}">
        <p14:creationId xmlns:p14="http://schemas.microsoft.com/office/powerpoint/2010/main" val="38537488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Role of Conservatism</a:t>
            </a:r>
            <a:endParaRPr lang="zh-HK" altLang="en-US" dirty="0"/>
          </a:p>
        </p:txBody>
      </p:sp>
      <p:sp>
        <p:nvSpPr>
          <p:cNvPr id="3" name="Content Placeholder 2"/>
          <p:cNvSpPr>
            <a:spLocks noGrp="1"/>
          </p:cNvSpPr>
          <p:nvPr>
            <p:ph idx="1"/>
          </p:nvPr>
        </p:nvSpPr>
        <p:spPr/>
        <p:txBody>
          <a:bodyPr/>
          <a:lstStyle/>
          <a:p>
            <a:r>
              <a:rPr lang="en-US" altLang="zh-HK" dirty="0"/>
              <a:t>Limit managerial incentives and ability to overstate financial performance. </a:t>
            </a:r>
          </a:p>
          <a:p>
            <a:endParaRPr lang="en-US" altLang="zh-HK" dirty="0"/>
          </a:p>
          <a:p>
            <a:r>
              <a:rPr lang="en-US" altLang="zh-HK" dirty="0"/>
              <a:t>Accounting numbers are more reliable and less suspect of manipulation</a:t>
            </a:r>
          </a:p>
          <a:p>
            <a:endParaRPr lang="en-US" altLang="zh-HK" dirty="0"/>
          </a:p>
        </p:txBody>
      </p:sp>
    </p:spTree>
    <p:extLst>
      <p:ext uri="{BB962C8B-B14F-4D97-AF65-F5344CB8AC3E}">
        <p14:creationId xmlns:p14="http://schemas.microsoft.com/office/powerpoint/2010/main" val="40311783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Conservatism measurement</a:t>
            </a:r>
            <a:endParaRPr lang="zh-HK" altLang="en-US" dirty="0"/>
          </a:p>
        </p:txBody>
      </p:sp>
      <p:sp>
        <p:nvSpPr>
          <p:cNvPr id="3" name="Content Placeholder 2"/>
          <p:cNvSpPr>
            <a:spLocks noGrp="1"/>
          </p:cNvSpPr>
          <p:nvPr>
            <p:ph idx="1"/>
          </p:nvPr>
        </p:nvSpPr>
        <p:spPr/>
        <p:txBody>
          <a:bodyPr/>
          <a:lstStyle/>
          <a:p>
            <a:r>
              <a:rPr lang="en-US" altLang="zh-HK" dirty="0"/>
              <a:t>The empirical outcome of conservatism: earnings should be more timely in reflecting bad news than good news—asymmetric timeliness</a:t>
            </a:r>
            <a:endParaRPr lang="zh-HK" altLang="en-US" dirty="0"/>
          </a:p>
        </p:txBody>
      </p:sp>
    </p:spTree>
    <p:extLst>
      <p:ext uri="{BB962C8B-B14F-4D97-AF65-F5344CB8AC3E}">
        <p14:creationId xmlns:p14="http://schemas.microsoft.com/office/powerpoint/2010/main" val="28330227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5071"/>
            <a:ext cx="10515600" cy="1325563"/>
          </a:xfrm>
        </p:spPr>
        <p:txBody>
          <a:bodyPr/>
          <a:lstStyle/>
          <a:p>
            <a:r>
              <a:rPr lang="en-US" altLang="zh-HK" dirty="0"/>
              <a:t>Key measure: The </a:t>
            </a:r>
            <a:r>
              <a:rPr lang="en-US" altLang="zh-HK" dirty="0" err="1"/>
              <a:t>Basu</a:t>
            </a:r>
            <a:r>
              <a:rPr lang="en-US" altLang="zh-HK" dirty="0"/>
              <a:t> coefficient (</a:t>
            </a:r>
            <a:r>
              <a:rPr lang="en-US" altLang="zh-HK" dirty="0" err="1"/>
              <a:t>Basu</a:t>
            </a:r>
            <a:r>
              <a:rPr lang="en-US" altLang="zh-HK" dirty="0"/>
              <a:t> 1997)</a:t>
            </a:r>
            <a:endParaRPr lang="zh-HK" altLang="en-US"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5430" y="2312907"/>
            <a:ext cx="8468447" cy="2088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283411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A non-price based measure</a:t>
            </a:r>
            <a:endParaRPr lang="zh-HK" altLang="en-US"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3432" y="1736812"/>
            <a:ext cx="7790721" cy="33843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34256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6031"/>
            <a:ext cx="10515600" cy="1325563"/>
          </a:xfrm>
        </p:spPr>
        <p:txBody>
          <a:bodyPr>
            <a:normAutofit/>
          </a:bodyPr>
          <a:lstStyle/>
          <a:p>
            <a:r>
              <a:rPr lang="en-US" altLang="zh-HK" dirty="0"/>
              <a:t>The firm-year measure of Khan and Watts (2009)</a:t>
            </a:r>
            <a:endParaRPr lang="zh-HK" altLang="en-US" dirty="0"/>
          </a:p>
        </p:txBody>
      </p:sp>
      <p:sp>
        <p:nvSpPr>
          <p:cNvPr id="3" name="Content Placeholder 2"/>
          <p:cNvSpPr>
            <a:spLocks noGrp="1"/>
          </p:cNvSpPr>
          <p:nvPr>
            <p:ph idx="1"/>
          </p:nvPr>
        </p:nvSpPr>
        <p:spPr>
          <a:xfrm>
            <a:off x="933027" y="2651972"/>
            <a:ext cx="10515600" cy="4351338"/>
          </a:xfrm>
        </p:spPr>
        <p:txBody>
          <a:bodyPr/>
          <a:lstStyle/>
          <a:p>
            <a:r>
              <a:rPr lang="en-US" altLang="zh-HK" dirty="0"/>
              <a:t>It is based on the </a:t>
            </a:r>
            <a:r>
              <a:rPr lang="en-US" altLang="zh-HK" dirty="0" err="1"/>
              <a:t>Basu</a:t>
            </a:r>
            <a:r>
              <a:rPr lang="en-US" altLang="zh-HK" dirty="0"/>
              <a:t> measure</a:t>
            </a:r>
          </a:p>
          <a:p>
            <a:endParaRPr lang="en-US" altLang="zh-HK" dirty="0"/>
          </a:p>
          <a:p>
            <a:r>
              <a:rPr lang="en-US" altLang="zh-HK" dirty="0"/>
              <a:t>Using a deterministic model, it converts the </a:t>
            </a:r>
            <a:r>
              <a:rPr lang="en-US" altLang="zh-HK" dirty="0" err="1"/>
              <a:t>Basu</a:t>
            </a:r>
            <a:r>
              <a:rPr lang="en-US" altLang="zh-HK" dirty="0"/>
              <a:t> coefficient to firm-year level;</a:t>
            </a:r>
            <a:endParaRPr lang="zh-HK" altLang="en-US" dirty="0"/>
          </a:p>
        </p:txBody>
      </p:sp>
    </p:spTree>
    <p:extLst>
      <p:ext uri="{BB962C8B-B14F-4D97-AF65-F5344CB8AC3E}">
        <p14:creationId xmlns:p14="http://schemas.microsoft.com/office/powerpoint/2010/main" val="135297975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8386" y="365125"/>
            <a:ext cx="10515600" cy="1325563"/>
          </a:xfrm>
        </p:spPr>
        <p:txBody>
          <a:bodyPr/>
          <a:lstStyle/>
          <a:p>
            <a:r>
              <a:rPr lang="en-US" altLang="zh-HK" dirty="0"/>
              <a:t>Details: Khan &amp; Watts</a:t>
            </a:r>
            <a:endParaRPr lang="zh-HK" altLang="en-US"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99020" y="2643354"/>
            <a:ext cx="8222611" cy="3672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979773" y="1690688"/>
            <a:ext cx="8525091" cy="646331"/>
          </a:xfrm>
          <a:prstGeom prst="rect">
            <a:avLst/>
          </a:prstGeom>
          <a:noFill/>
        </p:spPr>
        <p:txBody>
          <a:bodyPr wrap="none" rtlCol="0">
            <a:spAutoFit/>
          </a:bodyPr>
          <a:lstStyle/>
          <a:p>
            <a:r>
              <a:rPr lang="en-US" altLang="zh-HK" dirty="0">
                <a:latin typeface="Century Schoolbook" panose="02040604050505020304" pitchFamily="18" charset="0"/>
              </a:rPr>
              <a:t>Re-write the </a:t>
            </a:r>
            <a:r>
              <a:rPr lang="en-US" altLang="zh-HK" dirty="0" err="1">
                <a:latin typeface="Century Schoolbook" panose="02040604050505020304" pitchFamily="18" charset="0"/>
              </a:rPr>
              <a:t>Basu</a:t>
            </a:r>
            <a:r>
              <a:rPr lang="en-US" altLang="zh-HK" dirty="0">
                <a:latin typeface="Century Schoolbook" panose="02040604050505020304" pitchFamily="18" charset="0"/>
              </a:rPr>
              <a:t> model, then express the coefficients by the determinants of </a:t>
            </a:r>
          </a:p>
          <a:p>
            <a:r>
              <a:rPr lang="en-US" altLang="zh-HK" dirty="0">
                <a:latin typeface="Century Schoolbook" panose="02040604050505020304" pitchFamily="18" charset="0"/>
              </a:rPr>
              <a:t>conservatism:</a:t>
            </a:r>
            <a:endParaRPr lang="zh-HK" altLang="en-US" dirty="0">
              <a:latin typeface="Century Schoolbook" panose="02040604050505020304" pitchFamily="18" charset="0"/>
            </a:endParaRPr>
          </a:p>
        </p:txBody>
      </p:sp>
    </p:spTree>
    <p:extLst>
      <p:ext uri="{BB962C8B-B14F-4D97-AF65-F5344CB8AC3E}">
        <p14:creationId xmlns:p14="http://schemas.microsoft.com/office/powerpoint/2010/main" val="2024978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Details: Khan &amp; Watts (cont.)</a:t>
            </a:r>
            <a:endParaRPr lang="zh-HK" altLang="en-US"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54479" y="1912712"/>
            <a:ext cx="7840509" cy="10122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066428" y="3723083"/>
            <a:ext cx="9264075" cy="923330"/>
          </a:xfrm>
          <a:prstGeom prst="rect">
            <a:avLst/>
          </a:prstGeom>
          <a:noFill/>
        </p:spPr>
        <p:txBody>
          <a:bodyPr wrap="none" rtlCol="0">
            <a:spAutoFit/>
          </a:bodyPr>
          <a:lstStyle/>
          <a:p>
            <a:r>
              <a:rPr lang="en-US" altLang="zh-HK" dirty="0">
                <a:latin typeface="Century Schoolbook" panose="02040604050505020304" pitchFamily="18" charset="0"/>
              </a:rPr>
              <a:t>For (6), run annual regressions using all firm’s observations and estimate the </a:t>
            </a:r>
          </a:p>
          <a:p>
            <a:r>
              <a:rPr lang="en-US" altLang="zh-HK" dirty="0">
                <a:latin typeface="Century Schoolbook" panose="02040604050505020304" pitchFamily="18" charset="0"/>
              </a:rPr>
              <a:t>Coefficients in (6), which are then used as parameters in (5) to calculate CSCORE for</a:t>
            </a:r>
          </a:p>
          <a:p>
            <a:r>
              <a:rPr lang="en-US" altLang="zh-HK" dirty="0">
                <a:latin typeface="Century Schoolbook" panose="02040604050505020304" pitchFamily="18" charset="0"/>
              </a:rPr>
              <a:t>each firm.</a:t>
            </a:r>
            <a:endParaRPr lang="zh-HK" altLang="en-US" dirty="0">
              <a:latin typeface="Century Schoolbook" panose="02040604050505020304" pitchFamily="18" charset="0"/>
            </a:endParaRPr>
          </a:p>
        </p:txBody>
      </p:sp>
    </p:spTree>
    <p:extLst>
      <p:ext uri="{BB962C8B-B14F-4D97-AF65-F5344CB8AC3E}">
        <p14:creationId xmlns:p14="http://schemas.microsoft.com/office/powerpoint/2010/main" val="15880045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Other measures</a:t>
            </a:r>
            <a:endParaRPr lang="zh-HK" altLang="en-US" dirty="0"/>
          </a:p>
        </p:txBody>
      </p:sp>
      <p:sp>
        <p:nvSpPr>
          <p:cNvPr id="3" name="Content Placeholder 2"/>
          <p:cNvSpPr>
            <a:spLocks noGrp="1"/>
          </p:cNvSpPr>
          <p:nvPr>
            <p:ph idx="1"/>
          </p:nvPr>
        </p:nvSpPr>
        <p:spPr/>
        <p:txBody>
          <a:bodyPr/>
          <a:lstStyle/>
          <a:p>
            <a:r>
              <a:rPr lang="en-US" altLang="zh-HK" dirty="0"/>
              <a:t>Non-operating accruals;</a:t>
            </a:r>
          </a:p>
          <a:p>
            <a:endParaRPr lang="en-US" altLang="zh-HK" dirty="0"/>
          </a:p>
          <a:p>
            <a:r>
              <a:rPr lang="en-US" altLang="zh-HK" dirty="0"/>
              <a:t>Book-to-market ratio and its variants;</a:t>
            </a:r>
          </a:p>
          <a:p>
            <a:endParaRPr lang="en-US" altLang="zh-HK" dirty="0"/>
          </a:p>
          <a:p>
            <a:r>
              <a:rPr lang="en-US" altLang="zh-HK" dirty="0"/>
              <a:t>Negative skewness of earnings.</a:t>
            </a:r>
            <a:endParaRPr lang="zh-HK" altLang="en-US" dirty="0"/>
          </a:p>
        </p:txBody>
      </p:sp>
    </p:spTree>
    <p:extLst>
      <p:ext uri="{BB962C8B-B14F-4D97-AF65-F5344CB8AC3E}">
        <p14:creationId xmlns:p14="http://schemas.microsoft.com/office/powerpoint/2010/main" val="31577748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HK" dirty="0"/>
              <a:t>Interpretations for conservatism</a:t>
            </a:r>
            <a:endParaRPr lang="zh-HK" altLang="en-US" dirty="0"/>
          </a:p>
        </p:txBody>
      </p:sp>
      <p:sp>
        <p:nvSpPr>
          <p:cNvPr id="3" name="Content Placeholder 2"/>
          <p:cNvSpPr>
            <a:spLocks noGrp="1"/>
          </p:cNvSpPr>
          <p:nvPr>
            <p:ph idx="1"/>
          </p:nvPr>
        </p:nvSpPr>
        <p:spPr/>
        <p:txBody>
          <a:bodyPr/>
          <a:lstStyle/>
          <a:p>
            <a:r>
              <a:rPr lang="en-US" altLang="zh-HK" dirty="0"/>
              <a:t>Debt contract: low bound numbers</a:t>
            </a:r>
          </a:p>
          <a:p>
            <a:r>
              <a:rPr lang="en-US" altLang="zh-HK" dirty="0"/>
              <a:t>Compensation contract</a:t>
            </a:r>
          </a:p>
          <a:p>
            <a:r>
              <a:rPr lang="en-US" altLang="zh-HK" dirty="0"/>
              <a:t>Governance: timely termination of negative NPV projects</a:t>
            </a:r>
          </a:p>
          <a:p>
            <a:r>
              <a:rPr lang="en-US" altLang="zh-HK" dirty="0"/>
              <a:t>Auditor litigation risk</a:t>
            </a:r>
          </a:p>
          <a:p>
            <a:r>
              <a:rPr lang="en-US" altLang="zh-HK" dirty="0"/>
              <a:t>Taxation</a:t>
            </a:r>
          </a:p>
        </p:txBody>
      </p:sp>
    </p:spTree>
    <p:extLst>
      <p:ext uri="{BB962C8B-B14F-4D97-AF65-F5344CB8AC3E}">
        <p14:creationId xmlns:p14="http://schemas.microsoft.com/office/powerpoint/2010/main" val="21822146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13265-80F9-4D23-8710-5A391C42BD7F}"/>
              </a:ext>
            </a:extLst>
          </p:cNvPr>
          <p:cNvSpPr>
            <a:spLocks noGrp="1"/>
          </p:cNvSpPr>
          <p:nvPr>
            <p:ph type="title"/>
          </p:nvPr>
        </p:nvSpPr>
        <p:spPr>
          <a:xfrm>
            <a:off x="1991545" y="2420470"/>
            <a:ext cx="8035637" cy="2017060"/>
          </a:xfrm>
        </p:spPr>
        <p:txBody>
          <a:bodyPr/>
          <a:lstStyle/>
          <a:p>
            <a:r>
              <a:rPr lang="en-US" sz="3600" dirty="0">
                <a:solidFill>
                  <a:schemeClr val="tx2"/>
                </a:solidFill>
              </a:rPr>
              <a:t>Voluntary Disclosure</a:t>
            </a:r>
          </a:p>
        </p:txBody>
      </p:sp>
      <p:sp>
        <p:nvSpPr>
          <p:cNvPr id="3" name="Slide Number Placeholder 2">
            <a:extLst>
              <a:ext uri="{FF2B5EF4-FFF2-40B4-BE49-F238E27FC236}">
                <a16:creationId xmlns:a16="http://schemas.microsoft.com/office/drawing/2014/main" id="{295ACB22-B2E3-4093-9B95-43CBE20D619D}"/>
              </a:ext>
            </a:extLst>
          </p:cNvPr>
          <p:cNvSpPr>
            <a:spLocks noGrp="1"/>
          </p:cNvSpPr>
          <p:nvPr>
            <p:ph type="sldNum" sz="quarter" idx="2"/>
          </p:nvPr>
        </p:nvSpPr>
        <p:spPr/>
        <p:txBody>
          <a:bodyPr/>
          <a:lstStyle/>
          <a:p>
            <a:fld id="{86CB4B4D-7CA3-9044-876B-883B54F8677D}" type="slidenum">
              <a:rPr lang="en-US" smtClean="0"/>
              <a:pPr/>
              <a:t>44</a:t>
            </a:fld>
            <a:endParaRPr lang="en-US" dirty="0"/>
          </a:p>
        </p:txBody>
      </p:sp>
    </p:spTree>
    <p:extLst>
      <p:ext uri="{BB962C8B-B14F-4D97-AF65-F5344CB8AC3E}">
        <p14:creationId xmlns:p14="http://schemas.microsoft.com/office/powerpoint/2010/main" val="1340299263"/>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5">
            <a:extLst>
              <a:ext uri="{FF2B5EF4-FFF2-40B4-BE49-F238E27FC236}">
                <a16:creationId xmlns:a16="http://schemas.microsoft.com/office/drawing/2014/main" id="{F6399FE9-7A13-48D0-B537-41A436317472}"/>
              </a:ext>
            </a:extLst>
          </p:cNvPr>
          <p:cNvSpPr>
            <a:spLocks noGrp="1"/>
          </p:cNvSpPr>
          <p:nvPr>
            <p:ph type="title"/>
          </p:nvPr>
        </p:nvSpPr>
        <p:spPr>
          <a:xfrm>
            <a:off x="1530929" y="311642"/>
            <a:ext cx="9144000" cy="850578"/>
          </a:xfrm>
        </p:spPr>
        <p:txBody>
          <a:bodyPr vert="horz" wrap="square" lIns="91440" tIns="45720" rIns="91440" bIns="45720" numCol="1" rtlCol="0" anchor="ctr" anchorCtr="0" compatLnSpc="1">
            <a:noAutofit/>
          </a:bodyPr>
          <a:lstStyle/>
          <a:p>
            <a:pPr marL="462280">
              <a:lnSpc>
                <a:spcPct val="100000"/>
              </a:lnSpc>
              <a:defRPr/>
            </a:pPr>
            <a:r>
              <a:rPr lang="en-US" altLang="en-US" sz="3000" dirty="0">
                <a:solidFill>
                  <a:srgbClr val="99235E"/>
                </a:solidFill>
                <a:cs typeface="Times New Roman" panose="02020603050405020304" pitchFamily="18" charset="0"/>
              </a:rPr>
              <a:t>(Dis)incentives for Voluntary Disclosure</a:t>
            </a:r>
          </a:p>
        </p:txBody>
      </p:sp>
      <p:sp>
        <p:nvSpPr>
          <p:cNvPr id="3" name="Slide Number Placeholder 2">
            <a:extLst>
              <a:ext uri="{FF2B5EF4-FFF2-40B4-BE49-F238E27FC236}">
                <a16:creationId xmlns:a16="http://schemas.microsoft.com/office/drawing/2014/main" id="{929EA5A9-0845-4703-8043-41B25C7AF8FC}"/>
              </a:ext>
            </a:extLst>
          </p:cNvPr>
          <p:cNvSpPr>
            <a:spLocks noGrp="1"/>
          </p:cNvSpPr>
          <p:nvPr>
            <p:ph type="sldNum" sz="quarter" idx="2"/>
          </p:nvPr>
        </p:nvSpPr>
        <p:spPr/>
        <p:txBody>
          <a:bodyPr/>
          <a:lstStyle/>
          <a:p>
            <a:fld id="{86CB4B4D-7CA3-9044-876B-883B54F8677D}" type="slidenum">
              <a:rPr lang="en-US" smtClean="0"/>
              <a:t>45</a:t>
            </a:fld>
            <a:endParaRPr lang="en-US"/>
          </a:p>
        </p:txBody>
      </p:sp>
      <p:sp>
        <p:nvSpPr>
          <p:cNvPr id="6" name="文本框 4">
            <a:extLst>
              <a:ext uri="{FF2B5EF4-FFF2-40B4-BE49-F238E27FC236}">
                <a16:creationId xmlns:a16="http://schemas.microsoft.com/office/drawing/2014/main" id="{9C876A3A-3BAF-46D2-AB7E-4F673DD7BB6A}"/>
              </a:ext>
            </a:extLst>
          </p:cNvPr>
          <p:cNvSpPr txBox="1"/>
          <p:nvPr/>
        </p:nvSpPr>
        <p:spPr>
          <a:xfrm>
            <a:off x="1919536" y="1283379"/>
            <a:ext cx="7884368" cy="4647426"/>
          </a:xfrm>
          <a:prstGeom prst="rect">
            <a:avLst/>
          </a:prstGeom>
          <a:noFill/>
        </p:spPr>
        <p:txBody>
          <a:bodyPr wrap="square">
            <a:spAutoFit/>
          </a:bodyPr>
          <a:lstStyle/>
          <a:p>
            <a:r>
              <a:rPr lang="en-US" altLang="zh-CN" sz="2000" dirty="0">
                <a:latin typeface="Century Schoolbook" panose="02040604050505020304" pitchFamily="18" charset="0"/>
              </a:rPr>
              <a:t>Capital Providers’ information demand: Managers carter to such demand for capital market benefits: </a:t>
            </a:r>
          </a:p>
          <a:p>
            <a:pPr marL="285750" indent="-285750">
              <a:buFont typeface="Arial" panose="020B0604020202020204" pitchFamily="34" charset="0"/>
              <a:buChar char="•"/>
            </a:pPr>
            <a:r>
              <a:rPr lang="en-US" altLang="zh-CN" sz="2000" dirty="0">
                <a:latin typeface="Century Schoolbook" panose="02040604050505020304" pitchFamily="18" charset="0"/>
              </a:rPr>
              <a:t>Better liquidity, lower cost of capital, and improved firm value</a:t>
            </a:r>
          </a:p>
          <a:p>
            <a:pPr marL="800100" lvl="1" indent="-342900">
              <a:buFont typeface="Wingdings" pitchFamily="2" charset="2"/>
              <a:buChar char="Ø"/>
            </a:pPr>
            <a:r>
              <a:rPr lang="en-US" altLang="zh-CN" sz="2000" dirty="0">
                <a:latin typeface="Century Schoolbook" panose="02040604050505020304" pitchFamily="18" charset="0"/>
              </a:rPr>
              <a:t>IPO, SEOs, debt issuance</a:t>
            </a:r>
          </a:p>
          <a:p>
            <a:pPr marL="285750" indent="-285750">
              <a:buFont typeface="Arial" panose="020B0604020202020204" pitchFamily="34" charset="0"/>
              <a:buChar char="•"/>
            </a:pPr>
            <a:endParaRPr lang="en-US" altLang="zh-CN" sz="2000" dirty="0">
              <a:latin typeface="Century Schoolbook" panose="02040604050505020304" pitchFamily="18" charset="0"/>
            </a:endParaRPr>
          </a:p>
          <a:p>
            <a:pPr marL="285750" indent="-285750">
              <a:buFont typeface="Arial" panose="020B0604020202020204" pitchFamily="34" charset="0"/>
              <a:buChar char="•"/>
            </a:pPr>
            <a:r>
              <a:rPr lang="en-US" altLang="zh-CN" sz="2000" dirty="0">
                <a:latin typeface="Century Schoolbook" panose="02040604050505020304" pitchFamily="18" charset="0"/>
              </a:rPr>
              <a:t>Stock-based compensation and corporate control contest</a:t>
            </a:r>
          </a:p>
          <a:p>
            <a:pPr marL="285750" indent="-285750">
              <a:buFont typeface="Arial" panose="020B0604020202020204" pitchFamily="34" charset="0"/>
              <a:buChar char="•"/>
            </a:pPr>
            <a:endParaRPr lang="en-US" altLang="zh-CN" sz="2000" dirty="0">
              <a:latin typeface="Century Schoolbook" panose="02040604050505020304" pitchFamily="18" charset="0"/>
            </a:endParaRPr>
          </a:p>
          <a:p>
            <a:pPr marL="285750" indent="-285750">
              <a:buFont typeface="Arial" panose="020B0604020202020204" pitchFamily="34" charset="0"/>
              <a:buChar char="•"/>
            </a:pPr>
            <a:r>
              <a:rPr lang="en-US" altLang="zh-CN" sz="2000" dirty="0">
                <a:latin typeface="Century Schoolbook" panose="02040604050505020304" pitchFamily="18" charset="0"/>
              </a:rPr>
              <a:t>Career concern</a:t>
            </a:r>
          </a:p>
          <a:p>
            <a:pPr marL="285750" indent="-285750">
              <a:buFont typeface="Arial" panose="020B0604020202020204" pitchFamily="34" charset="0"/>
              <a:buChar char="•"/>
            </a:pPr>
            <a:endParaRPr lang="en-US" altLang="zh-CN" sz="2000" dirty="0">
              <a:latin typeface="Century Schoolbook" panose="02040604050505020304" pitchFamily="18" charset="0"/>
            </a:endParaRPr>
          </a:p>
          <a:p>
            <a:pPr marL="285750" indent="-285750">
              <a:buFont typeface="Arial" panose="020B0604020202020204" pitchFamily="34" charset="0"/>
              <a:buChar char="•"/>
            </a:pPr>
            <a:r>
              <a:rPr lang="en-US" altLang="zh-CN" sz="2000" dirty="0">
                <a:latin typeface="Century Schoolbook" panose="02040604050505020304" pitchFamily="18" charset="0"/>
              </a:rPr>
              <a:t>Litigation</a:t>
            </a:r>
          </a:p>
          <a:p>
            <a:pPr marL="285750" indent="-285750">
              <a:buFont typeface="Arial" panose="020B0604020202020204" pitchFamily="34" charset="0"/>
              <a:buChar char="•"/>
            </a:pPr>
            <a:endParaRPr lang="en-US" altLang="zh-CN" sz="2000" dirty="0">
              <a:latin typeface="Century Schoolbook" panose="02040604050505020304" pitchFamily="18" charset="0"/>
            </a:endParaRPr>
          </a:p>
          <a:p>
            <a:pPr marL="285750" indent="-285750">
              <a:buFont typeface="Arial" panose="020B0604020202020204" pitchFamily="34" charset="0"/>
              <a:buChar char="•"/>
            </a:pPr>
            <a:r>
              <a:rPr lang="en-US" altLang="zh-CN" sz="2000" dirty="0">
                <a:latin typeface="Century Schoolbook" panose="02040604050505020304" pitchFamily="18" charset="0"/>
              </a:rPr>
              <a:t>Proprietary cost</a:t>
            </a:r>
          </a:p>
          <a:p>
            <a:pPr marL="285750" indent="-285750">
              <a:buFont typeface="Arial" panose="020B0604020202020204" pitchFamily="34" charset="0"/>
              <a:buChar char="•"/>
            </a:pPr>
            <a:endParaRPr lang="en-US" altLang="zh-CN" sz="2000" dirty="0">
              <a:latin typeface="Century Schoolbook" panose="02040604050505020304" pitchFamily="18" charset="0"/>
            </a:endParaRPr>
          </a:p>
          <a:p>
            <a:pPr marL="342900" indent="-342900">
              <a:buFont typeface="Arial" panose="020B0604020202020204" pitchFamily="34" charset="0"/>
              <a:buChar char="•"/>
            </a:pPr>
            <a:r>
              <a:rPr lang="en-US" altLang="zh-CN" sz="2000" dirty="0">
                <a:latin typeface="Century Schoolbook" panose="02040604050505020304" pitchFamily="18" charset="0"/>
              </a:rPr>
              <a:t>Other determinants: managerial style, managerial ability</a:t>
            </a:r>
          </a:p>
          <a:p>
            <a:endParaRPr lang="en-US" altLang="zh-CN" sz="1600" dirty="0">
              <a:latin typeface="Century Schoolbook" panose="02040604050505020304" pitchFamily="18" charset="0"/>
            </a:endParaRPr>
          </a:p>
        </p:txBody>
      </p:sp>
    </p:spTree>
    <p:extLst>
      <p:ext uri="{BB962C8B-B14F-4D97-AF65-F5344CB8AC3E}">
        <p14:creationId xmlns:p14="http://schemas.microsoft.com/office/powerpoint/2010/main" val="1295219807"/>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5">
            <a:extLst>
              <a:ext uri="{FF2B5EF4-FFF2-40B4-BE49-F238E27FC236}">
                <a16:creationId xmlns:a16="http://schemas.microsoft.com/office/drawing/2014/main" id="{F6399FE9-7A13-48D0-B537-41A436317472}"/>
              </a:ext>
            </a:extLst>
          </p:cNvPr>
          <p:cNvSpPr>
            <a:spLocks noGrp="1"/>
          </p:cNvSpPr>
          <p:nvPr>
            <p:ph type="title"/>
          </p:nvPr>
        </p:nvSpPr>
        <p:spPr>
          <a:xfrm>
            <a:off x="1530929" y="311642"/>
            <a:ext cx="9144000" cy="850578"/>
          </a:xfrm>
        </p:spPr>
        <p:txBody>
          <a:bodyPr vert="horz" wrap="square" lIns="91440" tIns="45720" rIns="91440" bIns="45720" numCol="1" rtlCol="0" anchor="ctr" anchorCtr="0" compatLnSpc="1">
            <a:noAutofit/>
          </a:bodyPr>
          <a:lstStyle/>
          <a:p>
            <a:pPr marL="462280">
              <a:lnSpc>
                <a:spcPct val="100000"/>
              </a:lnSpc>
              <a:defRPr/>
            </a:pPr>
            <a:r>
              <a:rPr lang="en-US" altLang="en-US" sz="3000" dirty="0">
                <a:solidFill>
                  <a:srgbClr val="99235E"/>
                </a:solidFill>
                <a:cs typeface="Times New Roman" panose="02020603050405020304" pitchFamily="18" charset="0"/>
              </a:rPr>
              <a:t>Different Forms of Voluntary Disclosure</a:t>
            </a:r>
          </a:p>
        </p:txBody>
      </p:sp>
      <p:sp>
        <p:nvSpPr>
          <p:cNvPr id="3" name="Slide Number Placeholder 2">
            <a:extLst>
              <a:ext uri="{FF2B5EF4-FFF2-40B4-BE49-F238E27FC236}">
                <a16:creationId xmlns:a16="http://schemas.microsoft.com/office/drawing/2014/main" id="{929EA5A9-0845-4703-8043-41B25C7AF8FC}"/>
              </a:ext>
            </a:extLst>
          </p:cNvPr>
          <p:cNvSpPr>
            <a:spLocks noGrp="1"/>
          </p:cNvSpPr>
          <p:nvPr>
            <p:ph type="sldNum" sz="quarter" idx="2"/>
          </p:nvPr>
        </p:nvSpPr>
        <p:spPr/>
        <p:txBody>
          <a:bodyPr/>
          <a:lstStyle/>
          <a:p>
            <a:fld id="{86CB4B4D-7CA3-9044-876B-883B54F8677D}" type="slidenum">
              <a:rPr lang="en-US" smtClean="0"/>
              <a:t>46</a:t>
            </a:fld>
            <a:endParaRPr lang="en-US"/>
          </a:p>
        </p:txBody>
      </p:sp>
      <p:sp>
        <p:nvSpPr>
          <p:cNvPr id="6" name="文本框 4">
            <a:extLst>
              <a:ext uri="{FF2B5EF4-FFF2-40B4-BE49-F238E27FC236}">
                <a16:creationId xmlns:a16="http://schemas.microsoft.com/office/drawing/2014/main" id="{9C876A3A-3BAF-46D2-AB7E-4F673DD7BB6A}"/>
              </a:ext>
            </a:extLst>
          </p:cNvPr>
          <p:cNvSpPr txBox="1"/>
          <p:nvPr/>
        </p:nvSpPr>
        <p:spPr>
          <a:xfrm>
            <a:off x="1919536" y="1484785"/>
            <a:ext cx="7884368" cy="3662541"/>
          </a:xfrm>
          <a:prstGeom prst="rect">
            <a:avLst/>
          </a:prstGeom>
          <a:noFill/>
        </p:spPr>
        <p:txBody>
          <a:bodyPr wrap="square">
            <a:spAutoFit/>
          </a:bodyPr>
          <a:lstStyle/>
          <a:p>
            <a:pPr marL="285750" indent="-285750">
              <a:buFont typeface="Arial" panose="020B0604020202020204" pitchFamily="34" charset="0"/>
              <a:buChar char="•"/>
            </a:pPr>
            <a:r>
              <a:rPr lang="en-US" altLang="zh-CN" dirty="0">
                <a:latin typeface="Century Schoolbook" panose="02040604050505020304" pitchFamily="18" charset="0"/>
              </a:rPr>
              <a:t>Management forecasts</a:t>
            </a:r>
          </a:p>
          <a:p>
            <a:pPr lvl="1"/>
            <a:endParaRPr lang="en-US" altLang="zh-CN" dirty="0">
              <a:latin typeface="Century Schoolbook" panose="02040604050505020304" pitchFamily="18" charset="0"/>
            </a:endParaRPr>
          </a:p>
          <a:p>
            <a:pPr marL="285750" indent="-285750">
              <a:buFont typeface="Arial" panose="020B0604020202020204" pitchFamily="34" charset="0"/>
              <a:buChar char="•"/>
            </a:pPr>
            <a:r>
              <a:rPr lang="en-US" altLang="zh-CN" dirty="0">
                <a:latin typeface="Century Schoolbook" panose="02040604050505020304" pitchFamily="18" charset="0"/>
              </a:rPr>
              <a:t>Conference calls</a:t>
            </a:r>
          </a:p>
          <a:p>
            <a:pPr marL="285750" indent="-285750">
              <a:buFont typeface="Arial" panose="020B0604020202020204" pitchFamily="34" charset="0"/>
              <a:buChar char="•"/>
            </a:pPr>
            <a:endParaRPr lang="en-US" altLang="zh-CN" dirty="0">
              <a:latin typeface="Century Schoolbook" panose="02040604050505020304" pitchFamily="18" charset="0"/>
            </a:endParaRPr>
          </a:p>
          <a:p>
            <a:pPr marL="285750" indent="-285750">
              <a:buFont typeface="Arial" panose="020B0604020202020204" pitchFamily="34" charset="0"/>
              <a:buChar char="•"/>
            </a:pPr>
            <a:r>
              <a:rPr lang="en-US" altLang="zh-CN" dirty="0" err="1">
                <a:latin typeface="Century Schoolbook" panose="02040604050505020304" pitchFamily="18" charset="0"/>
              </a:rPr>
              <a:t>Nongaap</a:t>
            </a:r>
            <a:r>
              <a:rPr lang="en-US" altLang="zh-CN" dirty="0">
                <a:latin typeface="Century Schoolbook" panose="02040604050505020304" pitchFamily="18" charset="0"/>
              </a:rPr>
              <a:t> earnings</a:t>
            </a:r>
          </a:p>
          <a:p>
            <a:pPr marL="285750" indent="-285750">
              <a:buFont typeface="Arial" panose="020B0604020202020204" pitchFamily="34" charset="0"/>
              <a:buChar char="•"/>
            </a:pPr>
            <a:endParaRPr lang="en-US" altLang="zh-CN" dirty="0">
              <a:latin typeface="Century Schoolbook" panose="02040604050505020304" pitchFamily="18" charset="0"/>
            </a:endParaRPr>
          </a:p>
          <a:p>
            <a:pPr marL="285750" indent="-285750">
              <a:buFont typeface="Arial" panose="020B0604020202020204" pitchFamily="34" charset="0"/>
              <a:buChar char="•"/>
            </a:pPr>
            <a:r>
              <a:rPr lang="en-US" altLang="zh-CN" dirty="0">
                <a:latin typeface="Century Schoolbook" panose="02040604050505020304" pitchFamily="18" charset="0"/>
              </a:rPr>
              <a:t>Textual content</a:t>
            </a:r>
          </a:p>
          <a:p>
            <a:pPr marL="285750" indent="-285750">
              <a:buFont typeface="Arial" panose="020B0604020202020204" pitchFamily="34" charset="0"/>
              <a:buChar char="•"/>
            </a:pPr>
            <a:endParaRPr lang="en-US" altLang="zh-CN" dirty="0">
              <a:latin typeface="Century Schoolbook" panose="02040604050505020304" pitchFamily="18" charset="0"/>
            </a:endParaRPr>
          </a:p>
          <a:p>
            <a:pPr marL="285750" indent="-285750">
              <a:buFont typeface="Arial" panose="020B0604020202020204" pitchFamily="34" charset="0"/>
              <a:buChar char="•"/>
            </a:pPr>
            <a:r>
              <a:rPr lang="en-US" altLang="zh-CN" dirty="0">
                <a:latin typeface="Century Schoolbook" panose="02040604050505020304" pitchFamily="18" charset="0"/>
              </a:rPr>
              <a:t>Discretionary news release</a:t>
            </a:r>
          </a:p>
          <a:p>
            <a:endParaRPr lang="en-US" altLang="zh-CN" dirty="0">
              <a:latin typeface="Century Schoolbook" panose="02040604050505020304" pitchFamily="18" charset="0"/>
            </a:endParaRPr>
          </a:p>
          <a:p>
            <a:endParaRPr lang="en-US" altLang="zh-CN" dirty="0">
              <a:latin typeface="Century Schoolbook" panose="02040604050505020304" pitchFamily="18" charset="0"/>
            </a:endParaRPr>
          </a:p>
          <a:p>
            <a:pPr marL="285750" indent="-285750">
              <a:buFont typeface="Arial" panose="020B0604020202020204" pitchFamily="34" charset="0"/>
              <a:buChar char="•"/>
            </a:pPr>
            <a:endParaRPr lang="en-US" altLang="zh-CN" dirty="0">
              <a:latin typeface="Century Schoolbook" panose="02040604050505020304" pitchFamily="18" charset="0"/>
            </a:endParaRPr>
          </a:p>
          <a:p>
            <a:endParaRPr lang="en-US" altLang="zh-CN" sz="1600" dirty="0">
              <a:latin typeface="Century Schoolbook" panose="02040604050505020304" pitchFamily="18" charset="0"/>
            </a:endParaRPr>
          </a:p>
        </p:txBody>
      </p:sp>
    </p:spTree>
    <p:extLst>
      <p:ext uri="{BB962C8B-B14F-4D97-AF65-F5344CB8AC3E}">
        <p14:creationId xmlns:p14="http://schemas.microsoft.com/office/powerpoint/2010/main" val="3393337621"/>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A92A1-5B0A-55CD-8B0F-175EFDFDA49E}"/>
              </a:ext>
            </a:extLst>
          </p:cNvPr>
          <p:cNvSpPr>
            <a:spLocks noGrp="1"/>
          </p:cNvSpPr>
          <p:nvPr>
            <p:ph type="title"/>
          </p:nvPr>
        </p:nvSpPr>
        <p:spPr/>
        <p:txBody>
          <a:bodyPr/>
          <a:lstStyle/>
          <a:p>
            <a:r>
              <a:rPr lang="en-US" dirty="0"/>
              <a:t>Homework: </a:t>
            </a:r>
            <a:r>
              <a:rPr lang="en-US" altLang="en-US" sz="2800" dirty="0">
                <a:solidFill>
                  <a:srgbClr val="99235E"/>
                </a:solidFill>
                <a:cs typeface="Times New Roman" panose="02020603050405020304" pitchFamily="18" charset="0"/>
              </a:rPr>
              <a:t>Why is voluntary disclosure not cheap talk? </a:t>
            </a:r>
            <a:endParaRPr lang="en-US" dirty="0"/>
          </a:p>
        </p:txBody>
      </p:sp>
      <p:sp>
        <p:nvSpPr>
          <p:cNvPr id="3" name="Slide Number Placeholder 2">
            <a:extLst>
              <a:ext uri="{FF2B5EF4-FFF2-40B4-BE49-F238E27FC236}">
                <a16:creationId xmlns:a16="http://schemas.microsoft.com/office/drawing/2014/main" id="{E8466620-3297-082A-91BE-1FA3C7FED0A3}"/>
              </a:ext>
            </a:extLst>
          </p:cNvPr>
          <p:cNvSpPr>
            <a:spLocks noGrp="1"/>
          </p:cNvSpPr>
          <p:nvPr>
            <p:ph type="sldNum" sz="quarter" idx="2"/>
          </p:nvPr>
        </p:nvSpPr>
        <p:spPr/>
        <p:txBody>
          <a:bodyPr/>
          <a:lstStyle/>
          <a:p>
            <a:fld id="{86CB4B4D-7CA3-9044-876B-883B54F8677D}" type="slidenum">
              <a:rPr lang="en-US" smtClean="0"/>
              <a:pPr/>
              <a:t>47</a:t>
            </a:fld>
            <a:endParaRPr lang="en-US" dirty="0"/>
          </a:p>
        </p:txBody>
      </p:sp>
    </p:spTree>
    <p:extLst>
      <p:ext uri="{BB962C8B-B14F-4D97-AF65-F5344CB8AC3E}">
        <p14:creationId xmlns:p14="http://schemas.microsoft.com/office/powerpoint/2010/main" val="703907137"/>
      </p:ext>
    </p:extLst>
  </p:cSld>
  <p:clrMapOvr>
    <a:masterClrMapping/>
  </p:clrMapOvr>
  <p:transition spd="me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7759</TotalTime>
  <Words>2119</Words>
  <Application>Microsoft Office PowerPoint</Application>
  <PresentationFormat>Widescreen</PresentationFormat>
  <Paragraphs>288</Paragraphs>
  <Slides>47</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47</vt:i4>
      </vt:variant>
    </vt:vector>
  </HeadingPairs>
  <TitlesOfParts>
    <vt:vector size="57" baseType="lpstr">
      <vt:lpstr>AdvP4DF60E</vt:lpstr>
      <vt:lpstr>等线</vt:lpstr>
      <vt:lpstr>NewBaskerville</vt:lpstr>
      <vt:lpstr>PMingLiU</vt:lpstr>
      <vt:lpstr>Arial</vt:lpstr>
      <vt:lpstr>Calibri</vt:lpstr>
      <vt:lpstr>Century Schoolbook</vt:lpstr>
      <vt:lpstr>Times New Roman</vt:lpstr>
      <vt:lpstr>Wingdings</vt:lpstr>
      <vt:lpstr>Office 主题​​</vt:lpstr>
      <vt:lpstr>PowerPoint Presentation</vt:lpstr>
      <vt:lpstr>Types of Accounting Research</vt:lpstr>
      <vt:lpstr>Major Journals Publishing Accounting Research</vt:lpstr>
      <vt:lpstr>Information and Capital Market</vt:lpstr>
      <vt:lpstr>Two Agency Problems that Give Rise to the Demand for Information</vt:lpstr>
      <vt:lpstr>The Roles of Accounting Information </vt:lpstr>
      <vt:lpstr>Unraveling Result (Grossman and Hart 1980; Grossman 1981; Milgrom 1981; Milgrom and Roberts 1986)</vt:lpstr>
      <vt:lpstr>Different Information Sources</vt:lpstr>
      <vt:lpstr>Beyer, Cohen, Lys, and Walther (2010): JAE</vt:lpstr>
      <vt:lpstr>“Broad” Research Questions in Reportingand Disclosure</vt:lpstr>
      <vt:lpstr>Mandatory Reporting</vt:lpstr>
      <vt:lpstr>Topics Related to Mandatory Reporting</vt:lpstr>
      <vt:lpstr>Decision usefulness (Efficient market approach)</vt:lpstr>
      <vt:lpstr>Reasons for Security Price Response</vt:lpstr>
      <vt:lpstr>Abnormal Share Return</vt:lpstr>
      <vt:lpstr>Separating Market-Wide and Firm-Specific Factors</vt:lpstr>
      <vt:lpstr>Unexpected Earnings</vt:lpstr>
      <vt:lpstr>Estimation of Investors’ Earnings Expectations</vt:lpstr>
      <vt:lpstr>The Ball and Brown (1968) Study</vt:lpstr>
      <vt:lpstr>B&amp;B Methodology</vt:lpstr>
      <vt:lpstr>B&amp;B Methodology</vt:lpstr>
      <vt:lpstr>B&amp;B Results</vt:lpstr>
      <vt:lpstr>B&amp;B Conclusion</vt:lpstr>
      <vt:lpstr>Earnings Management</vt:lpstr>
      <vt:lpstr>What is Earnings Management?</vt:lpstr>
      <vt:lpstr>What is Earnings Management?</vt:lpstr>
      <vt:lpstr>Patterns of Earnings Management</vt:lpstr>
      <vt:lpstr>Methods of Earnings Management</vt:lpstr>
      <vt:lpstr>Managing Reported Earnings Through Discretionary Accruals</vt:lpstr>
      <vt:lpstr>Real Manipulations</vt:lpstr>
      <vt:lpstr>Measurements</vt:lpstr>
      <vt:lpstr>PowerPoint Presentation</vt:lpstr>
      <vt:lpstr>Accounting Conservatism</vt:lpstr>
      <vt:lpstr>Conservatism Defined</vt:lpstr>
      <vt:lpstr>Role of Conservatism</vt:lpstr>
      <vt:lpstr>Conservatism measurement</vt:lpstr>
      <vt:lpstr>Key measure: The Basu coefficient (Basu 1997)</vt:lpstr>
      <vt:lpstr>A non-price based measure</vt:lpstr>
      <vt:lpstr>The firm-year measure of Khan and Watts (2009)</vt:lpstr>
      <vt:lpstr>Details: Khan &amp; Watts</vt:lpstr>
      <vt:lpstr>Details: Khan &amp; Watts (cont.)</vt:lpstr>
      <vt:lpstr>Other measures</vt:lpstr>
      <vt:lpstr>Interpretations for conservatism</vt:lpstr>
      <vt:lpstr>Voluntary Disclosure</vt:lpstr>
      <vt:lpstr>(Dis)incentives for Voluntary Disclosure</vt:lpstr>
      <vt:lpstr>Different Forms of Voluntary Disclosure</vt:lpstr>
      <vt:lpstr>Homework: Why is voluntary disclosure not cheap talk?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 Gaole</dc:creator>
  <cp:lastModifiedBy>Prof. WANG Zheng</cp:lastModifiedBy>
  <cp:revision>320</cp:revision>
  <dcterms:created xsi:type="dcterms:W3CDTF">2023-10-03T09:09:50Z</dcterms:created>
  <dcterms:modified xsi:type="dcterms:W3CDTF">2026-09-14T09:33:57Z</dcterms:modified>
</cp:coreProperties>
</file>