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53"/>
  </p:notesMasterIdLst>
  <p:sldIdLst>
    <p:sldId id="371" r:id="rId2"/>
    <p:sldId id="473" r:id="rId3"/>
    <p:sldId id="491" r:id="rId4"/>
    <p:sldId id="493" r:id="rId5"/>
    <p:sldId id="494" r:id="rId6"/>
    <p:sldId id="495" r:id="rId7"/>
    <p:sldId id="516" r:id="rId8"/>
    <p:sldId id="517" r:id="rId9"/>
    <p:sldId id="510" r:id="rId10"/>
    <p:sldId id="511" r:id="rId11"/>
    <p:sldId id="544" r:id="rId12"/>
    <p:sldId id="518" r:id="rId13"/>
    <p:sldId id="507" r:id="rId14"/>
    <p:sldId id="512" r:id="rId15"/>
    <p:sldId id="513" r:id="rId16"/>
    <p:sldId id="508" r:id="rId17"/>
    <p:sldId id="509" r:id="rId18"/>
    <p:sldId id="514" r:id="rId19"/>
    <p:sldId id="506" r:id="rId20"/>
    <p:sldId id="504" r:id="rId21"/>
    <p:sldId id="505" r:id="rId22"/>
    <p:sldId id="485" r:id="rId23"/>
    <p:sldId id="486" r:id="rId24"/>
    <p:sldId id="487" r:id="rId25"/>
    <p:sldId id="488" r:id="rId26"/>
    <p:sldId id="521" r:id="rId27"/>
    <p:sldId id="489" r:id="rId28"/>
    <p:sldId id="490" r:id="rId29"/>
    <p:sldId id="522" r:id="rId30"/>
    <p:sldId id="523" r:id="rId31"/>
    <p:sldId id="524" r:id="rId32"/>
    <p:sldId id="525" r:id="rId33"/>
    <p:sldId id="526" r:id="rId34"/>
    <p:sldId id="527" r:id="rId35"/>
    <p:sldId id="528" r:id="rId36"/>
    <p:sldId id="529" r:id="rId37"/>
    <p:sldId id="530" r:id="rId38"/>
    <p:sldId id="531" r:id="rId39"/>
    <p:sldId id="532" r:id="rId40"/>
    <p:sldId id="533" r:id="rId41"/>
    <p:sldId id="534" r:id="rId42"/>
    <p:sldId id="535" r:id="rId43"/>
    <p:sldId id="536" r:id="rId44"/>
    <p:sldId id="537" r:id="rId45"/>
    <p:sldId id="538" r:id="rId46"/>
    <p:sldId id="539" r:id="rId47"/>
    <p:sldId id="540" r:id="rId48"/>
    <p:sldId id="541" r:id="rId49"/>
    <p:sldId id="542" r:id="rId50"/>
    <p:sldId id="543" r:id="rId51"/>
    <p:sldId id="545"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D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61" autoAdjust="0"/>
    <p:restoredTop sz="93505" autoAdjust="0"/>
  </p:normalViewPr>
  <p:slideViewPr>
    <p:cSldViewPr snapToGrid="0">
      <p:cViewPr varScale="1">
        <p:scale>
          <a:sx n="113" d="100"/>
          <a:sy n="113" d="100"/>
        </p:scale>
        <p:origin x="2261"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CDB3A-FE59-454B-9252-56DD5BFA7268}" type="datetimeFigureOut">
              <a:rPr lang="zh-CN" altLang="en-US" smtClean="0"/>
              <a:t>2026/9/16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2DA79A-8518-4D97-8E7D-2422CFDB39BE}" type="slidenum">
              <a:rPr lang="zh-CN" altLang="en-US" smtClean="0"/>
              <a:t>‹#›</a:t>
            </a:fld>
            <a:endParaRPr lang="zh-CN" altLang="en-US"/>
          </a:p>
        </p:txBody>
      </p:sp>
    </p:spTree>
    <p:extLst>
      <p:ext uri="{BB962C8B-B14F-4D97-AF65-F5344CB8AC3E}">
        <p14:creationId xmlns:p14="http://schemas.microsoft.com/office/powerpoint/2010/main" val="3798423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HK" sz="1200" dirty="0">
                <a:effectLst/>
                <a:latin typeface="NewBaskerville"/>
              </a:rPr>
              <a:t>Research suggests that there is significant demand from capital market participants for the disclosure of earnings forecasts by managers (see Healy and Palepu [2001], Core [2001], Hirst, Koonce, and Venkataraman [2008], and </a:t>
            </a:r>
            <a:r>
              <a:rPr lang="en-HK" sz="1200" dirty="0" err="1">
                <a:effectLst/>
                <a:latin typeface="NewBaskerville"/>
              </a:rPr>
              <a:t>Leuz</a:t>
            </a:r>
            <a:r>
              <a:rPr lang="en-HK" sz="1200" dirty="0">
                <a:effectLst/>
                <a:latin typeface="NewBaskerville"/>
              </a:rPr>
              <a:t> and Wysocki [2008] for reviews). This same research suggests that managers decide whether to issue forecasts based on their perceptions of the costs and benefits to the firm (e.g., higher liquidity and lower capital costs are weighed against proprietary and litigation costs) and to themselves (e.g., effects on reputation and stock compensation). Managers are more likely to issue forecasts when they expect growth (Core [2001]) or rising earnings (Miller [2002]), and have the ability to accurately predict earn- </a:t>
            </a:r>
            <a:r>
              <a:rPr lang="en-HK" sz="1200" dirty="0" err="1">
                <a:effectLst/>
                <a:latin typeface="NewBaskerville"/>
              </a:rPr>
              <a:t>ings</a:t>
            </a:r>
            <a:r>
              <a:rPr lang="en-HK" sz="1200" dirty="0">
                <a:effectLst/>
                <a:latin typeface="NewBaskerville"/>
              </a:rPr>
              <a:t> and meet or beat their forecasts (Hutton and </a:t>
            </a:r>
            <a:r>
              <a:rPr lang="en-HK" sz="1200" dirty="0" err="1">
                <a:effectLst/>
                <a:latin typeface="NewBaskerville"/>
              </a:rPr>
              <a:t>Stocken</a:t>
            </a:r>
            <a:r>
              <a:rPr lang="en-HK" sz="1200" dirty="0">
                <a:effectLst/>
                <a:latin typeface="NewBaskerville"/>
              </a:rPr>
              <a:t> [2009], </a:t>
            </a:r>
            <a:r>
              <a:rPr lang="en-HK" sz="1200" dirty="0" err="1">
                <a:effectLst/>
                <a:latin typeface="NewBaskerville"/>
              </a:rPr>
              <a:t>Bhojraj</a:t>
            </a:r>
            <a:r>
              <a:rPr lang="en-HK" sz="1200" dirty="0">
                <a:effectLst/>
                <a:latin typeface="NewBaskerville"/>
              </a:rPr>
              <a:t>, Libby, and Yang [2011]). Firms tend to cease issuing forecasts in the face of a sequence of bad quarters or when their forecast accuracy declines (Chen, Matsumoto, and </a:t>
            </a:r>
            <a:r>
              <a:rPr lang="en-HK" sz="1200" dirty="0" err="1">
                <a:effectLst/>
                <a:latin typeface="NewBaskerville"/>
              </a:rPr>
              <a:t>Rajgopal</a:t>
            </a:r>
            <a:r>
              <a:rPr lang="en-HK" sz="1200" dirty="0">
                <a:effectLst/>
                <a:latin typeface="NewBaskerville"/>
              </a:rPr>
              <a:t> [2011], Houston, Lev, and Tucker [2010]). </a:t>
            </a:r>
            <a:br>
              <a:rPr lang="en-HK" dirty="0"/>
            </a:br>
            <a:endParaRPr lang="zh-CN" altLang="en-US" dirty="0"/>
          </a:p>
        </p:txBody>
      </p:sp>
    </p:spTree>
    <p:extLst>
      <p:ext uri="{BB962C8B-B14F-4D97-AF65-F5344CB8AC3E}">
        <p14:creationId xmlns:p14="http://schemas.microsoft.com/office/powerpoint/2010/main" val="3149195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5713A1-CBD7-4C21-AC4E-D3C7AF0FFDAB}" type="slidenum">
              <a:rPr lang="en-US" smtClean="0"/>
              <a:t>32</a:t>
            </a:fld>
            <a:endParaRPr lang="en-US"/>
          </a:p>
        </p:txBody>
      </p:sp>
    </p:spTree>
    <p:extLst>
      <p:ext uri="{BB962C8B-B14F-4D97-AF65-F5344CB8AC3E}">
        <p14:creationId xmlns:p14="http://schemas.microsoft.com/office/powerpoint/2010/main" val="2967388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Because investors in weak-FTR countries perceive future earnings announced at the same point of time as more imminent and discount them to a lesser degree, the information about future earnings streams can cause a larger reaction from investors in weak-FTR countries than those in strong-FTR countries. </a:t>
            </a:r>
          </a:p>
          <a:p>
            <a:r>
              <a:rPr lang="en-US" sz="1200" kern="1200" dirty="0">
                <a:solidFill>
                  <a:schemeClr val="tx1"/>
                </a:solidFill>
                <a:effectLst/>
                <a:latin typeface="+mn-lt"/>
                <a:ea typeface="+mn-ea"/>
                <a:cs typeface="+mn-cs"/>
              </a:rPr>
              <a:t>In other words, the information about future earnings is relatively more useful to investors in weak-FTR countries in terms of valuation. Thus, they are willing to expend greater efforts to acquire forward-looking information. </a:t>
            </a:r>
          </a:p>
          <a:p>
            <a:r>
              <a:rPr lang="en-US" sz="1200" kern="1200" dirty="0" err="1">
                <a:solidFill>
                  <a:schemeClr val="tx1"/>
                </a:solidFill>
                <a:effectLst/>
                <a:latin typeface="+mn-lt"/>
                <a:ea typeface="+mn-ea"/>
                <a:cs typeface="+mn-cs"/>
              </a:rPr>
              <a:t>Trueman</a:t>
            </a:r>
            <a:r>
              <a:rPr lang="en-US" sz="1200" kern="1200" dirty="0">
                <a:solidFill>
                  <a:schemeClr val="tx1"/>
                </a:solidFill>
                <a:effectLst/>
                <a:latin typeface="+mn-lt"/>
                <a:ea typeface="+mn-ea"/>
                <a:cs typeface="+mn-cs"/>
              </a:rPr>
              <a:t> (1986) argues that management forecasts can serve as a public signal of such ability given the forward-looking nature of management forecasts. In order to issue credible forecasts of future earnings, managers need to have a good understanding of how changing business conditions affect the firm’s product demand and operations, as well as a strong ability to deal with uncertain events (Lee, Matsunaga and Park 2012). Prior studies show that the quality of management forecasts is related to managerial ability (</a:t>
            </a:r>
            <a:r>
              <a:rPr lang="en-US" sz="1200" kern="1200" dirty="0" err="1">
                <a:solidFill>
                  <a:schemeClr val="tx1"/>
                </a:solidFill>
                <a:effectLst/>
                <a:latin typeface="+mn-lt"/>
                <a:ea typeface="+mn-ea"/>
                <a:cs typeface="+mn-cs"/>
              </a:rPr>
              <a:t>Baik</a:t>
            </a:r>
            <a:r>
              <a:rPr lang="en-US" sz="1200" kern="1200" dirty="0">
                <a:solidFill>
                  <a:schemeClr val="tx1"/>
                </a:solidFill>
                <a:effectLst/>
                <a:latin typeface="+mn-lt"/>
                <a:ea typeface="+mn-ea"/>
                <a:cs typeface="+mn-cs"/>
              </a:rPr>
              <a:t>, Farber, and Lee 2011), CEO turnover (Lee et al. 2012), and the quality of corporate acquisition and capital expenditure decisions (Goodman, </a:t>
            </a:r>
            <a:r>
              <a:rPr lang="en-US" sz="1200" kern="1200" dirty="0" err="1">
                <a:solidFill>
                  <a:schemeClr val="tx1"/>
                </a:solidFill>
                <a:effectLst/>
                <a:latin typeface="+mn-lt"/>
                <a:ea typeface="+mn-ea"/>
                <a:cs typeface="+mn-cs"/>
              </a:rPr>
              <a:t>Neamtui</a:t>
            </a:r>
            <a:r>
              <a:rPr lang="en-US" sz="1200" kern="1200" dirty="0">
                <a:solidFill>
                  <a:schemeClr val="tx1"/>
                </a:solidFill>
                <a:effectLst/>
                <a:latin typeface="+mn-lt"/>
                <a:ea typeface="+mn-ea"/>
                <a:cs typeface="+mn-cs"/>
              </a:rPr>
              <a:t>, Shroff and White 2014). </a:t>
            </a:r>
            <a:endParaRPr lang="en-US" dirty="0"/>
          </a:p>
        </p:txBody>
      </p:sp>
    </p:spTree>
    <p:extLst>
      <p:ext uri="{BB962C8B-B14F-4D97-AF65-F5344CB8AC3E}">
        <p14:creationId xmlns:p14="http://schemas.microsoft.com/office/powerpoint/2010/main" val="3808021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A5713A1-CBD7-4C21-AC4E-D3C7AF0FFDAB}" type="slidenum">
              <a:rPr lang="en-US" smtClean="0"/>
              <a:t>50</a:t>
            </a:fld>
            <a:endParaRPr lang="en-US"/>
          </a:p>
        </p:txBody>
      </p:sp>
    </p:spTree>
    <p:extLst>
      <p:ext uri="{BB962C8B-B14F-4D97-AF65-F5344CB8AC3E}">
        <p14:creationId xmlns:p14="http://schemas.microsoft.com/office/powerpoint/2010/main" val="3265981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AF8E5-950E-8D05-F1AD-04E597554A8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3C001BF-BE91-6D41-059F-610E677B5B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AC541B5-0248-3C37-3F08-6265AA466A45}"/>
              </a:ext>
            </a:extLst>
          </p:cNvPr>
          <p:cNvSpPr>
            <a:spLocks noGrp="1"/>
          </p:cNvSpPr>
          <p:nvPr>
            <p:ph type="dt" sz="half" idx="10"/>
          </p:nvPr>
        </p:nvSpPr>
        <p:spPr/>
        <p:txBody>
          <a:bodyPr/>
          <a:lstStyle/>
          <a:p>
            <a:fld id="{6E807C96-1B00-4843-93DA-9776290FD1B0}" type="datetime1">
              <a:rPr lang="zh-CN" altLang="en-US" smtClean="0"/>
              <a:t>2026/9/16</a:t>
            </a:fld>
            <a:endParaRPr lang="zh-CN" altLang="en-US"/>
          </a:p>
        </p:txBody>
      </p:sp>
      <p:sp>
        <p:nvSpPr>
          <p:cNvPr id="5" name="页脚占位符 4">
            <a:extLst>
              <a:ext uri="{FF2B5EF4-FFF2-40B4-BE49-F238E27FC236}">
                <a16:creationId xmlns:a16="http://schemas.microsoft.com/office/drawing/2014/main" id="{8B2BF54E-797F-CECA-1E44-5DC77CB91B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E6BF6B8-4263-4EB2-3A9C-DBE0874501E8}"/>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3758420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03ABE-2716-F60D-CCF4-686518571922}"/>
              </a:ext>
            </a:extLst>
          </p:cNvPr>
          <p:cNvSpPr>
            <a:spLocks noGrp="1"/>
          </p:cNvSpPr>
          <p:nvPr>
            <p:ph type="title" hasCustomPrompt="1"/>
          </p:nvPr>
        </p:nvSpPr>
        <p:spPr/>
        <p:txBody>
          <a:bodyPr/>
          <a:lstStyle>
            <a:lvl1pPr>
              <a:defRPr>
                <a:latin typeface="Century Schoolbook" panose="02040604050505020304" pitchFamily="18" charset="0"/>
                <a:ea typeface="+mj-ea"/>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54EDE80D-4584-2829-C0E0-01DC923E67D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3FC4E90-296F-754A-3429-A4B8A6273BE0}"/>
              </a:ext>
            </a:extLst>
          </p:cNvPr>
          <p:cNvSpPr>
            <a:spLocks noGrp="1"/>
          </p:cNvSpPr>
          <p:nvPr>
            <p:ph type="dt" sz="half" idx="10"/>
          </p:nvPr>
        </p:nvSpPr>
        <p:spPr/>
        <p:txBody>
          <a:bodyPr/>
          <a:lstStyle/>
          <a:p>
            <a:fld id="{5F095013-FAFA-4996-A6F8-1F75D307863F}" type="datetime1">
              <a:rPr lang="zh-CN" altLang="en-US" smtClean="0"/>
              <a:t>2026/9/16</a:t>
            </a:fld>
            <a:endParaRPr lang="zh-CN" altLang="en-US"/>
          </a:p>
        </p:txBody>
      </p:sp>
      <p:sp>
        <p:nvSpPr>
          <p:cNvPr id="5" name="页脚占位符 4">
            <a:extLst>
              <a:ext uri="{FF2B5EF4-FFF2-40B4-BE49-F238E27FC236}">
                <a16:creationId xmlns:a16="http://schemas.microsoft.com/office/drawing/2014/main" id="{3256496B-208A-DC7A-689F-B50B0E940CB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D182A5-68E2-8619-08B1-A137D4D065E0}"/>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505144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52015-A9DB-C5BD-AED1-2F4BD76EFAB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367D0ED-6DBD-1241-4EA2-83C24C70C1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5AF94B6-4847-F29C-4437-C01A11BB2AED}"/>
              </a:ext>
            </a:extLst>
          </p:cNvPr>
          <p:cNvSpPr>
            <a:spLocks noGrp="1"/>
          </p:cNvSpPr>
          <p:nvPr>
            <p:ph type="dt" sz="half" idx="10"/>
          </p:nvPr>
        </p:nvSpPr>
        <p:spPr/>
        <p:txBody>
          <a:bodyPr/>
          <a:lstStyle/>
          <a:p>
            <a:fld id="{C5DA246F-282B-4AC5-B038-E15D3F4BC62A}" type="datetime1">
              <a:rPr lang="zh-CN" altLang="en-US" smtClean="0"/>
              <a:t>2026/9/16</a:t>
            </a:fld>
            <a:endParaRPr lang="zh-CN" altLang="en-US"/>
          </a:p>
        </p:txBody>
      </p:sp>
      <p:sp>
        <p:nvSpPr>
          <p:cNvPr id="5" name="页脚占位符 4">
            <a:extLst>
              <a:ext uri="{FF2B5EF4-FFF2-40B4-BE49-F238E27FC236}">
                <a16:creationId xmlns:a16="http://schemas.microsoft.com/office/drawing/2014/main" id="{9E383F9A-6379-FB6D-45E9-A33A7FB8AF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E76AD8-0F76-F8C3-0069-FAF821FC60E8}"/>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593737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CF16F9-7CF8-A31C-2977-732E8683CC1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423127B-BDBF-1F75-88DC-4B9EF35E66F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747B01-8A60-327E-51CC-5E9D648B029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9B49217-035F-F370-58DB-83986EB769ED}"/>
              </a:ext>
            </a:extLst>
          </p:cNvPr>
          <p:cNvSpPr>
            <a:spLocks noGrp="1"/>
          </p:cNvSpPr>
          <p:nvPr>
            <p:ph type="dt" sz="half" idx="10"/>
          </p:nvPr>
        </p:nvSpPr>
        <p:spPr/>
        <p:txBody>
          <a:bodyPr/>
          <a:lstStyle/>
          <a:p>
            <a:fld id="{CEC318EE-E09B-4F85-A11A-87FC565B6F76}" type="datetime1">
              <a:rPr lang="zh-CN" altLang="en-US" smtClean="0"/>
              <a:t>2026/9/16</a:t>
            </a:fld>
            <a:endParaRPr lang="zh-CN" altLang="en-US"/>
          </a:p>
        </p:txBody>
      </p:sp>
      <p:sp>
        <p:nvSpPr>
          <p:cNvPr id="6" name="页脚占位符 5">
            <a:extLst>
              <a:ext uri="{FF2B5EF4-FFF2-40B4-BE49-F238E27FC236}">
                <a16:creationId xmlns:a16="http://schemas.microsoft.com/office/drawing/2014/main" id="{BC4F95D7-F535-F7DE-DBC0-86D4EF95634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6769DEA-8A46-3A98-D12E-F75D99B5749D}"/>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88937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4590F8-C2CD-119B-222C-FF42EC96D33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B84F08D-0E1E-7161-4A6F-35249BCFB2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046C6C1-5FE4-E211-985B-921646CB361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3D214AA-EBD7-2039-AC7C-CED9B77A64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505F303-336A-1BB1-BAC1-49BA6C53418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3246AF0-1769-6A76-15A5-A7A378D98011}"/>
              </a:ext>
            </a:extLst>
          </p:cNvPr>
          <p:cNvSpPr>
            <a:spLocks noGrp="1"/>
          </p:cNvSpPr>
          <p:nvPr>
            <p:ph type="dt" sz="half" idx="10"/>
          </p:nvPr>
        </p:nvSpPr>
        <p:spPr/>
        <p:txBody>
          <a:bodyPr/>
          <a:lstStyle/>
          <a:p>
            <a:fld id="{26683FC8-A041-48FA-808C-CE8E042B67DD}" type="datetime1">
              <a:rPr lang="zh-CN" altLang="en-US" smtClean="0"/>
              <a:t>2026/9/16</a:t>
            </a:fld>
            <a:endParaRPr lang="zh-CN" altLang="en-US"/>
          </a:p>
        </p:txBody>
      </p:sp>
      <p:sp>
        <p:nvSpPr>
          <p:cNvPr id="8" name="页脚占位符 7">
            <a:extLst>
              <a:ext uri="{FF2B5EF4-FFF2-40B4-BE49-F238E27FC236}">
                <a16:creationId xmlns:a16="http://schemas.microsoft.com/office/drawing/2014/main" id="{C6024905-1D33-213C-5386-082E165434B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417AF8C-C9EF-9258-87F0-8C4BA9C623E2}"/>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3751446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3A7353-97B6-6E96-210C-17E88427366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F1F8CCC-A2A9-6BA4-EC22-A618D9DEC433}"/>
              </a:ext>
            </a:extLst>
          </p:cNvPr>
          <p:cNvSpPr>
            <a:spLocks noGrp="1"/>
          </p:cNvSpPr>
          <p:nvPr>
            <p:ph type="dt" sz="half" idx="10"/>
          </p:nvPr>
        </p:nvSpPr>
        <p:spPr/>
        <p:txBody>
          <a:bodyPr/>
          <a:lstStyle/>
          <a:p>
            <a:fld id="{2AD727EC-4A1D-4900-95E7-13F2A953FD4A}" type="datetime1">
              <a:rPr lang="zh-CN" altLang="en-US" smtClean="0"/>
              <a:t>2026/9/16</a:t>
            </a:fld>
            <a:endParaRPr lang="zh-CN" altLang="en-US"/>
          </a:p>
        </p:txBody>
      </p:sp>
      <p:sp>
        <p:nvSpPr>
          <p:cNvPr id="4" name="页脚占位符 3">
            <a:extLst>
              <a:ext uri="{FF2B5EF4-FFF2-40B4-BE49-F238E27FC236}">
                <a16:creationId xmlns:a16="http://schemas.microsoft.com/office/drawing/2014/main" id="{8CE6B241-992A-787E-6BBA-08093DC518C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2B192DE-3F6C-F363-25F0-E21F63586953}"/>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72346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EEC1604-6D29-96D8-BE53-045B3C9629DC}"/>
              </a:ext>
            </a:extLst>
          </p:cNvPr>
          <p:cNvSpPr>
            <a:spLocks noGrp="1"/>
          </p:cNvSpPr>
          <p:nvPr>
            <p:ph type="dt" sz="half" idx="10"/>
          </p:nvPr>
        </p:nvSpPr>
        <p:spPr/>
        <p:txBody>
          <a:bodyPr/>
          <a:lstStyle/>
          <a:p>
            <a:fld id="{E024DACF-18DB-4078-841D-53DE697B8835}" type="datetime1">
              <a:rPr lang="zh-CN" altLang="en-US" smtClean="0"/>
              <a:t>2026/9/16</a:t>
            </a:fld>
            <a:endParaRPr lang="zh-CN" altLang="en-US"/>
          </a:p>
        </p:txBody>
      </p:sp>
      <p:sp>
        <p:nvSpPr>
          <p:cNvPr id="3" name="页脚占位符 2">
            <a:extLst>
              <a:ext uri="{FF2B5EF4-FFF2-40B4-BE49-F238E27FC236}">
                <a16:creationId xmlns:a16="http://schemas.microsoft.com/office/drawing/2014/main" id="{8268A4A1-8B9F-21BF-38C6-F6FB9DE27F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3B7490E-A9A0-5D21-115C-A5B6EE6E32FF}"/>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22221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A19D8A-2E16-D969-FCAF-2FEC91F58FB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91F66DA-BF7F-468D-F35E-A71C2A5593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87DCAA3-70AF-342A-47AA-E164EB0181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AC662B-295C-7E40-D0FB-669BC4458735}"/>
              </a:ext>
            </a:extLst>
          </p:cNvPr>
          <p:cNvSpPr>
            <a:spLocks noGrp="1"/>
          </p:cNvSpPr>
          <p:nvPr>
            <p:ph type="dt" sz="half" idx="10"/>
          </p:nvPr>
        </p:nvSpPr>
        <p:spPr/>
        <p:txBody>
          <a:bodyPr/>
          <a:lstStyle/>
          <a:p>
            <a:fld id="{5AE4D780-48C9-4A78-9734-20FDE0701464}" type="datetime1">
              <a:rPr lang="zh-CN" altLang="en-US" smtClean="0"/>
              <a:t>2026/9/16</a:t>
            </a:fld>
            <a:endParaRPr lang="zh-CN" altLang="en-US"/>
          </a:p>
        </p:txBody>
      </p:sp>
      <p:sp>
        <p:nvSpPr>
          <p:cNvPr id="6" name="页脚占位符 5">
            <a:extLst>
              <a:ext uri="{FF2B5EF4-FFF2-40B4-BE49-F238E27FC236}">
                <a16:creationId xmlns:a16="http://schemas.microsoft.com/office/drawing/2014/main" id="{14E75EC8-E794-9A65-B963-273A4DA8C3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6987F22-1D1F-D6CC-55AA-CA1E3FDB6FAB}"/>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70126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F17376-E363-BE75-1A46-93CDB424833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FE9ED85-F876-3506-EE52-43B8BCBCBB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CCA28F8-6CBD-CB2A-4B0A-1B84000880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009FBE1-11F2-5D1F-5050-74F49BE9423D}"/>
              </a:ext>
            </a:extLst>
          </p:cNvPr>
          <p:cNvSpPr>
            <a:spLocks noGrp="1"/>
          </p:cNvSpPr>
          <p:nvPr>
            <p:ph type="dt" sz="half" idx="10"/>
          </p:nvPr>
        </p:nvSpPr>
        <p:spPr/>
        <p:txBody>
          <a:bodyPr/>
          <a:lstStyle/>
          <a:p>
            <a:fld id="{B3D856DB-DE9B-4D41-959E-311105BC9F15}" type="datetime1">
              <a:rPr lang="zh-CN" altLang="en-US" smtClean="0"/>
              <a:t>2026/9/16</a:t>
            </a:fld>
            <a:endParaRPr lang="zh-CN" altLang="en-US"/>
          </a:p>
        </p:txBody>
      </p:sp>
      <p:sp>
        <p:nvSpPr>
          <p:cNvPr id="6" name="页脚占位符 5">
            <a:extLst>
              <a:ext uri="{FF2B5EF4-FFF2-40B4-BE49-F238E27FC236}">
                <a16:creationId xmlns:a16="http://schemas.microsoft.com/office/drawing/2014/main" id="{9A8A5285-6A52-553A-ACF2-D60EF0DE6C3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980A81E-D540-66B1-93EC-F8490B0FEBD2}"/>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621944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92E624-E2F3-1C9A-D3B3-91DE9B75511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41BDFDD-AF68-0F24-6A93-49859CD47C3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F4C5F0B-7E74-4DC7-F9C5-6C31720F0D14}"/>
              </a:ext>
            </a:extLst>
          </p:cNvPr>
          <p:cNvSpPr>
            <a:spLocks noGrp="1"/>
          </p:cNvSpPr>
          <p:nvPr>
            <p:ph type="dt" sz="half" idx="10"/>
          </p:nvPr>
        </p:nvSpPr>
        <p:spPr/>
        <p:txBody>
          <a:bodyPr/>
          <a:lstStyle/>
          <a:p>
            <a:fld id="{8DF4875F-1CC6-4F12-ABE4-89166A465654}" type="datetime1">
              <a:rPr lang="zh-CN" altLang="en-US" smtClean="0"/>
              <a:t>2026/9/16</a:t>
            </a:fld>
            <a:endParaRPr lang="zh-CN" altLang="en-US"/>
          </a:p>
        </p:txBody>
      </p:sp>
      <p:sp>
        <p:nvSpPr>
          <p:cNvPr id="5" name="页脚占位符 4">
            <a:extLst>
              <a:ext uri="{FF2B5EF4-FFF2-40B4-BE49-F238E27FC236}">
                <a16:creationId xmlns:a16="http://schemas.microsoft.com/office/drawing/2014/main" id="{3632DD33-CCB5-BD84-1823-5A503B95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AECEE8-FAA4-AC6B-81D1-2F2FC2FFBE93}"/>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523764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9473442-FD9F-20F9-D423-EBE5FF2C99C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478F7D4-92A6-76D3-0A88-6C45503E079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6E421C-0CB4-301C-08D0-59C03300DD19}"/>
              </a:ext>
            </a:extLst>
          </p:cNvPr>
          <p:cNvSpPr>
            <a:spLocks noGrp="1"/>
          </p:cNvSpPr>
          <p:nvPr>
            <p:ph type="dt" sz="half" idx="10"/>
          </p:nvPr>
        </p:nvSpPr>
        <p:spPr/>
        <p:txBody>
          <a:bodyPr/>
          <a:lstStyle/>
          <a:p>
            <a:fld id="{8BE3E932-BECE-42A3-9851-95B1F01952DC}" type="datetime1">
              <a:rPr lang="zh-CN" altLang="en-US" smtClean="0"/>
              <a:t>2026/9/16</a:t>
            </a:fld>
            <a:endParaRPr lang="zh-CN" altLang="en-US"/>
          </a:p>
        </p:txBody>
      </p:sp>
      <p:sp>
        <p:nvSpPr>
          <p:cNvPr id="5" name="页脚占位符 4">
            <a:extLst>
              <a:ext uri="{FF2B5EF4-FFF2-40B4-BE49-F238E27FC236}">
                <a16:creationId xmlns:a16="http://schemas.microsoft.com/office/drawing/2014/main" id="{79EA325C-ADAC-EFFE-A684-98278D2DDE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DCA15B-E99C-5FAD-0E5E-90E3DE74B525}"/>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863021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7_Section Header">
    <p:spTree>
      <p:nvGrpSpPr>
        <p:cNvPr id="1" name=""/>
        <p:cNvGrpSpPr/>
        <p:nvPr/>
      </p:nvGrpSpPr>
      <p:grpSpPr>
        <a:xfrm>
          <a:off x="0" y="0"/>
          <a:ext cx="0" cy="0"/>
          <a:chOff x="0" y="0"/>
          <a:chExt cx="0" cy="0"/>
        </a:xfrm>
      </p:grpSpPr>
      <p:sp>
        <p:nvSpPr>
          <p:cNvPr id="163" name="Click to edit master title style"/>
          <p:cNvSpPr txBox="1">
            <a:spLocks noGrp="1"/>
          </p:cNvSpPr>
          <p:nvPr>
            <p:ph type="title" hasCustomPrompt="1"/>
          </p:nvPr>
        </p:nvSpPr>
        <p:spPr>
          <a:xfrm>
            <a:off x="738910" y="1882589"/>
            <a:ext cx="10714183" cy="2017060"/>
          </a:xfrm>
          <a:prstGeom prst="rect">
            <a:avLst/>
          </a:prstGeom>
        </p:spPr>
        <p:txBody>
          <a:bodyPr anchor="t"/>
          <a:lstStyle>
            <a:lvl1pPr>
              <a:defRPr sz="2500" b="1">
                <a:solidFill>
                  <a:srgbClr val="637052"/>
                </a:solidFill>
              </a:defRPr>
            </a:lvl1pPr>
          </a:lstStyle>
          <a:p>
            <a:r>
              <a:t>Click to edit master title style</a:t>
            </a:r>
          </a:p>
        </p:txBody>
      </p:sp>
      <p:sp>
        <p:nvSpPr>
          <p:cNvPr id="169" name="Slide Number"/>
          <p:cNvSpPr txBox="1">
            <a:spLocks noGrp="1"/>
          </p:cNvSpPr>
          <p:nvPr>
            <p:ph type="sldNum" sz="quarter" idx="2"/>
          </p:nvPr>
        </p:nvSpPr>
        <p:spPr>
          <a:xfrm>
            <a:off x="9347200" y="6445250"/>
            <a:ext cx="2844800" cy="368301"/>
          </a:xfrm>
          <a:prstGeom prst="rect">
            <a:avLst/>
          </a:prstGeo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8027287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49FEDB4-D24A-D053-B174-08C6866C18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zh-CN" altLang="en-US" dirty="0"/>
          </a:p>
        </p:txBody>
      </p:sp>
      <p:sp>
        <p:nvSpPr>
          <p:cNvPr id="3" name="文本占位符 2">
            <a:extLst>
              <a:ext uri="{FF2B5EF4-FFF2-40B4-BE49-F238E27FC236}">
                <a16:creationId xmlns:a16="http://schemas.microsoft.com/office/drawing/2014/main" id="{558B83C5-7A07-2A5A-1F05-47DA1B865E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zh-CN" altLang="en-US" dirty="0"/>
          </a:p>
        </p:txBody>
      </p:sp>
      <p:sp>
        <p:nvSpPr>
          <p:cNvPr id="4" name="日期占位符 3">
            <a:extLst>
              <a:ext uri="{FF2B5EF4-FFF2-40B4-BE49-F238E27FC236}">
                <a16:creationId xmlns:a16="http://schemas.microsoft.com/office/drawing/2014/main" id="{36C5B602-C58B-125C-B0F7-FE8D13927C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0D7607-91AE-4D36-ABF6-34B5F509E9BA}" type="datetime1">
              <a:rPr lang="zh-CN" altLang="en-US" smtClean="0"/>
              <a:t>2026/9/16</a:t>
            </a:fld>
            <a:endParaRPr lang="zh-CN" altLang="en-US"/>
          </a:p>
        </p:txBody>
      </p:sp>
      <p:sp>
        <p:nvSpPr>
          <p:cNvPr id="5" name="页脚占位符 4">
            <a:extLst>
              <a:ext uri="{FF2B5EF4-FFF2-40B4-BE49-F238E27FC236}">
                <a16:creationId xmlns:a16="http://schemas.microsoft.com/office/drawing/2014/main" id="{C7659421-F9E4-C409-345F-BF40647755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3C788FF-D1B0-D606-854D-77FD64E14A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78BC13-B753-4634-A5F7-9F4F7C9ECC5F}" type="slidenum">
              <a:rPr lang="zh-CN" altLang="en-US" smtClean="0"/>
              <a:t>‹#›</a:t>
            </a:fld>
            <a:endParaRPr lang="zh-CN" altLang="en-US"/>
          </a:p>
        </p:txBody>
      </p:sp>
      <p:pic>
        <p:nvPicPr>
          <p:cNvPr id="7" name="Google Shape;66;p14">
            <a:extLst>
              <a:ext uri="{FF2B5EF4-FFF2-40B4-BE49-F238E27FC236}">
                <a16:creationId xmlns:a16="http://schemas.microsoft.com/office/drawing/2014/main" id="{31B9E400-573C-4C14-D997-522C8F8B5466}"/>
              </a:ext>
            </a:extLst>
          </p:cNvPr>
          <p:cNvPicPr preferRelativeResize="0"/>
          <p:nvPr userDrawn="1"/>
        </p:nvPicPr>
        <p:blipFill rotWithShape="1">
          <a:blip r:embed="rId14">
            <a:alphaModFix/>
          </a:blip>
          <a:srcRect/>
          <a:stretch/>
        </p:blipFill>
        <p:spPr>
          <a:xfrm>
            <a:off x="8926725" y="86421"/>
            <a:ext cx="3005534" cy="715037"/>
          </a:xfrm>
          <a:prstGeom prst="rect">
            <a:avLst/>
          </a:prstGeom>
          <a:noFill/>
          <a:ln>
            <a:noFill/>
          </a:ln>
        </p:spPr>
      </p:pic>
    </p:spTree>
    <p:extLst>
      <p:ext uri="{BB962C8B-B14F-4D97-AF65-F5344CB8AC3E}">
        <p14:creationId xmlns:p14="http://schemas.microsoft.com/office/powerpoint/2010/main" val="3459532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Century Schoolbook" panose="020406040505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Schoolbook" panose="020406040505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Schoolbook" panose="020406040505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Schoolbook" panose="020406040505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Schoolbook" panose="020406040505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Schoolbook" panose="020406040505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A1678161-9BED-4F29-94F3-A403FCC37B8F}"/>
              </a:ext>
            </a:extLst>
          </p:cNvPr>
          <p:cNvSpPr txBox="1"/>
          <p:nvPr/>
        </p:nvSpPr>
        <p:spPr>
          <a:xfrm>
            <a:off x="2351584" y="1499939"/>
            <a:ext cx="7920880" cy="584775"/>
          </a:xfrm>
          <a:prstGeom prst="rect">
            <a:avLst/>
          </a:prstGeom>
          <a:noFill/>
        </p:spPr>
        <p:txBody>
          <a:bodyPr wrap="square">
            <a:spAutoFit/>
          </a:bodyPr>
          <a:lstStyle/>
          <a:p>
            <a:pPr algn="ctr"/>
            <a:r>
              <a:rPr lang="en-US" altLang="zh-CN" sz="3200" b="1" dirty="0">
                <a:latin typeface="Century Schoolbook" panose="02040604050505020304" pitchFamily="18" charset="0"/>
              </a:rPr>
              <a:t>Week 2: Voluntary Disclosure</a:t>
            </a:r>
            <a:endParaRPr lang="zh-CN" altLang="en-US" sz="3200" b="1" dirty="0">
              <a:latin typeface="Century Schoolbook" panose="02040604050505020304" pitchFamily="18" charset="0"/>
            </a:endParaRPr>
          </a:p>
        </p:txBody>
      </p:sp>
      <p:sp>
        <p:nvSpPr>
          <p:cNvPr id="11" name="文本框 10">
            <a:extLst>
              <a:ext uri="{FF2B5EF4-FFF2-40B4-BE49-F238E27FC236}">
                <a16:creationId xmlns:a16="http://schemas.microsoft.com/office/drawing/2014/main" id="{7676D187-D426-44F8-A333-69F37245056A}"/>
              </a:ext>
            </a:extLst>
          </p:cNvPr>
          <p:cNvSpPr txBox="1"/>
          <p:nvPr/>
        </p:nvSpPr>
        <p:spPr>
          <a:xfrm>
            <a:off x="1307306" y="3234404"/>
            <a:ext cx="9144000" cy="1754326"/>
          </a:xfrm>
          <a:prstGeom prst="rect">
            <a:avLst/>
          </a:prstGeom>
          <a:noFill/>
        </p:spPr>
        <p:txBody>
          <a:bodyPr wrap="square">
            <a:spAutoFit/>
          </a:bodyPr>
          <a:lstStyle/>
          <a:p>
            <a:pPr algn="ctr"/>
            <a:r>
              <a:rPr lang="en-US" altLang="zh-CN" dirty="0">
                <a:latin typeface="Century Schoolbook" panose="02040604050505020304" pitchFamily="18" charset="0"/>
              </a:rPr>
              <a:t>Prof. Zheng Wang</a:t>
            </a:r>
          </a:p>
          <a:p>
            <a:pPr algn="ctr"/>
            <a:endParaRPr lang="en-US" altLang="zh-CN" dirty="0">
              <a:latin typeface="Century Schoolbook" panose="02040604050505020304" pitchFamily="18" charset="0"/>
            </a:endParaRPr>
          </a:p>
          <a:p>
            <a:pPr algn="ctr"/>
            <a:r>
              <a:rPr lang="en-US" altLang="zh-CN" dirty="0">
                <a:latin typeface="Century Schoolbook" panose="02040604050505020304" pitchFamily="18" charset="0"/>
              </a:rPr>
              <a:t>AC8900</a:t>
            </a:r>
          </a:p>
          <a:p>
            <a:pPr algn="ctr"/>
            <a:r>
              <a:rPr lang="en-US" altLang="zh-CN" dirty="0">
                <a:latin typeface="Century Schoolbook" panose="02040604050505020304" pitchFamily="18" charset="0"/>
              </a:rPr>
              <a:t>Semester A 2026/2027</a:t>
            </a:r>
          </a:p>
          <a:p>
            <a:pPr algn="ctr"/>
            <a:endParaRPr lang="en-US" altLang="zh-CN" dirty="0">
              <a:latin typeface="Century Schoolbook" panose="02040604050505020304" pitchFamily="18" charset="0"/>
            </a:endParaRPr>
          </a:p>
          <a:p>
            <a:pPr algn="ctr"/>
            <a:endParaRPr lang="en-US" altLang="zh-CN" dirty="0">
              <a:latin typeface="Century Schoolbook" panose="02040604050505020304" pitchFamily="18" charset="0"/>
            </a:endParaRPr>
          </a:p>
        </p:txBody>
      </p:sp>
      <p:sp>
        <p:nvSpPr>
          <p:cNvPr id="3" name="Date Placeholder 2">
            <a:extLst>
              <a:ext uri="{FF2B5EF4-FFF2-40B4-BE49-F238E27FC236}">
                <a16:creationId xmlns:a16="http://schemas.microsoft.com/office/drawing/2014/main" id="{1E675BC2-5E82-4461-8CE7-B909ABD01D5C}"/>
              </a:ext>
            </a:extLst>
          </p:cNvPr>
          <p:cNvSpPr>
            <a:spLocks noGrp="1"/>
          </p:cNvSpPr>
          <p:nvPr>
            <p:ph type="dt" sz="half" idx="10"/>
          </p:nvPr>
        </p:nvSpPr>
        <p:spPr/>
        <p:txBody>
          <a:bodyPr/>
          <a:lstStyle/>
          <a:p>
            <a:pPr lvl="0" eaLnBrk="1" hangingPunct="1">
              <a:buNone/>
            </a:pPr>
            <a:fld id="{71C52769-6B22-46DD-9153-0353FF374DBB}" type="datetime1">
              <a:rPr lang="en-US" smtClean="0">
                <a:latin typeface="Calibri" panose="020F0502020204030204" pitchFamily="34" charset="0"/>
                <a:ea typeface="PMingLiU" panose="02020500000000000000" pitchFamily="18" charset="-120"/>
                <a:cs typeface="Arial" panose="020B0604020202020204" pitchFamily="34" charset="0"/>
              </a:rPr>
              <a:t>9/16/2026</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
        <p:nvSpPr>
          <p:cNvPr id="4" name="Slide Number Placeholder 3">
            <a:extLst>
              <a:ext uri="{FF2B5EF4-FFF2-40B4-BE49-F238E27FC236}">
                <a16:creationId xmlns:a16="http://schemas.microsoft.com/office/drawing/2014/main" id="{A9880582-84BC-41AD-B560-8417D6BA4DFA}"/>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84779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A92A1-5B0A-55CD-8B0F-175EFDFDA49E}"/>
              </a:ext>
            </a:extLst>
          </p:cNvPr>
          <p:cNvSpPr>
            <a:spLocks noGrp="1"/>
          </p:cNvSpPr>
          <p:nvPr>
            <p:ph type="title"/>
          </p:nvPr>
        </p:nvSpPr>
        <p:spPr/>
        <p:txBody>
          <a:bodyPr/>
          <a:lstStyle/>
          <a:p>
            <a:r>
              <a:rPr lang="en-US" dirty="0"/>
              <a:t>Homework: </a:t>
            </a:r>
            <a:r>
              <a:rPr lang="en-US" altLang="en-US" sz="2800" dirty="0">
                <a:solidFill>
                  <a:srgbClr val="99235E"/>
                </a:solidFill>
                <a:cs typeface="Times New Roman" panose="02020603050405020304" pitchFamily="18" charset="0"/>
              </a:rPr>
              <a:t>Why is voluntary disclosure not cheap talk? </a:t>
            </a:r>
            <a:endParaRPr lang="en-US" dirty="0"/>
          </a:p>
        </p:txBody>
      </p:sp>
      <p:sp>
        <p:nvSpPr>
          <p:cNvPr id="3" name="Slide Number Placeholder 2">
            <a:extLst>
              <a:ext uri="{FF2B5EF4-FFF2-40B4-BE49-F238E27FC236}">
                <a16:creationId xmlns:a16="http://schemas.microsoft.com/office/drawing/2014/main" id="{E8466620-3297-082A-91BE-1FA3C7FED0A3}"/>
              </a:ext>
            </a:extLst>
          </p:cNvPr>
          <p:cNvSpPr>
            <a:spLocks noGrp="1"/>
          </p:cNvSpPr>
          <p:nvPr>
            <p:ph type="sldNum" sz="quarter" idx="2"/>
          </p:nvPr>
        </p:nvSpPr>
        <p:spPr/>
        <p:txBody>
          <a:bodyPr/>
          <a:lstStyle/>
          <a:p>
            <a:fld id="{86CB4B4D-7CA3-9044-876B-883B54F8677D}" type="slidenum">
              <a:rPr lang="en-US" smtClean="0"/>
              <a:pPr/>
              <a:t>2</a:t>
            </a:fld>
            <a:endParaRPr lang="en-US" dirty="0"/>
          </a:p>
        </p:txBody>
      </p:sp>
    </p:spTree>
    <p:extLst>
      <p:ext uri="{BB962C8B-B14F-4D97-AF65-F5344CB8AC3E}">
        <p14:creationId xmlns:p14="http://schemas.microsoft.com/office/powerpoint/2010/main" val="333237373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254C17-0180-4626-8844-F6EC8E61EF01}"/>
              </a:ext>
            </a:extLst>
          </p:cNvPr>
          <p:cNvSpPr>
            <a:spLocks noGrp="1"/>
          </p:cNvSpPr>
          <p:nvPr>
            <p:ph idx="1"/>
          </p:nvPr>
        </p:nvSpPr>
        <p:spPr>
          <a:xfrm>
            <a:off x="1249680" y="496242"/>
            <a:ext cx="8229600" cy="5865515"/>
          </a:xfrm>
        </p:spPr>
        <p:txBody>
          <a:bodyPr>
            <a:normAutofit/>
          </a:bodyPr>
          <a:lstStyle/>
          <a:p>
            <a:r>
              <a:rPr lang="en-US" sz="1600" dirty="0"/>
              <a:t>The existence of proprietary cost makes voluntary disclosure credible:</a:t>
            </a:r>
          </a:p>
          <a:p>
            <a:pPr lvl="1"/>
            <a:r>
              <a:rPr lang="en-US" sz="1600" dirty="0" err="1"/>
              <a:t>Gigler</a:t>
            </a:r>
            <a:r>
              <a:rPr lang="en-US" sz="1600" dirty="0"/>
              <a:t>, F. 1994. Self-enforcing voluntary disclosures. </a:t>
            </a:r>
            <a:r>
              <a:rPr lang="en-US" sz="1600" i="1" dirty="0"/>
              <a:t>Journal of Accounting Research</a:t>
            </a:r>
            <a:r>
              <a:rPr lang="en-US" sz="1600" dirty="0"/>
              <a:t> 32 (2): 224-240.</a:t>
            </a:r>
          </a:p>
          <a:p>
            <a:pPr lvl="2"/>
            <a:r>
              <a:rPr lang="en-US" sz="1600" dirty="0"/>
              <a:t>Proprietary costs are the friction that prevents full disclosure. In contrast, </a:t>
            </a:r>
            <a:r>
              <a:rPr lang="en-US" sz="1600" dirty="0" err="1"/>
              <a:t>Gigler</a:t>
            </a:r>
            <a:r>
              <a:rPr lang="en-US" sz="1600" dirty="0"/>
              <a:t> (1994) assumes that a manager wants to overstate profitability to the capital market in the absence of verification. But the manager would like to convince its competitor that demand is low. Such a trade-off will make voluntary disclosure believable </a:t>
            </a:r>
          </a:p>
          <a:p>
            <a:endParaRPr lang="en-US" sz="1600" dirty="0"/>
          </a:p>
          <a:p>
            <a:r>
              <a:rPr lang="en-US" sz="1600" dirty="0"/>
              <a:t>Signaling managerial ability: </a:t>
            </a:r>
          </a:p>
          <a:p>
            <a:pPr lvl="1"/>
            <a:r>
              <a:rPr lang="en-HK" sz="1600" dirty="0"/>
              <a:t>Lee, S., Matsunaga, S. R., &amp; Park, C. W. (2012). Management forecast accuracy and CEO turnover. </a:t>
            </a:r>
            <a:r>
              <a:rPr lang="en-HK" sz="1600" i="1" dirty="0"/>
              <a:t>The Accounting Review</a:t>
            </a:r>
            <a:r>
              <a:rPr lang="en-HK" sz="1600" dirty="0"/>
              <a:t>, </a:t>
            </a:r>
            <a:r>
              <a:rPr lang="en-HK" sz="1600" i="1" dirty="0"/>
              <a:t>87</a:t>
            </a:r>
            <a:r>
              <a:rPr lang="en-HK" sz="1600" dirty="0"/>
              <a:t>(6), 2095-2122.</a:t>
            </a:r>
          </a:p>
          <a:p>
            <a:pPr lvl="1"/>
            <a:endParaRPr lang="en-HK" sz="1600" dirty="0"/>
          </a:p>
          <a:p>
            <a:r>
              <a:rPr lang="en-HK" sz="1600" dirty="0"/>
              <a:t>Confirmation of mandatory disclosure</a:t>
            </a:r>
          </a:p>
          <a:p>
            <a:pPr lvl="1"/>
            <a:r>
              <a:rPr lang="en-US" sz="1600" dirty="0"/>
              <a:t>Ball, R., Jayaraman, S., &amp; </a:t>
            </a:r>
            <a:r>
              <a:rPr lang="en-US" sz="1600" dirty="0" err="1"/>
              <a:t>Shivakumar</a:t>
            </a:r>
            <a:r>
              <a:rPr lang="en-US" sz="1600" dirty="0"/>
              <a:t>, L. (2012). Audited financial reporting and voluntary disclosure as complements: A test of the confirmation hypothesis. </a:t>
            </a:r>
            <a:r>
              <a:rPr lang="en-US" sz="1600" i="1" dirty="0"/>
              <a:t>Journal of accounting and economics</a:t>
            </a:r>
            <a:r>
              <a:rPr lang="en-US" sz="1600" dirty="0"/>
              <a:t>, </a:t>
            </a:r>
            <a:r>
              <a:rPr lang="en-US" sz="1600" i="1" dirty="0"/>
              <a:t>53</a:t>
            </a:r>
            <a:r>
              <a:rPr lang="en-US" sz="1600" dirty="0"/>
              <a:t>(1-2), 136-166.</a:t>
            </a:r>
          </a:p>
          <a:p>
            <a:r>
              <a:rPr lang="en-US" sz="1600" dirty="0"/>
              <a:t>Disaggregation of earnings forecasts;</a:t>
            </a:r>
          </a:p>
          <a:p>
            <a:pPr lvl="1"/>
            <a:r>
              <a:rPr lang="en-US" sz="1600" dirty="0"/>
              <a:t>Hirst, D. E., Koonce, L., &amp; Venkataraman, S. (2007). How disaggregation enhances the credibility of management earnings forecasts. </a:t>
            </a:r>
            <a:r>
              <a:rPr lang="en-US" sz="1600" i="1" dirty="0"/>
              <a:t>Journal of Accounting Research</a:t>
            </a:r>
            <a:r>
              <a:rPr lang="en-US" sz="1600" dirty="0"/>
              <a:t>, </a:t>
            </a:r>
            <a:r>
              <a:rPr lang="en-US" sz="1600" i="1" dirty="0"/>
              <a:t>45</a:t>
            </a:r>
            <a:r>
              <a:rPr lang="en-US" sz="1600" dirty="0"/>
              <a:t>(4), 811-837.</a:t>
            </a:r>
          </a:p>
          <a:p>
            <a:pPr lvl="1"/>
            <a:endParaRPr lang="en-US" dirty="0"/>
          </a:p>
          <a:p>
            <a:pPr lvl="1"/>
            <a:endParaRPr lang="en-US" dirty="0"/>
          </a:p>
        </p:txBody>
      </p:sp>
      <p:sp>
        <p:nvSpPr>
          <p:cNvPr id="4" name="Date Placeholder 3">
            <a:extLst>
              <a:ext uri="{FF2B5EF4-FFF2-40B4-BE49-F238E27FC236}">
                <a16:creationId xmlns:a16="http://schemas.microsoft.com/office/drawing/2014/main" id="{F8DC7FB0-56D3-4D63-A46E-407104365E21}"/>
              </a:ext>
            </a:extLst>
          </p:cNvPr>
          <p:cNvSpPr>
            <a:spLocks noGrp="1"/>
          </p:cNvSpPr>
          <p:nvPr>
            <p:ph type="dt" sz="half" idx="10"/>
          </p:nvPr>
        </p:nvSpPr>
        <p:spPr/>
        <p:txBody>
          <a:bodyPr/>
          <a:lstStyle/>
          <a:p>
            <a:fld id="{77A0453E-4283-474C-A2AF-CBEA26A1ECAC}"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643AA043-AE7F-497A-8DB7-5C3877AD5B2C}"/>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3</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1345349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549BD-3185-4836-9357-9A545B049A48}"/>
              </a:ext>
            </a:extLst>
          </p:cNvPr>
          <p:cNvSpPr>
            <a:spLocks noGrp="1"/>
          </p:cNvSpPr>
          <p:nvPr>
            <p:ph type="title"/>
          </p:nvPr>
        </p:nvSpPr>
        <p:spPr>
          <a:xfrm>
            <a:off x="984418" y="244899"/>
            <a:ext cx="8229600" cy="1636291"/>
          </a:xfrm>
        </p:spPr>
        <p:txBody>
          <a:bodyPr/>
          <a:lstStyle/>
          <a:p>
            <a:r>
              <a:rPr lang="en-US" sz="2600" dirty="0"/>
              <a:t>Hirst, D. E., Koonce, L., &amp; Venkataraman, S. (2007). How disaggregation enhances the credibility of management earnings forecasts (JAR)</a:t>
            </a:r>
            <a:br>
              <a:rPr lang="en-US" sz="2600" dirty="0"/>
            </a:br>
            <a:endParaRPr lang="en-US" sz="2600" dirty="0"/>
          </a:p>
        </p:txBody>
      </p:sp>
      <p:sp>
        <p:nvSpPr>
          <p:cNvPr id="3" name="Content Placeholder 2">
            <a:extLst>
              <a:ext uri="{FF2B5EF4-FFF2-40B4-BE49-F238E27FC236}">
                <a16:creationId xmlns:a16="http://schemas.microsoft.com/office/drawing/2014/main" id="{F4B2D845-B08B-48E5-8043-C6C4E795567A}"/>
              </a:ext>
            </a:extLst>
          </p:cNvPr>
          <p:cNvSpPr>
            <a:spLocks noGrp="1"/>
          </p:cNvSpPr>
          <p:nvPr>
            <p:ph idx="1"/>
          </p:nvPr>
        </p:nvSpPr>
        <p:spPr/>
        <p:txBody>
          <a:bodyPr>
            <a:normAutofit/>
          </a:bodyPr>
          <a:lstStyle/>
          <a:p>
            <a:r>
              <a:rPr lang="en-HK" sz="2000" dirty="0"/>
              <a:t>Disaggregated forecasts include an earnings forecast as well as forecasts of other key line items comprising that earnings forecast. </a:t>
            </a:r>
          </a:p>
          <a:p>
            <a:r>
              <a:rPr lang="en-HK" sz="2000" dirty="0"/>
              <a:t>We experimentally test whether a characteristic of a management earnings forecast—namely, whether it is disaggregated—can affect its credibility. </a:t>
            </a:r>
          </a:p>
          <a:p>
            <a:r>
              <a:rPr lang="en-HK" sz="2000" dirty="0"/>
              <a:t>We also test whether disaggregation moderates the relation between managerial incentives and forecast credibility. </a:t>
            </a:r>
          </a:p>
          <a:p>
            <a:r>
              <a:rPr lang="en-HK" sz="2000" dirty="0"/>
              <a:t>Our results indicate that disaggregated forecasts are judged to be more credible than aggregated ones and that disaggregation works to counteract the effect of high incentives</a:t>
            </a:r>
            <a:endParaRPr lang="en-US" sz="2000" dirty="0"/>
          </a:p>
        </p:txBody>
      </p:sp>
      <p:sp>
        <p:nvSpPr>
          <p:cNvPr id="4" name="Date Placeholder 3">
            <a:extLst>
              <a:ext uri="{FF2B5EF4-FFF2-40B4-BE49-F238E27FC236}">
                <a16:creationId xmlns:a16="http://schemas.microsoft.com/office/drawing/2014/main" id="{5F362ED7-97E3-41A0-972F-1DDDB9D335FA}"/>
              </a:ext>
            </a:extLst>
          </p:cNvPr>
          <p:cNvSpPr>
            <a:spLocks noGrp="1"/>
          </p:cNvSpPr>
          <p:nvPr>
            <p:ph type="dt" sz="half" idx="10"/>
          </p:nvPr>
        </p:nvSpPr>
        <p:spPr/>
        <p:txBody>
          <a:bodyPr/>
          <a:lstStyle/>
          <a:p>
            <a:fld id="{FA5FE0AC-DE90-484E-9D9B-B153D7B8C928}"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D8D07C28-1028-4CB6-B449-4752760021DF}"/>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4</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4093000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6EDC1E-56D7-4264-98DC-9AD259FC8C70}"/>
              </a:ext>
            </a:extLst>
          </p:cNvPr>
          <p:cNvSpPr>
            <a:spLocks noGrp="1"/>
          </p:cNvSpPr>
          <p:nvPr>
            <p:ph idx="1"/>
          </p:nvPr>
        </p:nvSpPr>
        <p:spPr>
          <a:xfrm>
            <a:off x="939800" y="1488729"/>
            <a:ext cx="9372600" cy="4525963"/>
          </a:xfrm>
        </p:spPr>
        <p:txBody>
          <a:bodyPr>
            <a:normAutofit/>
          </a:bodyPr>
          <a:lstStyle/>
          <a:p>
            <a:r>
              <a:rPr lang="en-HK" sz="2000" dirty="0"/>
              <a:t>First, we maintain that disaggregating the earnings forecast provides a positive signal of the precision (or certainty) of management’s beliefs about the forecast (Ajinkya and Gift [1984], King, </a:t>
            </a:r>
            <a:r>
              <a:rPr lang="en-HK" sz="2000" dirty="0" err="1"/>
              <a:t>Pownall</a:t>
            </a:r>
            <a:r>
              <a:rPr lang="en-HK" sz="2000" dirty="0"/>
              <a:t>, and </a:t>
            </a:r>
            <a:r>
              <a:rPr lang="en-HK" sz="2000" dirty="0" err="1"/>
              <a:t>Waymire</a:t>
            </a:r>
            <a:r>
              <a:rPr lang="en-HK" sz="2000" dirty="0"/>
              <a:t> [1990]), leading to enhanced forecast credibility. </a:t>
            </a:r>
          </a:p>
          <a:p>
            <a:r>
              <a:rPr lang="en-HK" sz="2000" dirty="0"/>
              <a:t>Second, we argue that disaggregating the earnings forecast provides additional clarity which, in turn, permits investors to more easily evaluate the quality of the forecast (Hutton, Miller, and Skinner [2003]). </a:t>
            </a:r>
          </a:p>
          <a:p>
            <a:r>
              <a:rPr lang="en-HK" sz="2000" dirty="0"/>
              <a:t>Third, a disaggregated forecast reduces managers’ opportunities to achieve the forecast through earnings management (</a:t>
            </a:r>
            <a:r>
              <a:rPr lang="en-HK" sz="2000" dirty="0" err="1"/>
              <a:t>Kasznik</a:t>
            </a:r>
            <a:r>
              <a:rPr lang="en-HK" sz="2000" dirty="0"/>
              <a:t> [1999]). </a:t>
            </a:r>
            <a:endParaRPr lang="en-US" sz="2000" dirty="0"/>
          </a:p>
        </p:txBody>
      </p:sp>
      <p:sp>
        <p:nvSpPr>
          <p:cNvPr id="4" name="Date Placeholder 3">
            <a:extLst>
              <a:ext uri="{FF2B5EF4-FFF2-40B4-BE49-F238E27FC236}">
                <a16:creationId xmlns:a16="http://schemas.microsoft.com/office/drawing/2014/main" id="{623E97BA-E881-40E5-9EB1-78933D4F9952}"/>
              </a:ext>
            </a:extLst>
          </p:cNvPr>
          <p:cNvSpPr>
            <a:spLocks noGrp="1"/>
          </p:cNvSpPr>
          <p:nvPr>
            <p:ph type="dt" sz="half" idx="10"/>
          </p:nvPr>
        </p:nvSpPr>
        <p:spPr/>
        <p:txBody>
          <a:bodyPr/>
          <a:lstStyle/>
          <a:p>
            <a:fld id="{6684ABB4-00E4-4A46-8BE9-13CBBFE1B162}"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4173D2A4-C611-4BD7-BD79-7BEAB3A29228}"/>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5</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4102730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6FE94-C1AD-4CBC-A56C-85882593D7A3}"/>
              </a:ext>
            </a:extLst>
          </p:cNvPr>
          <p:cNvSpPr>
            <a:spLocks noGrp="1"/>
          </p:cNvSpPr>
          <p:nvPr>
            <p:ph type="title"/>
          </p:nvPr>
        </p:nvSpPr>
        <p:spPr/>
        <p:txBody>
          <a:bodyPr/>
          <a:lstStyle/>
          <a:p>
            <a:r>
              <a:rPr lang="en-HK" sz="3000" dirty="0"/>
              <a:t>Lee, S., Matsunaga, S. R., &amp; Park, C. W. (2012). Management forecast accuracy and CEO turnover (TAR)</a:t>
            </a:r>
            <a:endParaRPr lang="en-US" sz="3000" dirty="0"/>
          </a:p>
        </p:txBody>
      </p:sp>
      <p:sp>
        <p:nvSpPr>
          <p:cNvPr id="3" name="Content Placeholder 2">
            <a:extLst>
              <a:ext uri="{FF2B5EF4-FFF2-40B4-BE49-F238E27FC236}">
                <a16:creationId xmlns:a16="http://schemas.microsoft.com/office/drawing/2014/main" id="{7705D3EE-EBFE-4987-B13B-233C88D4E1A0}"/>
              </a:ext>
            </a:extLst>
          </p:cNvPr>
          <p:cNvSpPr>
            <a:spLocks noGrp="1"/>
          </p:cNvSpPr>
          <p:nvPr>
            <p:ph idx="1"/>
          </p:nvPr>
        </p:nvSpPr>
        <p:spPr/>
        <p:txBody>
          <a:bodyPr/>
          <a:lstStyle/>
          <a:p>
            <a:r>
              <a:rPr lang="en-HK" sz="1800" dirty="0"/>
              <a:t>We investigate whether management forecast accuracy provides a signal regarding CEOs' ability to anticipate and respond to future events by examining the relation between management forecast errors and CEO turnover. </a:t>
            </a:r>
          </a:p>
          <a:p>
            <a:r>
              <a:rPr lang="en-HK" sz="1800" dirty="0"/>
              <a:t>We find that the probability of CEO turnover is positively related to the magnitude of absolute forecast errors when firm performance is poor and that this positive relation holds for both positive and negative forecast errors. </a:t>
            </a:r>
          </a:p>
          <a:p>
            <a:r>
              <a:rPr lang="en-HK" sz="1800" dirty="0"/>
              <a:t>We find that the positive relation between CEO turnover and the absolute forecast errors is concentrated in the sample of less entrenched CEOs. </a:t>
            </a:r>
          </a:p>
          <a:p>
            <a:r>
              <a:rPr lang="en-HK" sz="1800" dirty="0"/>
              <a:t>Our findings indicate that boards of directors use management forecast accuracy as a signal of CEOs' managerial ability and that managers bear a cost for issuing inaccurate forecasts.</a:t>
            </a:r>
            <a:endParaRPr lang="en-US" sz="1800" dirty="0"/>
          </a:p>
        </p:txBody>
      </p:sp>
      <p:sp>
        <p:nvSpPr>
          <p:cNvPr id="4" name="Date Placeholder 3">
            <a:extLst>
              <a:ext uri="{FF2B5EF4-FFF2-40B4-BE49-F238E27FC236}">
                <a16:creationId xmlns:a16="http://schemas.microsoft.com/office/drawing/2014/main" id="{1851AD3E-4219-4393-982B-782F9B4C45D7}"/>
              </a:ext>
            </a:extLst>
          </p:cNvPr>
          <p:cNvSpPr>
            <a:spLocks noGrp="1"/>
          </p:cNvSpPr>
          <p:nvPr>
            <p:ph type="dt" sz="half" idx="10"/>
          </p:nvPr>
        </p:nvSpPr>
        <p:spPr/>
        <p:txBody>
          <a:bodyPr/>
          <a:lstStyle/>
          <a:p>
            <a:fld id="{6289603F-34B8-E14E-9D69-99B2048FE784}"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4C27FCF7-D7A8-4D34-8F29-F4EE30F870C7}"/>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6</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65285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5112A-D091-4667-A7CB-439A6047276A}"/>
              </a:ext>
            </a:extLst>
          </p:cNvPr>
          <p:cNvSpPr>
            <a:spLocks noGrp="1"/>
          </p:cNvSpPr>
          <p:nvPr>
            <p:ph type="title"/>
          </p:nvPr>
        </p:nvSpPr>
        <p:spPr>
          <a:xfrm>
            <a:off x="2135560" y="2492896"/>
            <a:ext cx="8229600" cy="1143000"/>
          </a:xfrm>
        </p:spPr>
        <p:txBody>
          <a:bodyPr/>
          <a:lstStyle/>
          <a:p>
            <a:r>
              <a:rPr lang="en-US" altLang="en-US" sz="3000" b="1" dirty="0">
                <a:solidFill>
                  <a:schemeClr val="accent3">
                    <a:lumMod val="50000"/>
                  </a:schemeClr>
                </a:solidFill>
                <a:cs typeface="Times New Roman" panose="02020603050405020304" pitchFamily="18" charset="0"/>
              </a:rPr>
              <a:t>(Dis)incentives for Voluntary Disclosure</a:t>
            </a:r>
            <a:endParaRPr lang="en-US" b="1" dirty="0">
              <a:solidFill>
                <a:schemeClr val="accent3">
                  <a:lumMod val="50000"/>
                </a:schemeClr>
              </a:solidFill>
            </a:endParaRPr>
          </a:p>
        </p:txBody>
      </p:sp>
      <p:sp>
        <p:nvSpPr>
          <p:cNvPr id="4" name="Date Placeholder 3">
            <a:extLst>
              <a:ext uri="{FF2B5EF4-FFF2-40B4-BE49-F238E27FC236}">
                <a16:creationId xmlns:a16="http://schemas.microsoft.com/office/drawing/2014/main" id="{11F24CC4-0980-C56C-5076-002504DB008F}"/>
              </a:ext>
            </a:extLst>
          </p:cNvPr>
          <p:cNvSpPr>
            <a:spLocks noGrp="1"/>
          </p:cNvSpPr>
          <p:nvPr>
            <p:ph type="dt" sz="half" idx="10"/>
          </p:nvPr>
        </p:nvSpPr>
        <p:spPr/>
        <p:txBody>
          <a:bodyPr/>
          <a:lstStyle/>
          <a:p>
            <a:fld id="{54976B3E-4746-FE4D-8451-D3262CF3F97C}"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C29C457F-6145-EE80-77FD-A3BEE9CADADF}"/>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7</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806476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217712" y="119739"/>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(Dis)incentives for Voluntary Disclosure</a:t>
            </a:r>
            <a:endParaRPr lang="en-US" altLang="en-US" sz="3000" dirty="0">
              <a:solidFill>
                <a:srgbClr val="99235E"/>
              </a:solidFill>
              <a:latin typeface="+mj-lt"/>
              <a:cs typeface="Times New Roman" panose="02020603050405020304" pitchFamily="18" charset="0"/>
            </a:endParaRP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8</a:t>
            </a:fld>
            <a:endParaRPr lang="en-US"/>
          </a:p>
        </p:txBody>
      </p:sp>
      <p:sp>
        <p:nvSpPr>
          <p:cNvPr id="6" name="文本框 4">
            <a:extLst>
              <a:ext uri="{FF2B5EF4-FFF2-40B4-BE49-F238E27FC236}">
                <a16:creationId xmlns:a16="http://schemas.microsoft.com/office/drawing/2014/main" id="{9C876A3A-3BAF-46D2-AB7E-4F673DD7BB6A}"/>
              </a:ext>
            </a:extLst>
          </p:cNvPr>
          <p:cNvSpPr txBox="1"/>
          <p:nvPr/>
        </p:nvSpPr>
        <p:spPr>
          <a:xfrm>
            <a:off x="1847528" y="975602"/>
            <a:ext cx="7884368" cy="5570756"/>
          </a:xfrm>
          <a:prstGeom prst="rect">
            <a:avLst/>
          </a:prstGeom>
          <a:noFill/>
        </p:spPr>
        <p:txBody>
          <a:bodyPr wrap="square">
            <a:spAutoFit/>
          </a:bodyPr>
          <a:lstStyle/>
          <a:p>
            <a:r>
              <a:rPr lang="en-US" altLang="zh-CN" sz="2000" dirty="0">
                <a:latin typeface="Century" panose="02040604050505020304" pitchFamily="18" charset="0"/>
              </a:rPr>
              <a:t>Capital Providers’ information demand: Managers carter to such demand for capital market benefits (</a:t>
            </a:r>
            <a:r>
              <a:rPr lang="en-HK" sz="2000" dirty="0">
                <a:latin typeface="Century" panose="02040604050505020304" pitchFamily="18" charset="0"/>
              </a:rPr>
              <a:t>see Healy and Palepu [2001], Core [2001], Hirst, Koonce, and Venkataraman [2008], and </a:t>
            </a:r>
            <a:r>
              <a:rPr lang="en-HK" sz="2000" dirty="0" err="1">
                <a:latin typeface="Century" panose="02040604050505020304" pitchFamily="18" charset="0"/>
              </a:rPr>
              <a:t>Leuz</a:t>
            </a:r>
            <a:r>
              <a:rPr lang="en-HK" sz="2000" dirty="0">
                <a:latin typeface="Century" panose="02040604050505020304" pitchFamily="18" charset="0"/>
              </a:rPr>
              <a:t> and Wysocki [2008] for reviews)</a:t>
            </a:r>
            <a:r>
              <a:rPr lang="en-US" altLang="zh-CN" sz="2000" dirty="0">
                <a:latin typeface="Century" panose="02040604050505020304" pitchFamily="18" charset="0"/>
              </a:rPr>
              <a:t>: </a:t>
            </a:r>
          </a:p>
          <a:p>
            <a:pPr marL="285750" indent="-285750">
              <a:buFont typeface="Arial" panose="020B0604020202020204" pitchFamily="34" charset="0"/>
              <a:buChar char="•"/>
            </a:pPr>
            <a:r>
              <a:rPr lang="en-US" altLang="zh-CN" sz="2000" dirty="0">
                <a:latin typeface="Century" panose="02040604050505020304" pitchFamily="18" charset="0"/>
              </a:rPr>
              <a:t>Better liquidity, lower cost of capital, and improved firm value</a:t>
            </a:r>
          </a:p>
          <a:p>
            <a:pPr marL="800100" lvl="1" indent="-342900">
              <a:buFont typeface="Wingdings" pitchFamily="2" charset="2"/>
              <a:buChar char="Ø"/>
            </a:pPr>
            <a:r>
              <a:rPr lang="en-US" altLang="zh-CN" sz="2000" dirty="0">
                <a:latin typeface="Century" panose="02040604050505020304" pitchFamily="18" charset="0"/>
              </a:rPr>
              <a:t>IPO, SEOs, debt issuance</a:t>
            </a:r>
          </a:p>
          <a:p>
            <a:pPr marL="285750" indent="-285750">
              <a:buFont typeface="Arial" panose="020B0604020202020204" pitchFamily="34" charset="0"/>
              <a:buChar char="•"/>
            </a:pPr>
            <a:endParaRPr lang="en-US" altLang="zh-CN" sz="2000" dirty="0">
              <a:latin typeface="Century" panose="02040604050505020304" pitchFamily="18" charset="0"/>
            </a:endParaRPr>
          </a:p>
          <a:p>
            <a:pPr marL="285750" indent="-285750">
              <a:buFont typeface="Arial" panose="020B0604020202020204" pitchFamily="34" charset="0"/>
              <a:buChar char="•"/>
            </a:pPr>
            <a:r>
              <a:rPr lang="en-US" altLang="zh-CN" sz="2000" dirty="0">
                <a:latin typeface="Century" panose="02040604050505020304" pitchFamily="18" charset="0"/>
              </a:rPr>
              <a:t>Stock-based compensation and corporate control contest</a:t>
            </a:r>
          </a:p>
          <a:p>
            <a:pPr marL="285750" indent="-285750">
              <a:buFont typeface="Arial" panose="020B0604020202020204" pitchFamily="34" charset="0"/>
              <a:buChar char="•"/>
            </a:pPr>
            <a:endParaRPr lang="en-US" altLang="zh-CN" sz="2000" dirty="0">
              <a:latin typeface="Century" panose="02040604050505020304" pitchFamily="18" charset="0"/>
            </a:endParaRPr>
          </a:p>
          <a:p>
            <a:pPr marL="285750" indent="-285750">
              <a:buFont typeface="Arial" panose="020B0604020202020204" pitchFamily="34" charset="0"/>
              <a:buChar char="•"/>
            </a:pPr>
            <a:r>
              <a:rPr lang="en-US" altLang="zh-CN" sz="2000" dirty="0">
                <a:latin typeface="Century" panose="02040604050505020304" pitchFamily="18" charset="0"/>
              </a:rPr>
              <a:t>Career concern</a:t>
            </a:r>
          </a:p>
          <a:p>
            <a:pPr marL="285750" indent="-285750">
              <a:buFont typeface="Arial" panose="020B0604020202020204" pitchFamily="34" charset="0"/>
              <a:buChar char="•"/>
            </a:pPr>
            <a:endParaRPr lang="en-US" altLang="zh-CN" sz="2000" dirty="0">
              <a:latin typeface="Century" panose="02040604050505020304" pitchFamily="18" charset="0"/>
            </a:endParaRPr>
          </a:p>
          <a:p>
            <a:pPr marL="285750" indent="-285750">
              <a:buFont typeface="Arial" panose="020B0604020202020204" pitchFamily="34" charset="0"/>
              <a:buChar char="•"/>
            </a:pPr>
            <a:r>
              <a:rPr lang="en-US" altLang="zh-CN" sz="2000" dirty="0">
                <a:latin typeface="Century" panose="02040604050505020304" pitchFamily="18" charset="0"/>
              </a:rPr>
              <a:t>Litigation</a:t>
            </a:r>
          </a:p>
          <a:p>
            <a:pPr marL="285750" indent="-285750">
              <a:buFont typeface="Arial" panose="020B0604020202020204" pitchFamily="34" charset="0"/>
              <a:buChar char="•"/>
            </a:pPr>
            <a:endParaRPr lang="en-US" altLang="zh-CN" sz="2000" dirty="0">
              <a:latin typeface="Century" panose="02040604050505020304" pitchFamily="18" charset="0"/>
            </a:endParaRPr>
          </a:p>
          <a:p>
            <a:pPr marL="285750" indent="-285750">
              <a:buFont typeface="Arial" panose="020B0604020202020204" pitchFamily="34" charset="0"/>
              <a:buChar char="•"/>
            </a:pPr>
            <a:r>
              <a:rPr lang="en-US" altLang="zh-CN" sz="2000" dirty="0">
                <a:latin typeface="Century" panose="02040604050505020304" pitchFamily="18" charset="0"/>
              </a:rPr>
              <a:t>Proprietary cost</a:t>
            </a:r>
          </a:p>
          <a:p>
            <a:pPr marL="285750" indent="-285750">
              <a:buFont typeface="Arial" panose="020B0604020202020204" pitchFamily="34" charset="0"/>
              <a:buChar char="•"/>
            </a:pPr>
            <a:endParaRPr lang="en-US" altLang="zh-CN" sz="2000" dirty="0">
              <a:latin typeface="Century" panose="02040604050505020304" pitchFamily="18" charset="0"/>
            </a:endParaRPr>
          </a:p>
          <a:p>
            <a:pPr marL="342900" indent="-342900">
              <a:buFont typeface="Arial" panose="020B0604020202020204" pitchFamily="34" charset="0"/>
              <a:buChar char="•"/>
            </a:pPr>
            <a:r>
              <a:rPr lang="en-US" altLang="zh-CN" sz="2000" dirty="0">
                <a:latin typeface="Century" panose="02040604050505020304" pitchFamily="18" charset="0"/>
              </a:rPr>
              <a:t>Other determinants: managerial style, managerial ability, peer effect</a:t>
            </a:r>
          </a:p>
          <a:p>
            <a:endParaRPr lang="en-US" altLang="zh-CN" sz="1600" dirty="0">
              <a:latin typeface="Century Schoolbook" panose="02040604050505020304" pitchFamily="18" charset="0"/>
            </a:endParaRPr>
          </a:p>
        </p:txBody>
      </p:sp>
      <p:sp>
        <p:nvSpPr>
          <p:cNvPr id="5" name="Right Brace 4">
            <a:extLst>
              <a:ext uri="{FF2B5EF4-FFF2-40B4-BE49-F238E27FC236}">
                <a16:creationId xmlns:a16="http://schemas.microsoft.com/office/drawing/2014/main" id="{8ED95DBD-3DCA-787D-2463-E6F725A49B80}"/>
              </a:ext>
            </a:extLst>
          </p:cNvPr>
          <p:cNvSpPr/>
          <p:nvPr/>
        </p:nvSpPr>
        <p:spPr>
          <a:xfrm>
            <a:off x="9342402" y="2073601"/>
            <a:ext cx="405759" cy="4104456"/>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C39F1F2C-BE56-087F-B8C3-18E2B78F9E2A}"/>
              </a:ext>
            </a:extLst>
          </p:cNvPr>
          <p:cNvSpPr txBox="1"/>
          <p:nvPr/>
        </p:nvSpPr>
        <p:spPr>
          <a:xfrm>
            <a:off x="9768261" y="3525665"/>
            <a:ext cx="985805" cy="1200329"/>
          </a:xfrm>
          <a:prstGeom prst="rect">
            <a:avLst/>
          </a:prstGeom>
          <a:noFill/>
        </p:spPr>
        <p:txBody>
          <a:bodyPr wrap="square" rtlCol="0">
            <a:spAutoFit/>
          </a:bodyPr>
          <a:lstStyle/>
          <a:p>
            <a:r>
              <a:rPr lang="en-US" dirty="0">
                <a:solidFill>
                  <a:schemeClr val="accent2"/>
                </a:solidFill>
              </a:rPr>
              <a:t>Cost benefit trade off</a:t>
            </a:r>
          </a:p>
        </p:txBody>
      </p:sp>
    </p:spTree>
    <p:extLst>
      <p:ext uri="{BB962C8B-B14F-4D97-AF65-F5344CB8AC3E}">
        <p14:creationId xmlns:p14="http://schemas.microsoft.com/office/powerpoint/2010/main" val="96054223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C1DB-C645-4265-B32A-1ECFCB03264B}"/>
              </a:ext>
            </a:extLst>
          </p:cNvPr>
          <p:cNvSpPr>
            <a:spLocks noGrp="1"/>
          </p:cNvSpPr>
          <p:nvPr>
            <p:ph type="title"/>
          </p:nvPr>
        </p:nvSpPr>
        <p:spPr/>
        <p:txBody>
          <a:bodyPr/>
          <a:lstStyle/>
          <a:p>
            <a:r>
              <a:rPr lang="en-US" dirty="0"/>
              <a:t>(Dis)incentives: Information Demand</a:t>
            </a:r>
          </a:p>
        </p:txBody>
      </p:sp>
      <p:sp>
        <p:nvSpPr>
          <p:cNvPr id="3" name="Slide Number Placeholder 2">
            <a:extLst>
              <a:ext uri="{FF2B5EF4-FFF2-40B4-BE49-F238E27FC236}">
                <a16:creationId xmlns:a16="http://schemas.microsoft.com/office/drawing/2014/main" id="{37153B26-EBF7-4031-A5A5-B61A1B545B60}"/>
              </a:ext>
            </a:extLst>
          </p:cNvPr>
          <p:cNvSpPr>
            <a:spLocks noGrp="1"/>
          </p:cNvSpPr>
          <p:nvPr>
            <p:ph type="sldNum" sz="quarter" idx="2"/>
          </p:nvPr>
        </p:nvSpPr>
        <p:spPr/>
        <p:txBody>
          <a:bodyPr/>
          <a:lstStyle/>
          <a:p>
            <a:fld id="{86CB4B4D-7CA3-9044-876B-883B54F8677D}" type="slidenum">
              <a:rPr lang="en-US" smtClean="0"/>
              <a:pPr/>
              <a:t>9</a:t>
            </a:fld>
            <a:endParaRPr lang="en-US" dirty="0"/>
          </a:p>
        </p:txBody>
      </p:sp>
    </p:spTree>
    <p:extLst>
      <p:ext uri="{BB962C8B-B14F-4D97-AF65-F5344CB8AC3E}">
        <p14:creationId xmlns:p14="http://schemas.microsoft.com/office/powerpoint/2010/main" val="126136112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EB1B-679B-4A44-A033-2042D93B2979}"/>
              </a:ext>
            </a:extLst>
          </p:cNvPr>
          <p:cNvSpPr>
            <a:spLocks noGrp="1"/>
          </p:cNvSpPr>
          <p:nvPr>
            <p:ph type="title"/>
          </p:nvPr>
        </p:nvSpPr>
        <p:spPr>
          <a:xfrm>
            <a:off x="973015" y="520633"/>
            <a:ext cx="8229600" cy="1143000"/>
          </a:xfrm>
        </p:spPr>
        <p:txBody>
          <a:bodyPr>
            <a:noAutofit/>
          </a:bodyPr>
          <a:lstStyle/>
          <a:p>
            <a:pPr algn="just">
              <a:spcAft>
                <a:spcPts val="800"/>
              </a:spcAft>
            </a:pPr>
            <a:r>
              <a:rPr lang="en-HK" sz="2800" dirty="0"/>
              <a:t>Boone, A. L., &amp; White, J. T. (2015). The effect of institutional ownership on firm transparency and information production. </a:t>
            </a:r>
            <a:r>
              <a:rPr lang="en-HK" sz="2800" i="1" dirty="0"/>
              <a:t>Journal of financial economics</a:t>
            </a:r>
            <a:r>
              <a:rPr lang="en-HK" sz="2800" dirty="0"/>
              <a:t>, </a:t>
            </a:r>
            <a:r>
              <a:rPr lang="en-HK" sz="2800" i="1" dirty="0"/>
              <a:t>117</a:t>
            </a:r>
            <a:r>
              <a:rPr lang="en-HK" sz="2800" dirty="0"/>
              <a:t>(3), 508-533.</a:t>
            </a:r>
            <a:endParaRPr lang="en-HK" sz="2800" dirty="0">
              <a:latin typeface="Calibri" panose="020F0502020204030204" pitchFamily="34" charset="0"/>
              <a:ea typeface="SimSun" panose="02010600030101010101" pitchFamily="2" charset="-122"/>
              <a:cs typeface="Times New Roman" panose="02020603050405020304" pitchFamily="18" charset="0"/>
            </a:endParaRPr>
          </a:p>
        </p:txBody>
      </p:sp>
      <p:sp>
        <p:nvSpPr>
          <p:cNvPr id="4" name="Date Placeholder 3">
            <a:extLst>
              <a:ext uri="{FF2B5EF4-FFF2-40B4-BE49-F238E27FC236}">
                <a16:creationId xmlns:a16="http://schemas.microsoft.com/office/drawing/2014/main" id="{E12FAB64-FFC9-462D-A42F-8752738DB5A1}"/>
              </a:ext>
            </a:extLst>
          </p:cNvPr>
          <p:cNvSpPr>
            <a:spLocks noGrp="1"/>
          </p:cNvSpPr>
          <p:nvPr>
            <p:ph type="dt" sz="half" idx="10"/>
          </p:nvPr>
        </p:nvSpPr>
        <p:spPr/>
        <p:txBody>
          <a:bodyPr/>
          <a:lstStyle/>
          <a:p>
            <a:fld id="{684678B2-0461-D648-BCC1-D016C6387C2F}"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3F024675-DAB5-4531-81F0-E5007FDEEF60}"/>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10</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
        <p:nvSpPr>
          <p:cNvPr id="6" name="Content Placeholder 5">
            <a:extLst>
              <a:ext uri="{FF2B5EF4-FFF2-40B4-BE49-F238E27FC236}">
                <a16:creationId xmlns:a16="http://schemas.microsoft.com/office/drawing/2014/main" id="{6D4D7626-974E-10B6-546B-39EC852B8A05}"/>
              </a:ext>
            </a:extLst>
          </p:cNvPr>
          <p:cNvSpPr>
            <a:spLocks noGrp="1"/>
          </p:cNvSpPr>
          <p:nvPr>
            <p:ph idx="1"/>
          </p:nvPr>
        </p:nvSpPr>
        <p:spPr>
          <a:xfrm>
            <a:off x="987669" y="2187574"/>
            <a:ext cx="10515600" cy="4351338"/>
          </a:xfrm>
        </p:spPr>
        <p:txBody>
          <a:bodyPr>
            <a:normAutofit fontScale="92500"/>
          </a:bodyPr>
          <a:lstStyle/>
          <a:p>
            <a:pPr marL="0" indent="0">
              <a:buNone/>
            </a:pPr>
            <a:r>
              <a:rPr lang="en-HK" sz="2600" dirty="0"/>
              <a:t>Abstract</a:t>
            </a:r>
          </a:p>
          <a:p>
            <a:pPr marL="0" indent="0">
              <a:buNone/>
            </a:pPr>
            <a:r>
              <a:rPr lang="en-HK" sz="2600" dirty="0"/>
              <a:t>We examine the effects of institutional ownership on firms׳ information and trading environments using the annual Russell 1000/2000 index reconstitution. Characteristics of firms near the index cutoffs are similar, except that firms in the top of the Russell 2000 have discontinuously higher proportional institutional ownership than firms in the bottom of the Russell 1000 primarily due to indexing and benchmarking strategies. We find that higher institutional ownership is associated with greater management disclosure, analyst following, and liquidity, resulting in lower information asymmetry. Overall, indexing institutions׳ predilection for lower information asymmetries facilitates information production, which enhances monitoring and decreases trading costs.</a:t>
            </a:r>
          </a:p>
          <a:p>
            <a:endParaRPr lang="en-HK" dirty="0"/>
          </a:p>
        </p:txBody>
      </p:sp>
    </p:spTree>
    <p:extLst>
      <p:ext uri="{BB962C8B-B14F-4D97-AF65-F5344CB8AC3E}">
        <p14:creationId xmlns:p14="http://schemas.microsoft.com/office/powerpoint/2010/main" val="1883233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7E40706-F1D5-89A8-15ED-7CDD4C203753}"/>
              </a:ext>
            </a:extLst>
          </p:cNvPr>
          <p:cNvSpPr>
            <a:spLocks noGrp="1"/>
          </p:cNvSpPr>
          <p:nvPr>
            <p:ph type="dt" sz="half" idx="10"/>
          </p:nvPr>
        </p:nvSpPr>
        <p:spPr/>
        <p:txBody>
          <a:bodyPr/>
          <a:lstStyle/>
          <a:p>
            <a:fld id="{5F095013-FAFA-4996-A6F8-1F75D307863F}" type="datetime1">
              <a:rPr lang="zh-CN" altLang="en-US" smtClean="0"/>
              <a:t>2026/9/16</a:t>
            </a:fld>
            <a:endParaRPr lang="zh-CN" altLang="en-US"/>
          </a:p>
        </p:txBody>
      </p:sp>
      <p:sp>
        <p:nvSpPr>
          <p:cNvPr id="5" name="Slide Number Placeholder 4">
            <a:extLst>
              <a:ext uri="{FF2B5EF4-FFF2-40B4-BE49-F238E27FC236}">
                <a16:creationId xmlns:a16="http://schemas.microsoft.com/office/drawing/2014/main" id="{598DB8E8-538E-ECF7-94FE-8E7C4F5ECC0E}"/>
              </a:ext>
            </a:extLst>
          </p:cNvPr>
          <p:cNvSpPr>
            <a:spLocks noGrp="1"/>
          </p:cNvSpPr>
          <p:nvPr>
            <p:ph type="sldNum" sz="quarter" idx="12"/>
          </p:nvPr>
        </p:nvSpPr>
        <p:spPr/>
        <p:txBody>
          <a:bodyPr/>
          <a:lstStyle/>
          <a:p>
            <a:fld id="{1778BC13-B753-4634-A5F7-9F4F7C9ECC5F}" type="slidenum">
              <a:rPr lang="zh-CN" altLang="en-US" smtClean="0"/>
              <a:t>11</a:t>
            </a:fld>
            <a:endParaRPr lang="zh-CN" altLang="en-US"/>
          </a:p>
        </p:txBody>
      </p:sp>
      <p:pic>
        <p:nvPicPr>
          <p:cNvPr id="7" name="Picture 6">
            <a:extLst>
              <a:ext uri="{FF2B5EF4-FFF2-40B4-BE49-F238E27FC236}">
                <a16:creationId xmlns:a16="http://schemas.microsoft.com/office/drawing/2014/main" id="{6566BDF0-79B9-93E9-E357-C0106AD84AA7}"/>
              </a:ext>
            </a:extLst>
          </p:cNvPr>
          <p:cNvPicPr>
            <a:picLocks noChangeAspect="1"/>
          </p:cNvPicPr>
          <p:nvPr/>
        </p:nvPicPr>
        <p:blipFill>
          <a:blip r:embed="rId2"/>
          <a:stretch>
            <a:fillRect/>
          </a:stretch>
        </p:blipFill>
        <p:spPr>
          <a:xfrm>
            <a:off x="2977178" y="0"/>
            <a:ext cx="6237644" cy="6858000"/>
          </a:xfrm>
          <a:prstGeom prst="rect">
            <a:avLst/>
          </a:prstGeom>
        </p:spPr>
      </p:pic>
    </p:spTree>
    <p:extLst>
      <p:ext uri="{BB962C8B-B14F-4D97-AF65-F5344CB8AC3E}">
        <p14:creationId xmlns:p14="http://schemas.microsoft.com/office/powerpoint/2010/main" val="3900084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C1DB-C645-4265-B32A-1ECFCB03264B}"/>
              </a:ext>
            </a:extLst>
          </p:cNvPr>
          <p:cNvSpPr>
            <a:spLocks noGrp="1"/>
          </p:cNvSpPr>
          <p:nvPr>
            <p:ph type="title"/>
          </p:nvPr>
        </p:nvSpPr>
        <p:spPr>
          <a:xfrm>
            <a:off x="1919537" y="2420470"/>
            <a:ext cx="8035637" cy="2017060"/>
          </a:xfrm>
        </p:spPr>
        <p:txBody>
          <a:bodyPr/>
          <a:lstStyle/>
          <a:p>
            <a:r>
              <a:rPr lang="en-US" dirty="0"/>
              <a:t>(Dis)incentives: Career Concern</a:t>
            </a:r>
          </a:p>
        </p:txBody>
      </p:sp>
      <p:sp>
        <p:nvSpPr>
          <p:cNvPr id="3" name="Slide Number Placeholder 2">
            <a:extLst>
              <a:ext uri="{FF2B5EF4-FFF2-40B4-BE49-F238E27FC236}">
                <a16:creationId xmlns:a16="http://schemas.microsoft.com/office/drawing/2014/main" id="{37153B26-EBF7-4031-A5A5-B61A1B545B60}"/>
              </a:ext>
            </a:extLst>
          </p:cNvPr>
          <p:cNvSpPr>
            <a:spLocks noGrp="1"/>
          </p:cNvSpPr>
          <p:nvPr>
            <p:ph type="sldNum" sz="quarter" idx="2"/>
          </p:nvPr>
        </p:nvSpPr>
        <p:spPr/>
        <p:txBody>
          <a:bodyPr/>
          <a:lstStyle/>
          <a:p>
            <a:fld id="{86CB4B4D-7CA3-9044-876B-883B54F8677D}" type="slidenum">
              <a:rPr lang="en-US" smtClean="0"/>
              <a:pPr/>
              <a:t>12</a:t>
            </a:fld>
            <a:endParaRPr lang="en-US" dirty="0"/>
          </a:p>
        </p:txBody>
      </p:sp>
    </p:spTree>
    <p:extLst>
      <p:ext uri="{BB962C8B-B14F-4D97-AF65-F5344CB8AC3E}">
        <p14:creationId xmlns:p14="http://schemas.microsoft.com/office/powerpoint/2010/main" val="115482682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C5186-F45F-4288-B3BF-349A2BEEAF63}"/>
              </a:ext>
            </a:extLst>
          </p:cNvPr>
          <p:cNvSpPr>
            <a:spLocks noGrp="1"/>
          </p:cNvSpPr>
          <p:nvPr>
            <p:ph type="title"/>
          </p:nvPr>
        </p:nvSpPr>
        <p:spPr>
          <a:xfrm>
            <a:off x="1981200" y="548680"/>
            <a:ext cx="8229600" cy="1143000"/>
          </a:xfrm>
        </p:spPr>
        <p:txBody>
          <a:bodyPr/>
          <a:lstStyle/>
          <a:p>
            <a:pPr algn="just">
              <a:lnSpc>
                <a:spcPct val="107000"/>
              </a:lnSpc>
              <a:spcAft>
                <a:spcPts val="800"/>
              </a:spcAft>
            </a:pPr>
            <a:r>
              <a:rPr lang="en-US" sz="2400" dirty="0">
                <a:latin typeface="Times New Roman" panose="02020603050405020304" pitchFamily="18" charset="0"/>
                <a:ea typeface="SimSun" panose="02010600030101010101" pitchFamily="2" charset="-122"/>
                <a:cs typeface="Times New Roman" panose="02020603050405020304" pitchFamily="18" charset="0"/>
              </a:rPr>
              <a:t>Kothari, S.P., Shu, S., Wysocki, P.D., 2009. Do managers with hold bad news? </a:t>
            </a:r>
            <a:r>
              <a:rPr lang="en-US" sz="2400" i="1" dirty="0">
                <a:latin typeface="Times New Roman" panose="02020603050405020304" pitchFamily="18" charset="0"/>
                <a:ea typeface="SimSun" panose="02010600030101010101" pitchFamily="2" charset="-122"/>
                <a:cs typeface="Times New Roman" panose="02020603050405020304" pitchFamily="18" charset="0"/>
              </a:rPr>
              <a:t>Journal of Accounting Research</a:t>
            </a:r>
            <a:r>
              <a:rPr lang="en-US" sz="2400" dirty="0">
                <a:latin typeface="Times New Roman" panose="02020603050405020304" pitchFamily="18" charset="0"/>
                <a:ea typeface="SimSun" panose="02010600030101010101" pitchFamily="2" charset="-122"/>
                <a:cs typeface="Times New Roman" panose="02020603050405020304" pitchFamily="18" charset="0"/>
              </a:rPr>
              <a:t> 47(1): 241–276.</a:t>
            </a:r>
            <a:endParaRPr lang="en-HK" sz="2400" dirty="0">
              <a:latin typeface="Calibri" panose="020F0502020204030204" pitchFamily="34" charset="0"/>
              <a:ea typeface="SimSun" panose="02010600030101010101" pitchFamily="2" charset="-122"/>
              <a:cs typeface="Times New Roman" panose="02020603050405020304" pitchFamily="18" charset="0"/>
            </a:endParaRPr>
          </a:p>
        </p:txBody>
      </p:sp>
      <p:pic>
        <p:nvPicPr>
          <p:cNvPr id="7" name="Content Placeholder 6" descr="A close-up of a text&#10;&#10;Description automatically generated">
            <a:extLst>
              <a:ext uri="{FF2B5EF4-FFF2-40B4-BE49-F238E27FC236}">
                <a16:creationId xmlns:a16="http://schemas.microsoft.com/office/drawing/2014/main" id="{D5321B20-4962-D72D-8D17-D6D5E0FC69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1200" y="2355244"/>
            <a:ext cx="8229600" cy="3015877"/>
          </a:xfrm>
        </p:spPr>
      </p:pic>
      <p:sp>
        <p:nvSpPr>
          <p:cNvPr id="4" name="Date Placeholder 3">
            <a:extLst>
              <a:ext uri="{FF2B5EF4-FFF2-40B4-BE49-F238E27FC236}">
                <a16:creationId xmlns:a16="http://schemas.microsoft.com/office/drawing/2014/main" id="{A7D2E2D0-8710-49A9-BD36-4E47EA0C765A}"/>
              </a:ext>
            </a:extLst>
          </p:cNvPr>
          <p:cNvSpPr>
            <a:spLocks noGrp="1"/>
          </p:cNvSpPr>
          <p:nvPr>
            <p:ph type="dt" sz="half" idx="10"/>
          </p:nvPr>
        </p:nvSpPr>
        <p:spPr/>
        <p:txBody>
          <a:bodyPr/>
          <a:lstStyle/>
          <a:p>
            <a:fld id="{D9436733-60B8-5247-992C-EE2EEE2D977A}"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85AB5793-0ED0-42EA-89A8-347E41DC523E}"/>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13</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4102516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showing the average rate of the stock market&#10;&#10;Description automatically generated with medium confidence">
            <a:extLst>
              <a:ext uri="{FF2B5EF4-FFF2-40B4-BE49-F238E27FC236}">
                <a16:creationId xmlns:a16="http://schemas.microsoft.com/office/drawing/2014/main" id="{D981D52C-49CC-21CB-41D4-6260126425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3584" y="1600201"/>
            <a:ext cx="6884833" cy="4525963"/>
          </a:xfrm>
        </p:spPr>
      </p:pic>
      <p:sp>
        <p:nvSpPr>
          <p:cNvPr id="5" name="Slide Number Placeholder 4">
            <a:extLst>
              <a:ext uri="{FF2B5EF4-FFF2-40B4-BE49-F238E27FC236}">
                <a16:creationId xmlns:a16="http://schemas.microsoft.com/office/drawing/2014/main" id="{C97844B4-4F20-DB54-F29D-6E2F2A4BC22E}"/>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14</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
        <p:nvSpPr>
          <p:cNvPr id="3" name="Date Placeholder 2">
            <a:extLst>
              <a:ext uri="{FF2B5EF4-FFF2-40B4-BE49-F238E27FC236}">
                <a16:creationId xmlns:a16="http://schemas.microsoft.com/office/drawing/2014/main" id="{2BFA0E28-8016-FC7A-1C66-D6D60E7B413F}"/>
              </a:ext>
            </a:extLst>
          </p:cNvPr>
          <p:cNvSpPr>
            <a:spLocks noGrp="1"/>
          </p:cNvSpPr>
          <p:nvPr>
            <p:ph type="dt" sz="half" idx="10"/>
          </p:nvPr>
        </p:nvSpPr>
        <p:spPr/>
        <p:txBody>
          <a:bodyPr/>
          <a:lstStyle/>
          <a:p>
            <a:fld id="{C348ECAA-457C-8842-8CEA-F7DBB466D328}"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4219621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showing the average news&#10;&#10;Description automatically generated">
            <a:extLst>
              <a:ext uri="{FF2B5EF4-FFF2-40B4-BE49-F238E27FC236}">
                <a16:creationId xmlns:a16="http://schemas.microsoft.com/office/drawing/2014/main" id="{9EC2BD83-22DD-DE9B-1556-7AF0F1E341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5780" y="1600201"/>
            <a:ext cx="6940441" cy="4525963"/>
          </a:xfrm>
        </p:spPr>
      </p:pic>
      <p:sp>
        <p:nvSpPr>
          <p:cNvPr id="4" name="Date Placeholder 3">
            <a:extLst>
              <a:ext uri="{FF2B5EF4-FFF2-40B4-BE49-F238E27FC236}">
                <a16:creationId xmlns:a16="http://schemas.microsoft.com/office/drawing/2014/main" id="{849CC136-C55D-4C16-AFD3-207146D77E87}"/>
              </a:ext>
            </a:extLst>
          </p:cNvPr>
          <p:cNvSpPr>
            <a:spLocks noGrp="1"/>
          </p:cNvSpPr>
          <p:nvPr>
            <p:ph type="dt" sz="half" idx="10"/>
          </p:nvPr>
        </p:nvSpPr>
        <p:spPr/>
        <p:txBody>
          <a:bodyPr/>
          <a:lstStyle/>
          <a:p>
            <a:fld id="{A93AC779-4A69-D844-A1CC-6C985E56FC70}"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5C9F0018-74B6-F2D1-5E5C-0DBC3EC1E7C3}"/>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15</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502184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C1DB-C645-4265-B32A-1ECFCB03264B}"/>
              </a:ext>
            </a:extLst>
          </p:cNvPr>
          <p:cNvSpPr>
            <a:spLocks noGrp="1"/>
          </p:cNvSpPr>
          <p:nvPr>
            <p:ph type="title"/>
          </p:nvPr>
        </p:nvSpPr>
        <p:spPr>
          <a:xfrm>
            <a:off x="1919537" y="2348880"/>
            <a:ext cx="8035637" cy="2017060"/>
          </a:xfrm>
        </p:spPr>
        <p:txBody>
          <a:bodyPr/>
          <a:lstStyle/>
          <a:p>
            <a:r>
              <a:rPr lang="en-US" dirty="0"/>
              <a:t>Dis(incentives): Litigation Risk</a:t>
            </a:r>
          </a:p>
        </p:txBody>
      </p:sp>
      <p:sp>
        <p:nvSpPr>
          <p:cNvPr id="3" name="Slide Number Placeholder 2">
            <a:extLst>
              <a:ext uri="{FF2B5EF4-FFF2-40B4-BE49-F238E27FC236}">
                <a16:creationId xmlns:a16="http://schemas.microsoft.com/office/drawing/2014/main" id="{37153B26-EBF7-4031-A5A5-B61A1B545B60}"/>
              </a:ext>
            </a:extLst>
          </p:cNvPr>
          <p:cNvSpPr>
            <a:spLocks noGrp="1"/>
          </p:cNvSpPr>
          <p:nvPr>
            <p:ph type="sldNum" sz="quarter" idx="2"/>
          </p:nvPr>
        </p:nvSpPr>
        <p:spPr/>
        <p:txBody>
          <a:bodyPr/>
          <a:lstStyle/>
          <a:p>
            <a:fld id="{86CB4B4D-7CA3-9044-876B-883B54F8677D}" type="slidenum">
              <a:rPr lang="en-US" smtClean="0"/>
              <a:pPr/>
              <a:t>16</a:t>
            </a:fld>
            <a:endParaRPr lang="en-US" dirty="0"/>
          </a:p>
        </p:txBody>
      </p:sp>
    </p:spTree>
    <p:extLst>
      <p:ext uri="{BB962C8B-B14F-4D97-AF65-F5344CB8AC3E}">
        <p14:creationId xmlns:p14="http://schemas.microsoft.com/office/powerpoint/2010/main" val="421940303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C5186-F45F-4288-B3BF-349A2BEEAF63}"/>
              </a:ext>
            </a:extLst>
          </p:cNvPr>
          <p:cNvSpPr>
            <a:spLocks noGrp="1"/>
          </p:cNvSpPr>
          <p:nvPr>
            <p:ph type="title"/>
          </p:nvPr>
        </p:nvSpPr>
        <p:spPr>
          <a:xfrm>
            <a:off x="1078523" y="494914"/>
            <a:ext cx="7532077" cy="1325563"/>
          </a:xfrm>
        </p:spPr>
        <p:txBody>
          <a:bodyPr>
            <a:normAutofit fontScale="90000"/>
          </a:bodyPr>
          <a:lstStyle/>
          <a:p>
            <a:pPr marL="457200" indent="-457200" algn="just">
              <a:lnSpc>
                <a:spcPct val="107000"/>
              </a:lnSpc>
              <a:spcAft>
                <a:spcPts val="800"/>
              </a:spcAft>
            </a:pPr>
            <a:r>
              <a:rPr lang="en-US" sz="2400" dirty="0" err="1">
                <a:latin typeface="Times New Roman" panose="02020603050405020304" pitchFamily="18" charset="0"/>
                <a:ea typeface="SimSun" panose="02010600030101010101" pitchFamily="2" charset="-122"/>
                <a:cs typeface="Times New Roman" panose="02020603050405020304" pitchFamily="18" charset="0"/>
              </a:rPr>
              <a:t>Bourveau</a:t>
            </a:r>
            <a:r>
              <a:rPr lang="en-US" sz="2400" dirty="0">
                <a:latin typeface="Times New Roman" panose="02020603050405020304" pitchFamily="18" charset="0"/>
                <a:ea typeface="SimSun" panose="02010600030101010101" pitchFamily="2" charset="-122"/>
                <a:cs typeface="Times New Roman" panose="02020603050405020304" pitchFamily="18" charset="0"/>
              </a:rPr>
              <a:t>, T., Y. Lou, and R. Wang. 2018. Shareholder litigation and corporate disclosure: evidence from derivative law suits. </a:t>
            </a:r>
            <a:r>
              <a:rPr lang="en-US" sz="2400" i="1" dirty="0">
                <a:latin typeface="Times New Roman" panose="02020603050405020304" pitchFamily="18" charset="0"/>
                <a:ea typeface="SimSun" panose="02010600030101010101" pitchFamily="2" charset="-122"/>
                <a:cs typeface="Times New Roman" panose="02020603050405020304" pitchFamily="18" charset="0"/>
              </a:rPr>
              <a:t>Journal of Accounting and Research</a:t>
            </a:r>
            <a:r>
              <a:rPr lang="en-US" sz="2400" dirty="0">
                <a:latin typeface="Times New Roman" panose="02020603050405020304" pitchFamily="18" charset="0"/>
                <a:ea typeface="SimSun" panose="02010600030101010101" pitchFamily="2" charset="-122"/>
                <a:cs typeface="Times New Roman" panose="02020603050405020304" pitchFamily="18" charset="0"/>
              </a:rPr>
              <a:t> 56 (3): 797-842.</a:t>
            </a:r>
            <a:endParaRPr lang="en-HK" sz="2400" dirty="0">
              <a:latin typeface="Calibri" panose="020F0502020204030204" pitchFamily="34" charset="0"/>
              <a:ea typeface="SimSun" panose="02010600030101010101" pitchFamily="2" charset="-122"/>
              <a:cs typeface="Times New Roman" panose="02020603050405020304" pitchFamily="18" charset="0"/>
            </a:endParaRPr>
          </a:p>
        </p:txBody>
      </p:sp>
      <p:pic>
        <p:nvPicPr>
          <p:cNvPr id="7" name="Content Placeholder 6" descr="A close-up of a document&#10;&#10;Description automatically generated">
            <a:extLst>
              <a:ext uri="{FF2B5EF4-FFF2-40B4-BE49-F238E27FC236}">
                <a16:creationId xmlns:a16="http://schemas.microsoft.com/office/drawing/2014/main" id="{6F7433AA-CC27-DAC5-476B-0E99FB9921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7331" y="1952361"/>
            <a:ext cx="8229600" cy="4085408"/>
          </a:xfrm>
        </p:spPr>
      </p:pic>
      <p:sp>
        <p:nvSpPr>
          <p:cNvPr id="4" name="Date Placeholder 3">
            <a:extLst>
              <a:ext uri="{FF2B5EF4-FFF2-40B4-BE49-F238E27FC236}">
                <a16:creationId xmlns:a16="http://schemas.microsoft.com/office/drawing/2014/main" id="{A7D2E2D0-8710-49A9-BD36-4E47EA0C765A}"/>
              </a:ext>
            </a:extLst>
          </p:cNvPr>
          <p:cNvSpPr>
            <a:spLocks noGrp="1"/>
          </p:cNvSpPr>
          <p:nvPr>
            <p:ph type="dt" sz="half" idx="10"/>
          </p:nvPr>
        </p:nvSpPr>
        <p:spPr/>
        <p:txBody>
          <a:bodyPr/>
          <a:lstStyle/>
          <a:p>
            <a:fld id="{568AA936-4E95-BA43-968D-D0C51C1E54AA}"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85AB5793-0ED0-42EA-89A8-347E41DC523E}"/>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17</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3169579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lose-up of a table&#10;&#10;Description automatically generated">
            <a:extLst>
              <a:ext uri="{FF2B5EF4-FFF2-40B4-BE49-F238E27FC236}">
                <a16:creationId xmlns:a16="http://schemas.microsoft.com/office/drawing/2014/main" id="{9E17558A-58AA-D75B-B103-962D6C4232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3683996" y="-999755"/>
            <a:ext cx="5257477" cy="8354347"/>
          </a:xfrm>
        </p:spPr>
      </p:pic>
      <p:sp>
        <p:nvSpPr>
          <p:cNvPr id="4" name="Date Placeholder 3">
            <a:extLst>
              <a:ext uri="{FF2B5EF4-FFF2-40B4-BE49-F238E27FC236}">
                <a16:creationId xmlns:a16="http://schemas.microsoft.com/office/drawing/2014/main" id="{91FA155A-F3CE-EF1B-A51F-B50EDD9B556B}"/>
              </a:ext>
            </a:extLst>
          </p:cNvPr>
          <p:cNvSpPr>
            <a:spLocks noGrp="1"/>
          </p:cNvSpPr>
          <p:nvPr>
            <p:ph type="dt" sz="half" idx="10"/>
          </p:nvPr>
        </p:nvSpPr>
        <p:spPr/>
        <p:txBody>
          <a:bodyPr/>
          <a:lstStyle/>
          <a:p>
            <a:fld id="{19BE8A10-D2E9-1C46-8716-7DA7FA22E405}"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F5CBD4E5-808C-4FB6-2588-27FCAFFE07D0}"/>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18</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2703291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C1DB-C645-4265-B32A-1ECFCB03264B}"/>
              </a:ext>
            </a:extLst>
          </p:cNvPr>
          <p:cNvSpPr>
            <a:spLocks noGrp="1"/>
          </p:cNvSpPr>
          <p:nvPr>
            <p:ph type="title"/>
          </p:nvPr>
        </p:nvSpPr>
        <p:spPr/>
        <p:txBody>
          <a:bodyPr/>
          <a:lstStyle/>
          <a:p>
            <a:r>
              <a:rPr lang="en-US" dirty="0"/>
              <a:t>(Dis)incentive: Proprietary Cost</a:t>
            </a:r>
          </a:p>
        </p:txBody>
      </p:sp>
      <p:sp>
        <p:nvSpPr>
          <p:cNvPr id="3" name="Slide Number Placeholder 2">
            <a:extLst>
              <a:ext uri="{FF2B5EF4-FFF2-40B4-BE49-F238E27FC236}">
                <a16:creationId xmlns:a16="http://schemas.microsoft.com/office/drawing/2014/main" id="{37153B26-EBF7-4031-A5A5-B61A1B545B60}"/>
              </a:ext>
            </a:extLst>
          </p:cNvPr>
          <p:cNvSpPr>
            <a:spLocks noGrp="1"/>
          </p:cNvSpPr>
          <p:nvPr>
            <p:ph type="sldNum" sz="quarter" idx="2"/>
          </p:nvPr>
        </p:nvSpPr>
        <p:spPr/>
        <p:txBody>
          <a:bodyPr/>
          <a:lstStyle/>
          <a:p>
            <a:fld id="{86CB4B4D-7CA3-9044-876B-883B54F8677D}" type="slidenum">
              <a:rPr lang="en-US" smtClean="0"/>
              <a:pPr/>
              <a:t>19</a:t>
            </a:fld>
            <a:endParaRPr lang="en-US" dirty="0"/>
          </a:p>
        </p:txBody>
      </p:sp>
    </p:spTree>
    <p:extLst>
      <p:ext uri="{BB962C8B-B14F-4D97-AF65-F5344CB8AC3E}">
        <p14:creationId xmlns:p14="http://schemas.microsoft.com/office/powerpoint/2010/main" val="295599801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346BE-D9CC-410B-9970-B562D9652FD4}"/>
              </a:ext>
            </a:extLst>
          </p:cNvPr>
          <p:cNvSpPr>
            <a:spLocks noGrp="1"/>
          </p:cNvSpPr>
          <p:nvPr>
            <p:ph type="title"/>
          </p:nvPr>
        </p:nvSpPr>
        <p:spPr>
          <a:xfrm>
            <a:off x="1119553" y="888023"/>
            <a:ext cx="8229600" cy="1143000"/>
          </a:xfrm>
        </p:spPr>
        <p:txBody>
          <a:bodyPr>
            <a:normAutofit fontScale="90000"/>
          </a:bodyPr>
          <a:lstStyle/>
          <a:p>
            <a:r>
              <a:rPr lang="en-HK" sz="2600" dirty="0"/>
              <a:t>Ellis, J. A., Fee, C. E., &amp; Thomas, S. E. (2012). Proprietary costs and the disclosure of information about customers. </a:t>
            </a:r>
            <a:r>
              <a:rPr lang="en-HK" sz="2600" i="1" dirty="0"/>
              <a:t>Journal of Accounting Research</a:t>
            </a:r>
            <a:r>
              <a:rPr lang="en-HK" sz="2600" dirty="0"/>
              <a:t>, </a:t>
            </a:r>
            <a:r>
              <a:rPr lang="en-HK" sz="2600" i="1" dirty="0"/>
              <a:t>50</a:t>
            </a:r>
            <a:r>
              <a:rPr lang="en-HK" sz="2600" dirty="0"/>
              <a:t>(3), 685-727.</a:t>
            </a:r>
            <a:br>
              <a:rPr lang="en-US" sz="2600" dirty="0"/>
            </a:br>
            <a:endParaRPr lang="en-US" sz="2600" dirty="0"/>
          </a:p>
        </p:txBody>
      </p:sp>
      <p:sp>
        <p:nvSpPr>
          <p:cNvPr id="3" name="Content Placeholder 2">
            <a:extLst>
              <a:ext uri="{FF2B5EF4-FFF2-40B4-BE49-F238E27FC236}">
                <a16:creationId xmlns:a16="http://schemas.microsoft.com/office/drawing/2014/main" id="{4D1DBD58-DAB5-461E-8F4A-A61B4C254BFE}"/>
              </a:ext>
            </a:extLst>
          </p:cNvPr>
          <p:cNvSpPr>
            <a:spLocks noGrp="1"/>
          </p:cNvSpPr>
          <p:nvPr>
            <p:ph idx="1"/>
          </p:nvPr>
        </p:nvSpPr>
        <p:spPr/>
        <p:txBody>
          <a:bodyPr/>
          <a:lstStyle/>
          <a:p>
            <a:pPr marL="457200" lvl="3" indent="-457200" algn="just">
              <a:spcAft>
                <a:spcPts val="600"/>
              </a:spcAft>
              <a:buClr>
                <a:schemeClr val="tx1"/>
              </a:buClr>
              <a:buSzPct val="100000"/>
              <a:buFont typeface="Wingdings" panose="05000000000000000000" pitchFamily="2" charset="2"/>
              <a:buChar char="Ø"/>
              <a:defRPr/>
            </a:pPr>
            <a:endParaRPr lang="en-US" altLang="zh-CN" dirty="0"/>
          </a:p>
          <a:p>
            <a:pPr marL="457200" lvl="3" indent="-457200" algn="just">
              <a:spcAft>
                <a:spcPts val="600"/>
              </a:spcAft>
              <a:buClr>
                <a:schemeClr val="tx1"/>
              </a:buClr>
              <a:buSzPct val="100000"/>
              <a:buFont typeface="Wingdings" panose="05000000000000000000" pitchFamily="2" charset="2"/>
              <a:buChar char="Ø"/>
              <a:defRPr/>
            </a:pPr>
            <a:r>
              <a:rPr lang="en-US" altLang="zh-CN" dirty="0"/>
              <a:t>Voluntary disclosure: customer information disclosures</a:t>
            </a:r>
            <a:endParaRPr lang="en" altLang="zh-CN" dirty="0"/>
          </a:p>
          <a:p>
            <a:pPr marL="457200" lvl="3" indent="-457200" algn="just">
              <a:spcAft>
                <a:spcPts val="600"/>
              </a:spcAft>
              <a:buClr>
                <a:schemeClr val="tx1"/>
              </a:buClr>
              <a:buSzPct val="100000"/>
              <a:buFont typeface="Wingdings" panose="05000000000000000000" pitchFamily="2" charset="2"/>
              <a:buChar char="Ø"/>
              <a:defRPr/>
            </a:pPr>
            <a:r>
              <a:rPr lang="en" altLang="zh-CN" dirty="0"/>
              <a:t>Benefits:  the information of customers is crucial to investors, </a:t>
            </a:r>
          </a:p>
          <a:p>
            <a:pPr marL="914400" lvl="4" indent="-457200" algn="just">
              <a:spcAft>
                <a:spcPts val="600"/>
              </a:spcAft>
              <a:buClr>
                <a:schemeClr val="tx1"/>
              </a:buClr>
              <a:buSzPct val="100000"/>
              <a:buFont typeface="Wingdings" pitchFamily="2" charset="2"/>
              <a:buChar char="ü"/>
              <a:defRPr/>
            </a:pPr>
            <a:r>
              <a:rPr lang="en-US" altLang="zh-CN" dirty="0"/>
              <a:t>In assessing the risks inherent in a firm’s current and future revenues. </a:t>
            </a:r>
            <a:endParaRPr lang="en" altLang="zh-CN" dirty="0"/>
          </a:p>
          <a:p>
            <a:pPr marL="457200" lvl="3" indent="-457200" algn="just">
              <a:spcAft>
                <a:spcPts val="600"/>
              </a:spcAft>
              <a:buClr>
                <a:schemeClr val="tx1"/>
              </a:buClr>
              <a:buSzPct val="100000"/>
              <a:buFont typeface="Wingdings" panose="05000000000000000000" pitchFamily="2" charset="2"/>
              <a:buChar char="Ø"/>
              <a:defRPr/>
            </a:pPr>
            <a:r>
              <a:rPr lang="en" altLang="zh-CN" dirty="0"/>
              <a:t>Cost: </a:t>
            </a:r>
            <a:r>
              <a:rPr lang="en-US" altLang="zh-CN" dirty="0"/>
              <a:t>Given that such disclosures to investors can also be observed by a firm’s current and potential rivals, these disclosures can aid rivals in competing with the disclosing firm. </a:t>
            </a:r>
            <a:endParaRPr lang="en" altLang="zh-CN" dirty="0"/>
          </a:p>
          <a:p>
            <a:pPr marL="457200" lvl="3" indent="-457200" algn="just">
              <a:spcAft>
                <a:spcPts val="600"/>
              </a:spcAft>
              <a:buClr>
                <a:schemeClr val="tx1"/>
              </a:buClr>
              <a:buSzPct val="100000"/>
              <a:buFont typeface="Wingdings" panose="05000000000000000000" pitchFamily="2" charset="2"/>
              <a:buChar char="Ø"/>
              <a:defRPr/>
            </a:pPr>
            <a:r>
              <a:rPr lang="en-US" altLang="zh-CN" dirty="0"/>
              <a:t>In deciding how much information about a firm’s customers to disclose, managers face a trade-off between the benefits of reducing information asymmetry with capital market participants and the costs of aiding rivals. </a:t>
            </a:r>
            <a:r>
              <a:rPr lang="en-US" altLang="zh-CN" dirty="0">
                <a:solidFill>
                  <a:schemeClr val="bg1">
                    <a:lumMod val="50000"/>
                  </a:schemeClr>
                </a:solidFill>
              </a:rPr>
              <a:t>(</a:t>
            </a:r>
            <a:r>
              <a:rPr lang="en-US" altLang="zh-CN" dirty="0" err="1">
                <a:solidFill>
                  <a:schemeClr val="bg1">
                    <a:lumMod val="50000"/>
                  </a:schemeClr>
                </a:solidFill>
              </a:rPr>
              <a:t>Wagenhofer</a:t>
            </a:r>
            <a:r>
              <a:rPr lang="en-US" altLang="zh-CN" dirty="0">
                <a:solidFill>
                  <a:schemeClr val="bg1">
                    <a:lumMod val="50000"/>
                  </a:schemeClr>
                </a:solidFill>
              </a:rPr>
              <a:t> [1990], Hayes and </a:t>
            </a:r>
            <a:r>
              <a:rPr lang="en-US" altLang="zh-CN" dirty="0" err="1">
                <a:solidFill>
                  <a:schemeClr val="bg1">
                    <a:lumMod val="50000"/>
                  </a:schemeClr>
                </a:solidFill>
              </a:rPr>
              <a:t>Lundholm</a:t>
            </a:r>
            <a:r>
              <a:rPr lang="en-US" altLang="zh-CN" dirty="0">
                <a:solidFill>
                  <a:schemeClr val="bg1">
                    <a:lumMod val="50000"/>
                  </a:schemeClr>
                </a:solidFill>
              </a:rPr>
              <a:t> [1996])</a:t>
            </a:r>
          </a:p>
          <a:p>
            <a:endParaRPr lang="en-US" dirty="0"/>
          </a:p>
        </p:txBody>
      </p:sp>
      <p:sp>
        <p:nvSpPr>
          <p:cNvPr id="4" name="Date Placeholder 3">
            <a:extLst>
              <a:ext uri="{FF2B5EF4-FFF2-40B4-BE49-F238E27FC236}">
                <a16:creationId xmlns:a16="http://schemas.microsoft.com/office/drawing/2014/main" id="{0D0381A3-A37B-49C0-B3D9-6E4449C702AF}"/>
              </a:ext>
            </a:extLst>
          </p:cNvPr>
          <p:cNvSpPr>
            <a:spLocks noGrp="1"/>
          </p:cNvSpPr>
          <p:nvPr>
            <p:ph type="dt" sz="half" idx="10"/>
          </p:nvPr>
        </p:nvSpPr>
        <p:spPr/>
        <p:txBody>
          <a:bodyPr/>
          <a:lstStyle/>
          <a:p>
            <a:fld id="{9CACBFF0-5144-4F47-A342-DB6B614EFF17}"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F6DB9572-6E3D-444C-929B-FDF8F116819C}"/>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20</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3742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10E60C-C6DB-4104-84C9-AF4C79A6F1E4}"/>
              </a:ext>
            </a:extLst>
          </p:cNvPr>
          <p:cNvSpPr>
            <a:spLocks noGrp="1"/>
          </p:cNvSpPr>
          <p:nvPr>
            <p:ph type="dt" sz="half" idx="10"/>
          </p:nvPr>
        </p:nvSpPr>
        <p:spPr/>
        <p:txBody>
          <a:bodyPr/>
          <a:lstStyle/>
          <a:p>
            <a:fld id="{7F1FD659-9678-DB42-A719-3B6353D149F3}"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2255154E-E63A-41C0-9C31-A48AD6FDD0DE}"/>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21</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10" name="图片 3">
            <a:extLst>
              <a:ext uri="{FF2B5EF4-FFF2-40B4-BE49-F238E27FC236}">
                <a16:creationId xmlns:a16="http://schemas.microsoft.com/office/drawing/2014/main" id="{738D1D05-05FB-B32F-B140-357DCF6325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8105" y="596580"/>
            <a:ext cx="7455790" cy="5664843"/>
          </a:xfrm>
          <a:prstGeom prst="rect">
            <a:avLst/>
          </a:prstGeom>
        </p:spPr>
      </p:pic>
    </p:spTree>
    <p:extLst>
      <p:ext uri="{BB962C8B-B14F-4D97-AF65-F5344CB8AC3E}">
        <p14:creationId xmlns:p14="http://schemas.microsoft.com/office/powerpoint/2010/main" val="4266793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C5A5F-3FAD-4C09-8AE3-4982DA3BB5ED}"/>
              </a:ext>
            </a:extLst>
          </p:cNvPr>
          <p:cNvSpPr>
            <a:spLocks noGrp="1"/>
          </p:cNvSpPr>
          <p:nvPr>
            <p:ph type="title"/>
          </p:nvPr>
        </p:nvSpPr>
        <p:spPr>
          <a:xfrm>
            <a:off x="1005254" y="397731"/>
            <a:ext cx="8229600" cy="1143000"/>
          </a:xfrm>
        </p:spPr>
        <p:txBody>
          <a:bodyPr>
            <a:normAutofit fontScale="90000"/>
          </a:bodyPr>
          <a:lstStyle/>
          <a:p>
            <a:r>
              <a:rPr lang="en-HK" sz="2600" dirty="0"/>
              <a:t>Kim, Y., Su, L., Wang, Z., &amp; Wu, H. (2021). The effect of trade secrets law on stock price synchronicity: Evidence from the inevitable disclosure doctrine (TAR)</a:t>
            </a:r>
            <a:endParaRPr lang="en-US" sz="2600" dirty="0"/>
          </a:p>
        </p:txBody>
      </p:sp>
      <p:sp>
        <p:nvSpPr>
          <p:cNvPr id="3" name="Content Placeholder 2">
            <a:extLst>
              <a:ext uri="{FF2B5EF4-FFF2-40B4-BE49-F238E27FC236}">
                <a16:creationId xmlns:a16="http://schemas.microsoft.com/office/drawing/2014/main" id="{89E9EB27-2C97-4679-B912-60396B9C1528}"/>
              </a:ext>
            </a:extLst>
          </p:cNvPr>
          <p:cNvSpPr>
            <a:spLocks noGrp="1"/>
          </p:cNvSpPr>
          <p:nvPr>
            <p:ph idx="1"/>
          </p:nvPr>
        </p:nvSpPr>
        <p:spPr/>
        <p:txBody>
          <a:bodyPr/>
          <a:lstStyle/>
          <a:p>
            <a:r>
              <a:rPr lang="en-HK" sz="1800" dirty="0"/>
              <a:t>Inevitable Disclosure Doctrine (IDD) is a common law principle that prevents a ﬁrm’s employee who knows the ﬁrm’s trade secrets from working for its rivals. In states where the courts have recognized the IDD, a ﬁrm’s former workers can be prevented from working for its competitors if this would ‘‘inevitably’’ lead them to divulge the ﬁrm’s trade secrets to the competitors. </a:t>
            </a:r>
          </a:p>
          <a:p>
            <a:r>
              <a:rPr lang="en-HK" sz="1800" dirty="0"/>
              <a:t>Prior to states’ recognition of the IDD, competitors could obtain proprietary information by directly hiring ﬁrms’ former employees who have access to the information. Thus, it is less costly for ﬁrms to disclose such information publicly for capital market beneﬁts. As the IDD lowers employee mobility and constrains competitors’ ability to obtain proprietary information by scoping from former employees, however, rival ﬁrms will rely more on a ﬁrm’s public disclosure to glean proprietary information and, in turn, ﬁrms have more proprietary information to safeguard from their rivals. </a:t>
            </a:r>
            <a:endParaRPr lang="en-US" sz="1800" dirty="0"/>
          </a:p>
        </p:txBody>
      </p:sp>
      <p:sp>
        <p:nvSpPr>
          <p:cNvPr id="4" name="Date Placeholder 3">
            <a:extLst>
              <a:ext uri="{FF2B5EF4-FFF2-40B4-BE49-F238E27FC236}">
                <a16:creationId xmlns:a16="http://schemas.microsoft.com/office/drawing/2014/main" id="{7F370A94-BE4D-4F8F-A626-AED422D4E20A}"/>
              </a:ext>
            </a:extLst>
          </p:cNvPr>
          <p:cNvSpPr>
            <a:spLocks noGrp="1"/>
          </p:cNvSpPr>
          <p:nvPr>
            <p:ph type="dt" sz="half" idx="10"/>
          </p:nvPr>
        </p:nvSpPr>
        <p:spPr/>
        <p:txBody>
          <a:bodyPr/>
          <a:lstStyle/>
          <a:p>
            <a:fld id="{5EBCC87F-0C52-6845-94C7-34C3E7FB2E69}"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B75408D1-B4C3-45EC-95D5-DBB26249C4A6}"/>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22</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52159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02FF-6221-4709-9E25-0EFC3183279F}"/>
              </a:ext>
            </a:extLst>
          </p:cNvPr>
          <p:cNvSpPr>
            <a:spLocks noGrp="1"/>
          </p:cNvSpPr>
          <p:nvPr>
            <p:ph type="title"/>
          </p:nvPr>
        </p:nvSpPr>
        <p:spPr>
          <a:xfrm>
            <a:off x="1981200" y="940995"/>
            <a:ext cx="8229600" cy="1143000"/>
          </a:xfrm>
        </p:spPr>
        <p:txBody>
          <a:bodyPr>
            <a:normAutofit fontScale="90000"/>
          </a:bodyPr>
          <a:lstStyle/>
          <a:p>
            <a:r>
              <a:rPr lang="en-HK" sz="2800" dirty="0"/>
              <a:t>Kim, Y., Su, L., Wang, Z., &amp; Wu, H. (2021). The effect of trade secrets law on stock price synchronicity: Evidence from the inevitable disclosure doctrine (TAR</a:t>
            </a:r>
            <a:r>
              <a:rPr lang="en-HK" sz="3200" dirty="0"/>
              <a:t>)</a:t>
            </a:r>
            <a:endParaRPr lang="en-US" sz="3200" dirty="0"/>
          </a:p>
        </p:txBody>
      </p:sp>
      <p:sp>
        <p:nvSpPr>
          <p:cNvPr id="3" name="Content Placeholder 2">
            <a:extLst>
              <a:ext uri="{FF2B5EF4-FFF2-40B4-BE49-F238E27FC236}">
                <a16:creationId xmlns:a16="http://schemas.microsoft.com/office/drawing/2014/main" id="{F5311EB6-3F8A-47A9-92C2-8CBDE09B71E2}"/>
              </a:ext>
            </a:extLst>
          </p:cNvPr>
          <p:cNvSpPr>
            <a:spLocks noGrp="1"/>
          </p:cNvSpPr>
          <p:nvPr>
            <p:ph idx="1"/>
          </p:nvPr>
        </p:nvSpPr>
        <p:spPr>
          <a:xfrm>
            <a:off x="1822938" y="2446337"/>
            <a:ext cx="8387862" cy="4525963"/>
          </a:xfrm>
        </p:spPr>
        <p:txBody>
          <a:bodyPr/>
          <a:lstStyle/>
          <a:p>
            <a:r>
              <a:rPr lang="en-HK" sz="1800" dirty="0"/>
              <a:t>When the recognition of the IDD increases the proprietary cost of disclosure and leads to a decrease in proprietary information disclosures, information asymmetry increases. As a result, managers could resort to </a:t>
            </a:r>
            <a:r>
              <a:rPr lang="en-HK" sz="1800" dirty="0" err="1"/>
              <a:t>nonproprietary</a:t>
            </a:r>
            <a:r>
              <a:rPr lang="en-HK" sz="1800" dirty="0"/>
              <a:t> information disclosure to reduce the information asymmetry. </a:t>
            </a:r>
          </a:p>
          <a:p>
            <a:r>
              <a:rPr lang="en-HK" sz="1800" dirty="0"/>
              <a:t>As the recognition of the IDD potentially has different effects on the disclosures of proprietary and </a:t>
            </a:r>
            <a:r>
              <a:rPr lang="en-HK" sz="1800" dirty="0" err="1"/>
              <a:t>nonproprietary</a:t>
            </a:r>
            <a:r>
              <a:rPr lang="en-HK" sz="1800" dirty="0"/>
              <a:t> information, we focus on stock price synchronicity to examine the net effect of the IDD on the production of ﬁrm-speciﬁc information. </a:t>
            </a:r>
            <a:endParaRPr lang="en-US" sz="1800" dirty="0"/>
          </a:p>
        </p:txBody>
      </p:sp>
      <p:sp>
        <p:nvSpPr>
          <p:cNvPr id="4" name="Date Placeholder 3">
            <a:extLst>
              <a:ext uri="{FF2B5EF4-FFF2-40B4-BE49-F238E27FC236}">
                <a16:creationId xmlns:a16="http://schemas.microsoft.com/office/drawing/2014/main" id="{FFDF11FA-6077-47D9-B92F-D6997842C40C}"/>
              </a:ext>
            </a:extLst>
          </p:cNvPr>
          <p:cNvSpPr>
            <a:spLocks noGrp="1"/>
          </p:cNvSpPr>
          <p:nvPr>
            <p:ph type="dt" sz="half" idx="10"/>
          </p:nvPr>
        </p:nvSpPr>
        <p:spPr/>
        <p:txBody>
          <a:bodyPr/>
          <a:lstStyle/>
          <a:p>
            <a:fld id="{1F4D3D03-A5B3-3C4E-83CD-F360EB16CF04}"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DE76406D-B7D3-45BC-8C88-0B550E0B6043}"/>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23</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1900877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53349-A2ED-459B-8716-8BCAB303591F}"/>
              </a:ext>
            </a:extLst>
          </p:cNvPr>
          <p:cNvSpPr>
            <a:spLocks noGrp="1"/>
          </p:cNvSpPr>
          <p:nvPr>
            <p:ph type="title"/>
          </p:nvPr>
        </p:nvSpPr>
        <p:spPr>
          <a:xfrm>
            <a:off x="987668" y="721458"/>
            <a:ext cx="9026770" cy="1325563"/>
          </a:xfrm>
        </p:spPr>
        <p:txBody>
          <a:bodyPr>
            <a:normAutofit fontScale="90000"/>
          </a:bodyPr>
          <a:lstStyle/>
          <a:p>
            <a:r>
              <a:rPr lang="en-HK" sz="2800" dirty="0"/>
              <a:t>Kim, Y., Su, L., Wang, Z., &amp; Wu, H. (2021). The effect of trade secrets law on stock price synchronicity: Evidence from the inevitable disclosure doctrine (TAR)</a:t>
            </a:r>
            <a:endParaRPr lang="en-US" sz="2800" dirty="0"/>
          </a:p>
        </p:txBody>
      </p:sp>
      <p:sp>
        <p:nvSpPr>
          <p:cNvPr id="4" name="Date Placeholder 3">
            <a:extLst>
              <a:ext uri="{FF2B5EF4-FFF2-40B4-BE49-F238E27FC236}">
                <a16:creationId xmlns:a16="http://schemas.microsoft.com/office/drawing/2014/main" id="{4230DCDF-E7AD-4436-B100-DCECB9059B31}"/>
              </a:ext>
            </a:extLst>
          </p:cNvPr>
          <p:cNvSpPr>
            <a:spLocks noGrp="1"/>
          </p:cNvSpPr>
          <p:nvPr>
            <p:ph type="dt" sz="half" idx="10"/>
          </p:nvPr>
        </p:nvSpPr>
        <p:spPr/>
        <p:txBody>
          <a:bodyPr/>
          <a:lstStyle/>
          <a:p>
            <a:fld id="{9C8F7836-4168-CE48-A514-371454506E61}"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78284FCA-A1FD-444D-9C16-68448205CB39}"/>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24</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775DAE33-7F9D-46D3-8E0A-86DFA2D27580}"/>
              </a:ext>
            </a:extLst>
          </p:cNvPr>
          <p:cNvPicPr>
            <a:picLocks noChangeAspect="1"/>
          </p:cNvPicPr>
          <p:nvPr/>
        </p:nvPicPr>
        <p:blipFill>
          <a:blip r:embed="rId2"/>
          <a:stretch>
            <a:fillRect/>
          </a:stretch>
        </p:blipFill>
        <p:spPr>
          <a:xfrm>
            <a:off x="1119554" y="2462698"/>
            <a:ext cx="9144000" cy="2688744"/>
          </a:xfrm>
          <a:prstGeom prst="rect">
            <a:avLst/>
          </a:prstGeom>
        </p:spPr>
      </p:pic>
    </p:spTree>
    <p:extLst>
      <p:ext uri="{BB962C8B-B14F-4D97-AF65-F5344CB8AC3E}">
        <p14:creationId xmlns:p14="http://schemas.microsoft.com/office/powerpoint/2010/main" val="1370679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915AFE-5627-4557-86AE-03C9B65E66F2}"/>
              </a:ext>
            </a:extLst>
          </p:cNvPr>
          <p:cNvSpPr>
            <a:spLocks noGrp="1"/>
          </p:cNvSpPr>
          <p:nvPr>
            <p:ph type="dt" sz="half" idx="10"/>
          </p:nvPr>
        </p:nvSpPr>
        <p:spPr/>
        <p:txBody>
          <a:bodyPr/>
          <a:lstStyle/>
          <a:p>
            <a:fld id="{FD22BE32-F575-0E4E-8D59-1A18F88E003C}"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7433E8CA-A474-4A21-93BE-34D6D96D9D18}"/>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25</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ECFD9DF8-E513-45D6-9E2D-79FEFB003A9D}"/>
              </a:ext>
            </a:extLst>
          </p:cNvPr>
          <p:cNvPicPr>
            <a:picLocks noChangeAspect="1"/>
          </p:cNvPicPr>
          <p:nvPr/>
        </p:nvPicPr>
        <p:blipFill>
          <a:blip r:embed="rId2"/>
          <a:stretch>
            <a:fillRect/>
          </a:stretch>
        </p:blipFill>
        <p:spPr>
          <a:xfrm>
            <a:off x="2605919" y="0"/>
            <a:ext cx="6980162" cy="6858000"/>
          </a:xfrm>
          <a:prstGeom prst="rect">
            <a:avLst/>
          </a:prstGeom>
        </p:spPr>
      </p:pic>
    </p:spTree>
    <p:extLst>
      <p:ext uri="{BB962C8B-B14F-4D97-AF65-F5344CB8AC3E}">
        <p14:creationId xmlns:p14="http://schemas.microsoft.com/office/powerpoint/2010/main" val="47143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C1DB-C645-4265-B32A-1ECFCB03264B}"/>
              </a:ext>
            </a:extLst>
          </p:cNvPr>
          <p:cNvSpPr>
            <a:spLocks noGrp="1"/>
          </p:cNvSpPr>
          <p:nvPr>
            <p:ph type="title"/>
          </p:nvPr>
        </p:nvSpPr>
        <p:spPr/>
        <p:txBody>
          <a:bodyPr/>
          <a:lstStyle/>
          <a:p>
            <a:r>
              <a:rPr lang="en-US" dirty="0"/>
              <a:t>(Dis)incentives: Management Style and Ability</a:t>
            </a:r>
          </a:p>
        </p:txBody>
      </p:sp>
      <p:sp>
        <p:nvSpPr>
          <p:cNvPr id="3" name="Slide Number Placeholder 2">
            <a:extLst>
              <a:ext uri="{FF2B5EF4-FFF2-40B4-BE49-F238E27FC236}">
                <a16:creationId xmlns:a16="http://schemas.microsoft.com/office/drawing/2014/main" id="{37153B26-EBF7-4031-A5A5-B61A1B545B60}"/>
              </a:ext>
            </a:extLst>
          </p:cNvPr>
          <p:cNvSpPr>
            <a:spLocks noGrp="1"/>
          </p:cNvSpPr>
          <p:nvPr>
            <p:ph type="sldNum" sz="quarter" idx="2"/>
          </p:nvPr>
        </p:nvSpPr>
        <p:spPr/>
        <p:txBody>
          <a:bodyPr/>
          <a:lstStyle/>
          <a:p>
            <a:fld id="{86CB4B4D-7CA3-9044-876B-883B54F8677D}" type="slidenum">
              <a:rPr lang="en-US" smtClean="0"/>
              <a:pPr/>
              <a:t>26</a:t>
            </a:fld>
            <a:endParaRPr lang="en-US" dirty="0"/>
          </a:p>
        </p:txBody>
      </p:sp>
    </p:spTree>
    <p:extLst>
      <p:ext uri="{BB962C8B-B14F-4D97-AF65-F5344CB8AC3E}">
        <p14:creationId xmlns:p14="http://schemas.microsoft.com/office/powerpoint/2010/main" val="2007572440"/>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0DD8-AE34-4259-AC0F-AE1CA2BACAA3}"/>
              </a:ext>
            </a:extLst>
          </p:cNvPr>
          <p:cNvSpPr>
            <a:spLocks noGrp="1"/>
          </p:cNvSpPr>
          <p:nvPr>
            <p:ph type="title"/>
          </p:nvPr>
        </p:nvSpPr>
        <p:spPr>
          <a:xfrm>
            <a:off x="1981200" y="687386"/>
            <a:ext cx="8229600" cy="1143000"/>
          </a:xfrm>
        </p:spPr>
        <p:txBody>
          <a:bodyPr>
            <a:normAutofit fontScale="90000"/>
          </a:bodyPr>
          <a:lstStyle/>
          <a:p>
            <a:r>
              <a:rPr lang="en-HK" sz="2800" dirty="0"/>
              <a:t>Bamber, L. S., Jiang, J., &amp; Wang, I. Y. (2010). What’s my style? The influence of top managers on voluntary corporate financial disclosure (TAR)</a:t>
            </a:r>
            <a:br>
              <a:rPr lang="en-US" sz="2800" dirty="0"/>
            </a:br>
            <a:endParaRPr lang="en-US" sz="2800" dirty="0"/>
          </a:p>
        </p:txBody>
      </p:sp>
      <p:sp>
        <p:nvSpPr>
          <p:cNvPr id="3" name="Content Placeholder 2">
            <a:extLst>
              <a:ext uri="{FF2B5EF4-FFF2-40B4-BE49-F238E27FC236}">
                <a16:creationId xmlns:a16="http://schemas.microsoft.com/office/drawing/2014/main" id="{7D33D9D9-B51E-4F3F-8D8D-041C6A468083}"/>
              </a:ext>
            </a:extLst>
          </p:cNvPr>
          <p:cNvSpPr>
            <a:spLocks noGrp="1"/>
          </p:cNvSpPr>
          <p:nvPr>
            <p:ph idx="1"/>
          </p:nvPr>
        </p:nvSpPr>
        <p:spPr>
          <a:xfrm>
            <a:off x="1894703" y="2012949"/>
            <a:ext cx="8229600" cy="4525963"/>
          </a:xfrm>
        </p:spPr>
        <p:txBody>
          <a:bodyPr/>
          <a:lstStyle/>
          <a:p>
            <a:r>
              <a:rPr lang="en-HK" sz="1800" dirty="0"/>
              <a:t>We ﬁnd top executives exert unique and economically signiﬁcant inﬂuence (manager-speciﬁc ﬁxed effects) on their ﬁrms’ voluntary disclosures, incremental to known economic determinants of dis-closure, and ﬁrm- and time-speciﬁc effects. </a:t>
            </a:r>
          </a:p>
          <a:p>
            <a:r>
              <a:rPr lang="en-HK" sz="1800" dirty="0"/>
              <a:t>Managers’ unique disclosure styles are associated with observable demographic characteristics of their personal backgrounds: managers promoted from ﬁnance, accounting, and legal career tracks, managers born before World War II, and those with military experience develop disclosure styles displaying certain conservative characteristics; and managers from ﬁnance and accounting and those with military experience </a:t>
            </a:r>
            <a:r>
              <a:rPr lang="en-HK" sz="1800" dirty="0" err="1"/>
              <a:t>favor</a:t>
            </a:r>
            <a:r>
              <a:rPr lang="en-HK" sz="1800" dirty="0"/>
              <a:t> more precise disclosure styles. </a:t>
            </a:r>
          </a:p>
          <a:p>
            <a:r>
              <a:rPr lang="en-HK" sz="1800" dirty="0"/>
              <a:t>These plausible associations conﬁrm that our estimated manager-speciﬁc ﬁxed effects capture systematic long-lived differences in managers’ unique disclosure styles.</a:t>
            </a:r>
            <a:endParaRPr lang="en-US" sz="1800" dirty="0"/>
          </a:p>
        </p:txBody>
      </p:sp>
      <p:sp>
        <p:nvSpPr>
          <p:cNvPr id="4" name="Date Placeholder 3">
            <a:extLst>
              <a:ext uri="{FF2B5EF4-FFF2-40B4-BE49-F238E27FC236}">
                <a16:creationId xmlns:a16="http://schemas.microsoft.com/office/drawing/2014/main" id="{DF7F68D5-5B16-46EC-99A4-B49762C0D9FA}"/>
              </a:ext>
            </a:extLst>
          </p:cNvPr>
          <p:cNvSpPr>
            <a:spLocks noGrp="1"/>
          </p:cNvSpPr>
          <p:nvPr>
            <p:ph type="dt" sz="half" idx="10"/>
          </p:nvPr>
        </p:nvSpPr>
        <p:spPr/>
        <p:txBody>
          <a:bodyPr/>
          <a:lstStyle/>
          <a:p>
            <a:fld id="{04012742-DA56-7F46-979E-2826DFA410C6}"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DFEABBF7-133D-4467-AC10-EFEEFA55A5A9}"/>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27</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04960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EB1B-679B-4A44-A033-2042D93B2979}"/>
              </a:ext>
            </a:extLst>
          </p:cNvPr>
          <p:cNvSpPr>
            <a:spLocks noGrp="1"/>
          </p:cNvSpPr>
          <p:nvPr>
            <p:ph type="title"/>
          </p:nvPr>
        </p:nvSpPr>
        <p:spPr>
          <a:xfrm>
            <a:off x="2060331" y="819572"/>
            <a:ext cx="8229600" cy="1143000"/>
          </a:xfrm>
        </p:spPr>
        <p:txBody>
          <a:bodyPr>
            <a:noAutofit/>
          </a:bodyPr>
          <a:lstStyle/>
          <a:p>
            <a:r>
              <a:rPr lang="en-HK" sz="3000" dirty="0"/>
              <a:t>Li, F., </a:t>
            </a:r>
            <a:r>
              <a:rPr lang="en-HK" sz="3000" dirty="0" err="1"/>
              <a:t>Minnis</a:t>
            </a:r>
            <a:r>
              <a:rPr lang="en-HK" sz="3000" dirty="0"/>
              <a:t>, M., Nagar, V., &amp; </a:t>
            </a:r>
            <a:r>
              <a:rPr lang="en-HK" sz="3000" dirty="0" err="1"/>
              <a:t>Rajan</a:t>
            </a:r>
            <a:r>
              <a:rPr lang="en-HK" sz="3000" dirty="0"/>
              <a:t>, M. (2014). Knowledge, compensation, and firm value: An empirical analysis of firm communication (JAR)</a:t>
            </a:r>
            <a:endParaRPr lang="en-US" sz="3000" dirty="0"/>
          </a:p>
        </p:txBody>
      </p:sp>
      <p:sp>
        <p:nvSpPr>
          <p:cNvPr id="3" name="Content Placeholder 2">
            <a:extLst>
              <a:ext uri="{FF2B5EF4-FFF2-40B4-BE49-F238E27FC236}">
                <a16:creationId xmlns:a16="http://schemas.microsoft.com/office/drawing/2014/main" id="{70528B36-E0BE-4475-A1CE-0CCF273ACF22}"/>
              </a:ext>
            </a:extLst>
          </p:cNvPr>
          <p:cNvSpPr>
            <a:spLocks noGrp="1"/>
          </p:cNvSpPr>
          <p:nvPr>
            <p:ph idx="1"/>
          </p:nvPr>
        </p:nvSpPr>
        <p:spPr>
          <a:xfrm>
            <a:off x="1981200" y="2417425"/>
            <a:ext cx="8229600" cy="4525963"/>
          </a:xfrm>
        </p:spPr>
        <p:txBody>
          <a:bodyPr>
            <a:normAutofit fontScale="85000" lnSpcReduction="20000"/>
          </a:bodyPr>
          <a:lstStyle/>
          <a:p>
            <a:r>
              <a:rPr lang="en-HK" dirty="0"/>
              <a:t>Knowledge is central to managing an organization, but its presence in employees is difficult to measure directly. </a:t>
            </a:r>
            <a:endParaRPr lang="en-US" dirty="0"/>
          </a:p>
          <a:p>
            <a:r>
              <a:rPr lang="en-US" dirty="0"/>
              <a:t>We hypothesize that external communication patterns reveal the location of knowledge within the management team. </a:t>
            </a:r>
          </a:p>
          <a:p>
            <a:r>
              <a:rPr lang="en-US" dirty="0"/>
              <a:t>Using a large database of firm conference call transcripts, we find that CEOs speak less in settings where they are likely to be relatively less knowledgeable. </a:t>
            </a:r>
          </a:p>
          <a:p>
            <a:r>
              <a:rPr lang="en-US" dirty="0"/>
              <a:t>CEOs who speak more are also paid more, and firms whose CEO pay is not commensurate with CEO speaking have a lower industry-adjusted Tobin</a:t>
            </a:r>
            <a:r>
              <a:rPr lang="he-IL" dirty="0"/>
              <a:t>׳</a:t>
            </a:r>
            <a:r>
              <a:rPr lang="en-US" dirty="0"/>
              <a:t>s Q. </a:t>
            </a:r>
          </a:p>
          <a:p>
            <a:r>
              <a:rPr lang="en-US" dirty="0"/>
              <a:t>Communication thus appears to reveal knowledge.</a:t>
            </a:r>
          </a:p>
        </p:txBody>
      </p:sp>
      <p:sp>
        <p:nvSpPr>
          <p:cNvPr id="4" name="Date Placeholder 3">
            <a:extLst>
              <a:ext uri="{FF2B5EF4-FFF2-40B4-BE49-F238E27FC236}">
                <a16:creationId xmlns:a16="http://schemas.microsoft.com/office/drawing/2014/main" id="{E12FAB64-FFC9-462D-A42F-8752738DB5A1}"/>
              </a:ext>
            </a:extLst>
          </p:cNvPr>
          <p:cNvSpPr>
            <a:spLocks noGrp="1"/>
          </p:cNvSpPr>
          <p:nvPr>
            <p:ph type="dt" sz="half" idx="10"/>
          </p:nvPr>
        </p:nvSpPr>
        <p:spPr/>
        <p:txBody>
          <a:bodyPr/>
          <a:lstStyle/>
          <a:p>
            <a:fld id="{84AD5D5D-694F-E94A-ADF3-F894C227BD06}" type="datetime1">
              <a:rPr lang="en-HK" smtClean="0">
                <a:ea typeface="PMingLiU" panose="02020500000000000000" pitchFamily="18" charset="-120"/>
                <a:cs typeface="Arial" panose="020B0604020202020204" pitchFamily="34" charset="0"/>
              </a:rPr>
              <a:t>16/9/2026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3F024675-DAB5-4531-81F0-E5007FDEEF60}"/>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28</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4049043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382000" cy="639762"/>
          </a:xfrm>
        </p:spPr>
        <p:txBody>
          <a:bodyPr>
            <a:normAutofit fontScale="90000"/>
          </a:bodyPr>
          <a:lstStyle/>
          <a:p>
            <a:r>
              <a:rPr lang="en-US" dirty="0"/>
              <a:t>How to do a “research project”</a:t>
            </a:r>
          </a:p>
        </p:txBody>
      </p:sp>
      <p:sp>
        <p:nvSpPr>
          <p:cNvPr id="3" name="Content Placeholder 2"/>
          <p:cNvSpPr>
            <a:spLocks noGrp="1"/>
          </p:cNvSpPr>
          <p:nvPr>
            <p:ph idx="1"/>
          </p:nvPr>
        </p:nvSpPr>
        <p:spPr>
          <a:xfrm>
            <a:off x="1981200" y="1143001"/>
            <a:ext cx="8229600" cy="4983163"/>
          </a:xfrm>
        </p:spPr>
        <p:txBody>
          <a:bodyPr>
            <a:normAutofit/>
          </a:bodyPr>
          <a:lstStyle/>
          <a:p>
            <a:r>
              <a:rPr lang="en-US" dirty="0"/>
              <a:t>You need to have an idea</a:t>
            </a:r>
          </a:p>
          <a:p>
            <a:r>
              <a:rPr lang="en-US" dirty="0"/>
              <a:t>Formalize your idea as a research question: what do you want to know? Why should we care the answer?</a:t>
            </a:r>
          </a:p>
          <a:p>
            <a:r>
              <a:rPr lang="en-US" dirty="0"/>
              <a:t>What are the potential answers, why (expected)?</a:t>
            </a:r>
          </a:p>
          <a:p>
            <a:r>
              <a:rPr lang="en-US" dirty="0"/>
              <a:t>Collect data and design a testing method</a:t>
            </a:r>
          </a:p>
          <a:p>
            <a:r>
              <a:rPr lang="en-US" dirty="0"/>
              <a:t>Analyze results, robustness tests.</a:t>
            </a:r>
          </a:p>
          <a:p>
            <a:r>
              <a:rPr lang="en-US" dirty="0"/>
              <a:t>Conclusion: answer the question. What have we learned? Other related questions need further investigations.</a:t>
            </a:r>
          </a:p>
          <a:p>
            <a:pPr marL="0" indent="0">
              <a:buNone/>
            </a:pPr>
            <a:endParaRPr lang="en-US" dirty="0"/>
          </a:p>
        </p:txBody>
      </p:sp>
    </p:spTree>
    <p:extLst>
      <p:ext uri="{BB962C8B-B14F-4D97-AF65-F5344CB8AC3E}">
        <p14:creationId xmlns:p14="http://schemas.microsoft.com/office/powerpoint/2010/main" val="2996366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(Self-) Assess Research Paper (Evans et al. CAR2015, Appendix)</a:t>
            </a:r>
          </a:p>
        </p:txBody>
      </p:sp>
      <p:sp>
        <p:nvSpPr>
          <p:cNvPr id="3" name="Content Placeholder 2"/>
          <p:cNvSpPr>
            <a:spLocks noGrp="1"/>
          </p:cNvSpPr>
          <p:nvPr>
            <p:ph idx="1"/>
          </p:nvPr>
        </p:nvSpPr>
        <p:spPr/>
        <p:txBody>
          <a:bodyPr>
            <a:normAutofit/>
          </a:bodyPr>
          <a:lstStyle/>
          <a:p>
            <a:r>
              <a:rPr lang="en-US" dirty="0"/>
              <a:t>Research Question (definitions, scope, causal vs. association)</a:t>
            </a:r>
          </a:p>
          <a:p>
            <a:r>
              <a:rPr lang="en-US" dirty="0"/>
              <a:t>Theory (literature review, logical consistency, specify mechanisms, tensions, conditioning effects, etc.)</a:t>
            </a:r>
          </a:p>
          <a:p>
            <a:r>
              <a:rPr lang="en-US" dirty="0"/>
              <a:t>Contribution</a:t>
            </a:r>
          </a:p>
          <a:p>
            <a:r>
              <a:rPr lang="en-US" dirty="0"/>
              <a:t>Research design (sample, measurement, identifications, alternative explanations) </a:t>
            </a:r>
          </a:p>
          <a:p>
            <a:r>
              <a:rPr lang="en-US" dirty="0"/>
              <a:t>Interpretations and conclusions (economic vs. statistical significance, reasonableness of the direction and magnitude, avoid over-claim)</a:t>
            </a:r>
          </a:p>
        </p:txBody>
      </p:sp>
    </p:spTree>
    <p:extLst>
      <p:ext uri="{BB962C8B-B14F-4D97-AF65-F5344CB8AC3E}">
        <p14:creationId xmlns:p14="http://schemas.microsoft.com/office/powerpoint/2010/main" val="17040690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tails are in the caption following the image">
            <a:extLst>
              <a:ext uri="{FF2B5EF4-FFF2-40B4-BE49-F238E27FC236}">
                <a16:creationId xmlns:a16="http://schemas.microsoft.com/office/drawing/2014/main" id="{EB12E132-6515-4184-B0EC-7BCAF5B2FF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5189" y="0"/>
            <a:ext cx="53800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00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47664" y="1124745"/>
            <a:ext cx="7772400" cy="1470025"/>
          </a:xfrm>
        </p:spPr>
        <p:txBody>
          <a:bodyPr>
            <a:normAutofit/>
          </a:bodyPr>
          <a:lstStyle/>
          <a:p>
            <a:pPr algn="ctr"/>
            <a:r>
              <a:rPr lang="en-US" sz="3600" b="1" dirty="0">
                <a:latin typeface="Times New Roman" panose="02020603050405020304" pitchFamily="18" charset="0"/>
                <a:cs typeface="Times New Roman" panose="02020603050405020304" pitchFamily="18" charset="0"/>
              </a:rPr>
              <a:t>Languages and Management Forecasts around the World</a:t>
            </a:r>
            <a:endParaRPr lang="en-US" sz="36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646804" y="3517158"/>
            <a:ext cx="6400800" cy="3120752"/>
          </a:xfrm>
        </p:spPr>
        <p:txBody>
          <a:bodyPr>
            <a:normAutofit fontScale="25000" lnSpcReduction="20000"/>
          </a:bodyPr>
          <a:lstStyle/>
          <a:p>
            <a:pPr algn="ctr"/>
            <a:r>
              <a:rPr lang="en-US" sz="8000" dirty="0">
                <a:latin typeface="Times New Roman" panose="02020603050405020304" pitchFamily="18" charset="0"/>
                <a:cs typeface="Times New Roman" panose="02020603050405020304" pitchFamily="18" charset="0"/>
              </a:rPr>
              <a:t>Franco Wong</a:t>
            </a:r>
          </a:p>
          <a:p>
            <a:pPr algn="ctr"/>
            <a:r>
              <a:rPr lang="en-US" sz="8000" dirty="0">
                <a:latin typeface="Times New Roman" panose="02020603050405020304" pitchFamily="18" charset="0"/>
                <a:cs typeface="Times New Roman" panose="02020603050405020304" pitchFamily="18" charset="0"/>
              </a:rPr>
              <a:t>Yuyan Guan</a:t>
            </a:r>
          </a:p>
          <a:p>
            <a:pPr algn="ctr"/>
            <a:r>
              <a:rPr lang="en-US" sz="8000" dirty="0">
                <a:latin typeface="Times New Roman" panose="02020603050405020304" pitchFamily="18" charset="0"/>
                <a:cs typeface="Times New Roman" panose="02020603050405020304" pitchFamily="18" charset="0"/>
              </a:rPr>
              <a:t>Zheng Wang</a:t>
            </a:r>
          </a:p>
          <a:p>
            <a:pPr algn="ctr"/>
            <a:r>
              <a:rPr lang="en-US" sz="8000" dirty="0" err="1">
                <a:latin typeface="Times New Roman" panose="02020603050405020304" pitchFamily="18" charset="0"/>
                <a:cs typeface="Times New Roman" panose="02020603050405020304" pitchFamily="18" charset="0"/>
              </a:rPr>
              <a:t>Xiangang</a:t>
            </a:r>
            <a:r>
              <a:rPr lang="en-US" sz="8000" dirty="0">
                <a:latin typeface="Times New Roman" panose="02020603050405020304" pitchFamily="18" charset="0"/>
                <a:cs typeface="Times New Roman" panose="02020603050405020304" pitchFamily="18" charset="0"/>
              </a:rPr>
              <a:t> Xin</a:t>
            </a:r>
          </a:p>
          <a:p>
            <a:endParaRPr lang="en-US" sz="8000" dirty="0"/>
          </a:p>
          <a:p>
            <a:endParaRPr lang="en-US" sz="8000" dirty="0"/>
          </a:p>
          <a:p>
            <a:endParaRPr lang="en-US" sz="8000" dirty="0"/>
          </a:p>
          <a:p>
            <a:r>
              <a:rPr lang="en-US" sz="8000" dirty="0"/>
              <a:t> </a:t>
            </a:r>
          </a:p>
          <a:p>
            <a:endParaRPr lang="en-US" dirty="0"/>
          </a:p>
        </p:txBody>
      </p:sp>
      <p:sp>
        <p:nvSpPr>
          <p:cNvPr id="6" name="Slide Number Placeholder 5"/>
          <p:cNvSpPr>
            <a:spLocks noGrp="1"/>
          </p:cNvSpPr>
          <p:nvPr>
            <p:ph type="sldNum" sz="quarter" idx="12"/>
          </p:nvPr>
        </p:nvSpPr>
        <p:spPr>
          <a:xfrm>
            <a:off x="9552385" y="6093296"/>
            <a:ext cx="895401" cy="640080"/>
          </a:xfrm>
        </p:spPr>
        <p:txBody>
          <a:bodyPr/>
          <a:lstStyle/>
          <a:p>
            <a:fld id="{73DA0BB7-265A-403C-9275-D587AB510EDC}" type="slidenum">
              <a:rPr lang="zh-TW" altLang="en-US" smtClean="0"/>
              <a:t>32</a:t>
            </a:fld>
            <a:endParaRPr lang="zh-TW" altLang="en-US" dirty="0"/>
          </a:p>
        </p:txBody>
      </p:sp>
      <p:sp>
        <p:nvSpPr>
          <p:cNvPr id="7" name="Date Placeholder 3"/>
          <p:cNvSpPr>
            <a:spLocks noGrp="1"/>
          </p:cNvSpPr>
          <p:nvPr>
            <p:ph type="dt" sz="half" idx="10"/>
          </p:nvPr>
        </p:nvSpPr>
        <p:spPr>
          <a:xfrm>
            <a:off x="7097220" y="6280366"/>
            <a:ext cx="2455164" cy="365125"/>
          </a:xfrm>
        </p:spPr>
        <p:txBody>
          <a:bodyPr/>
          <a:lstStyle/>
          <a:p>
            <a:fld id="{95344D05-F9A0-4AB2-80CF-22FE17105C7D}" type="datetime1">
              <a:rPr lang="zh-TW" altLang="en-US" smtClean="0"/>
              <a:t>2026/9/16</a:t>
            </a:fld>
            <a:endParaRPr lang="zh-TW" altLang="en-US" dirty="0"/>
          </a:p>
        </p:txBody>
      </p:sp>
    </p:spTree>
    <p:extLst>
      <p:ext uri="{BB962C8B-B14F-4D97-AF65-F5344CB8AC3E}">
        <p14:creationId xmlns:p14="http://schemas.microsoft.com/office/powerpoint/2010/main" val="3517412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7636" y="13380"/>
            <a:ext cx="8062664" cy="1609344"/>
          </a:xfrm>
        </p:spPr>
        <p:txBody>
          <a:bodyPr/>
          <a:lstStyle/>
          <a:p>
            <a:r>
              <a:rPr lang="en-US" dirty="0"/>
              <a:t>Motivation: Language Shapes Thoughts</a:t>
            </a:r>
          </a:p>
        </p:txBody>
      </p:sp>
      <p:sp>
        <p:nvSpPr>
          <p:cNvPr id="3" name="Content Placeholder 2"/>
          <p:cNvSpPr>
            <a:spLocks noGrp="1"/>
          </p:cNvSpPr>
          <p:nvPr>
            <p:ph idx="1"/>
          </p:nvPr>
        </p:nvSpPr>
        <p:spPr>
          <a:xfrm>
            <a:off x="2025679" y="1622724"/>
            <a:ext cx="8229600" cy="4853136"/>
          </a:xfrm>
        </p:spPr>
        <p:txBody>
          <a:bodyPr>
            <a:normAutofit fontScale="70000" lnSpcReduction="20000"/>
          </a:bodyPr>
          <a:lstStyle/>
          <a:p>
            <a:r>
              <a:rPr lang="en-US" dirty="0"/>
              <a:t>Sapir-Whorf hypothesis (the principle of Linguistic relativity): thoughts are shaped by language (Whorf, 1956). </a:t>
            </a:r>
          </a:p>
          <a:p>
            <a:endParaRPr lang="en-US" dirty="0"/>
          </a:p>
          <a:p>
            <a:r>
              <a:rPr lang="en-US" dirty="0"/>
              <a:t>Linguistics and psychology research suggests that language influences speakers’ cognition of space, color, number, gender, causality, and relationship.</a:t>
            </a:r>
          </a:p>
          <a:p>
            <a:endParaRPr lang="en-US" dirty="0"/>
          </a:p>
          <a:p>
            <a:r>
              <a:rPr lang="en-US" dirty="0"/>
              <a:t>For example, </a:t>
            </a:r>
            <a:r>
              <a:rPr lang="en-US" dirty="0" err="1"/>
              <a:t>Tarahumara</a:t>
            </a:r>
            <a:r>
              <a:rPr lang="en-US" dirty="0"/>
              <a:t> speakers of Mexico do not distinguish “blue” and “green” in their language.</a:t>
            </a:r>
          </a:p>
          <a:p>
            <a:endParaRPr lang="en-US" dirty="0"/>
          </a:p>
          <a:p>
            <a:r>
              <a:rPr lang="en-US" dirty="0"/>
              <a:t>As another example, the </a:t>
            </a:r>
            <a:r>
              <a:rPr lang="en-US" dirty="0" err="1"/>
              <a:t>Piraha</a:t>
            </a:r>
            <a:r>
              <a:rPr lang="en-US" dirty="0"/>
              <a:t> in Brazil use “many” to describe quantities beyond two in their language.</a:t>
            </a:r>
          </a:p>
          <a:p>
            <a:endParaRPr lang="en-US" dirty="0"/>
          </a:p>
          <a:p>
            <a:r>
              <a:rPr lang="en-US" dirty="0"/>
              <a:t>A third example, Chinese speakers describe “uncle” in more specific ways than English speakers.</a:t>
            </a:r>
          </a:p>
          <a:p>
            <a:pPr marL="0" indent="0">
              <a:buNone/>
            </a:pPr>
            <a:r>
              <a:rPr lang="en-US" dirty="0"/>
              <a:t>	Uncle: </a:t>
            </a:r>
            <a:r>
              <a:rPr lang="zh-CN" altLang="en-US" dirty="0"/>
              <a:t>伯父、叔父、舅舅、姑夫、姨夫</a:t>
            </a:r>
            <a:endParaRPr lang="en-US" dirty="0"/>
          </a:p>
        </p:txBody>
      </p:sp>
      <p:sp>
        <p:nvSpPr>
          <p:cNvPr id="4" name="Date Placeholder 3"/>
          <p:cNvSpPr>
            <a:spLocks noGrp="1"/>
          </p:cNvSpPr>
          <p:nvPr>
            <p:ph type="dt" sz="half" idx="10"/>
          </p:nvPr>
        </p:nvSpPr>
        <p:spPr/>
        <p:txBody>
          <a:bodyPr/>
          <a:lstStyle/>
          <a:p>
            <a:fld id="{0A99AA38-BE76-4B13-B725-2E978CFDE0CD}" type="datetime1">
              <a:rPr lang="zh-TW" altLang="en-US" smtClean="0"/>
              <a:t>2026/9/16</a:t>
            </a:fld>
            <a:endParaRPr lang="zh-TW" altLang="en-US" dirty="0"/>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33</a:t>
            </a:fld>
            <a:endParaRPr lang="zh-TW" altLang="en-US"/>
          </a:p>
        </p:txBody>
      </p:sp>
    </p:spTree>
    <p:extLst>
      <p:ext uri="{BB962C8B-B14F-4D97-AF65-F5344CB8AC3E}">
        <p14:creationId xmlns:p14="http://schemas.microsoft.com/office/powerpoint/2010/main" val="2040938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19472"/>
            <a:ext cx="7772400" cy="1609344"/>
          </a:xfrm>
        </p:spPr>
        <p:txBody>
          <a:bodyPr/>
          <a:lstStyle/>
          <a:p>
            <a:r>
              <a:rPr lang="en-US" dirty="0"/>
              <a:t>A 2016 Movie: Arrival</a:t>
            </a:r>
          </a:p>
        </p:txBody>
      </p:sp>
      <p:sp>
        <p:nvSpPr>
          <p:cNvPr id="3" name="Content Placeholder 2"/>
          <p:cNvSpPr>
            <a:spLocks noGrp="1"/>
          </p:cNvSpPr>
          <p:nvPr>
            <p:ph idx="1"/>
          </p:nvPr>
        </p:nvSpPr>
        <p:spPr>
          <a:xfrm>
            <a:off x="1981200" y="1269741"/>
            <a:ext cx="8229600" cy="4525963"/>
          </a:xfrm>
        </p:spPr>
        <p:txBody>
          <a:bodyPr/>
          <a:lstStyle/>
          <a:p>
            <a:r>
              <a:rPr lang="en-US" sz="2600" dirty="0"/>
              <a:t>The aliens offer their language to us on earth, a written language of complicated circular symbols.</a:t>
            </a:r>
          </a:p>
          <a:p>
            <a:r>
              <a:rPr lang="en-US" sz="2600" dirty="0"/>
              <a:t>Those who master it have their perception of time altered, and they can see the future</a:t>
            </a:r>
          </a:p>
        </p:txBody>
      </p:sp>
      <p:sp>
        <p:nvSpPr>
          <p:cNvPr id="6" name="Date Placeholder 5"/>
          <p:cNvSpPr>
            <a:spLocks noGrp="1"/>
          </p:cNvSpPr>
          <p:nvPr>
            <p:ph type="dt" sz="half" idx="10"/>
          </p:nvPr>
        </p:nvSpPr>
        <p:spPr/>
        <p:txBody>
          <a:bodyPr/>
          <a:lstStyle/>
          <a:p>
            <a:fld id="{F63AB281-F020-4AA9-811B-97D3C0057E52}" type="datetime1">
              <a:rPr lang="zh-TW" altLang="en-US" smtClean="0"/>
              <a:t>2026/9/16</a:t>
            </a:fld>
            <a:endParaRPr lang="zh-TW" altLang="en-US"/>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t>34</a:t>
            </a:fld>
            <a:endParaRPr lang="zh-TW" alt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21418" y="4005064"/>
            <a:ext cx="1962415" cy="216298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8129" y="3852324"/>
            <a:ext cx="1512167" cy="2357605"/>
          </a:xfrm>
          <a:prstGeom prst="rect">
            <a:avLst/>
          </a:prstGeom>
        </p:spPr>
      </p:pic>
    </p:spTree>
    <p:extLst>
      <p:ext uri="{BB962C8B-B14F-4D97-AF65-F5344CB8AC3E}">
        <p14:creationId xmlns:p14="http://schemas.microsoft.com/office/powerpoint/2010/main" val="7482057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116632"/>
            <a:ext cx="8423854" cy="1609344"/>
          </a:xfrm>
        </p:spPr>
        <p:txBody>
          <a:bodyPr/>
          <a:lstStyle/>
          <a:p>
            <a:r>
              <a:rPr lang="en-US" dirty="0"/>
              <a:t>Motivation: Language Shapes Thoughts</a:t>
            </a:r>
          </a:p>
        </p:txBody>
      </p:sp>
      <p:sp>
        <p:nvSpPr>
          <p:cNvPr id="3" name="Content Placeholder 2"/>
          <p:cNvSpPr>
            <a:spLocks noGrp="1"/>
          </p:cNvSpPr>
          <p:nvPr>
            <p:ph idx="1"/>
          </p:nvPr>
        </p:nvSpPr>
        <p:spPr>
          <a:xfrm>
            <a:off x="2002646" y="1614595"/>
            <a:ext cx="8229600" cy="4853136"/>
          </a:xfrm>
        </p:spPr>
        <p:txBody>
          <a:bodyPr>
            <a:normAutofit fontScale="77500" lnSpcReduction="20000"/>
          </a:bodyPr>
          <a:lstStyle/>
          <a:p>
            <a:r>
              <a:rPr lang="en-US" dirty="0"/>
              <a:t>From one specific perspective, languages shape speakers’ thoughts about “future”.</a:t>
            </a:r>
          </a:p>
          <a:p>
            <a:pPr lvl="1"/>
            <a:r>
              <a:rPr lang="en-US" dirty="0"/>
              <a:t>Specifically, languages widely differ in how they force their speakers to grammatically mark future events, called “</a:t>
            </a:r>
            <a:r>
              <a:rPr lang="en-US" b="1" dirty="0"/>
              <a:t>future time reference” (FTR) </a:t>
            </a:r>
            <a:r>
              <a:rPr lang="en-US" dirty="0"/>
              <a:t>(Dahl 2000; </a:t>
            </a:r>
            <a:r>
              <a:rPr lang="en-US" dirty="0" err="1"/>
              <a:t>Thieroff</a:t>
            </a:r>
            <a:r>
              <a:rPr lang="en-US" dirty="0"/>
              <a:t> 2000). </a:t>
            </a:r>
          </a:p>
          <a:p>
            <a:endParaRPr lang="en-US" dirty="0"/>
          </a:p>
          <a:p>
            <a:r>
              <a:rPr lang="en-US" dirty="0"/>
              <a:t>For example, when talk about the weather, </a:t>
            </a:r>
          </a:p>
          <a:p>
            <a:pPr marL="0" indent="0">
              <a:buNone/>
            </a:pPr>
            <a:r>
              <a:rPr lang="en-US" dirty="0"/>
              <a:t>      English/French speakers say “Will it rain tomorrow?” (</a:t>
            </a:r>
            <a:r>
              <a:rPr lang="en-US" b="1" dirty="0"/>
              <a:t>Strong-FTR</a:t>
            </a:r>
            <a:r>
              <a:rPr lang="en-US" dirty="0"/>
              <a:t>)</a:t>
            </a:r>
          </a:p>
          <a:p>
            <a:pPr marL="0" indent="0">
              <a:buNone/>
            </a:pPr>
            <a:r>
              <a:rPr lang="en-US" dirty="0"/>
              <a:t>      Chinese/Dutch speakers say “Does it rain tomorrow?”   (</a:t>
            </a:r>
            <a:r>
              <a:rPr lang="en-US" b="1" dirty="0"/>
              <a:t>Week-FTR</a:t>
            </a:r>
            <a:r>
              <a:rPr lang="en-US" dirty="0"/>
              <a:t>)</a:t>
            </a:r>
          </a:p>
          <a:p>
            <a:pPr marL="0" indent="0">
              <a:buNone/>
            </a:pPr>
            <a:endParaRPr lang="en-US" dirty="0"/>
          </a:p>
          <a:p>
            <a:r>
              <a:rPr lang="en-US" b="1" dirty="0"/>
              <a:t>Strong-FTR</a:t>
            </a:r>
            <a:r>
              <a:rPr lang="en-US" dirty="0"/>
              <a:t> language forces their speakers to habitually distinct between the present and future, making the future feels more distant; </a:t>
            </a:r>
            <a:r>
              <a:rPr lang="en-US" b="1" dirty="0"/>
              <a:t>Week-FTR </a:t>
            </a:r>
            <a:r>
              <a:rPr lang="en-US" dirty="0"/>
              <a:t>language shortens the psychological distance of the future to their speakers, making the future feel more close. </a:t>
            </a:r>
          </a:p>
        </p:txBody>
      </p:sp>
      <p:sp>
        <p:nvSpPr>
          <p:cNvPr id="4" name="Date Placeholder 3"/>
          <p:cNvSpPr>
            <a:spLocks noGrp="1"/>
          </p:cNvSpPr>
          <p:nvPr>
            <p:ph type="dt" sz="half" idx="10"/>
          </p:nvPr>
        </p:nvSpPr>
        <p:spPr/>
        <p:txBody>
          <a:bodyPr/>
          <a:lstStyle/>
          <a:p>
            <a:fld id="{0174CD38-7ADC-4877-8588-DD6D284F31EE}" type="datetime1">
              <a:rPr lang="zh-TW" altLang="en-US" smtClean="0"/>
              <a:t>2026/9/16</a:t>
            </a:fld>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35</a:t>
            </a:fld>
            <a:endParaRPr lang="zh-TW" altLang="en-US"/>
          </a:p>
        </p:txBody>
      </p:sp>
    </p:spTree>
    <p:extLst>
      <p:ext uri="{BB962C8B-B14F-4D97-AF65-F5344CB8AC3E}">
        <p14:creationId xmlns:p14="http://schemas.microsoft.com/office/powerpoint/2010/main" val="407184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9038" y="116632"/>
            <a:ext cx="9388368" cy="1609344"/>
          </a:xfrm>
        </p:spPr>
        <p:txBody>
          <a:bodyPr>
            <a:normAutofit/>
          </a:bodyPr>
          <a:lstStyle/>
          <a:p>
            <a:r>
              <a:rPr lang="en-US" sz="4000" dirty="0"/>
              <a:t>Motivation: Language Shapes Thoughts (Cont.)</a:t>
            </a:r>
          </a:p>
        </p:txBody>
      </p:sp>
      <p:sp>
        <p:nvSpPr>
          <p:cNvPr id="3" name="Content Placeholder 2"/>
          <p:cNvSpPr>
            <a:spLocks noGrp="1"/>
          </p:cNvSpPr>
          <p:nvPr>
            <p:ph idx="1"/>
          </p:nvPr>
        </p:nvSpPr>
        <p:spPr>
          <a:xfrm>
            <a:off x="1160585" y="1614595"/>
            <a:ext cx="9071661" cy="4853136"/>
          </a:xfrm>
        </p:spPr>
        <p:txBody>
          <a:bodyPr>
            <a:normAutofit lnSpcReduction="10000"/>
          </a:bodyPr>
          <a:lstStyle/>
          <a:p>
            <a:r>
              <a:rPr lang="en-US" dirty="0"/>
              <a:t>Linguistics theory concludes that </a:t>
            </a:r>
            <a:r>
              <a:rPr lang="en-US" b="1" dirty="0"/>
              <a:t>weak-FTR speakers are naturally more concerned about the future </a:t>
            </a:r>
            <a:r>
              <a:rPr lang="en-US" dirty="0"/>
              <a:t>(Dahl 2000; </a:t>
            </a:r>
            <a:r>
              <a:rPr lang="en-US" dirty="0" err="1"/>
              <a:t>Thieroff</a:t>
            </a:r>
            <a:r>
              <a:rPr lang="en-US" dirty="0"/>
              <a:t> 2000).</a:t>
            </a:r>
            <a:endParaRPr lang="en-US" b="1" dirty="0"/>
          </a:p>
          <a:p>
            <a:pPr lvl="1"/>
            <a:r>
              <a:rPr lang="en-US" dirty="0"/>
              <a:t>Applying this theory to individual behavior, Chen (2013, AER) shows that weak-FTR speakers foster future-oriented behavior such as saving more, retiring with more wealth, smoking less, etc.</a:t>
            </a:r>
          </a:p>
          <a:p>
            <a:endParaRPr lang="en-US" dirty="0"/>
          </a:p>
          <a:p>
            <a:r>
              <a:rPr lang="en-US" dirty="0"/>
              <a:t>We apply the linguistics theory to individual investors’ behavior.</a:t>
            </a:r>
          </a:p>
          <a:p>
            <a:pPr lvl="1"/>
            <a:r>
              <a:rPr lang="en-US" dirty="0"/>
              <a:t>Investors who speak FTR languages are more future oriented/forward looking and have lower discount rate for future payoffs.  </a:t>
            </a:r>
          </a:p>
        </p:txBody>
      </p:sp>
      <p:sp>
        <p:nvSpPr>
          <p:cNvPr id="4" name="Date Placeholder 3"/>
          <p:cNvSpPr>
            <a:spLocks noGrp="1"/>
          </p:cNvSpPr>
          <p:nvPr>
            <p:ph type="dt" sz="half" idx="10"/>
          </p:nvPr>
        </p:nvSpPr>
        <p:spPr/>
        <p:txBody>
          <a:bodyPr/>
          <a:lstStyle/>
          <a:p>
            <a:fld id="{0174CD38-7ADC-4877-8588-DD6D284F31EE}" type="datetime1">
              <a:rPr lang="zh-TW" altLang="en-US" smtClean="0"/>
              <a:t>2026/9/16</a:t>
            </a:fld>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36</a:t>
            </a:fld>
            <a:endParaRPr lang="zh-TW" altLang="en-US"/>
          </a:p>
        </p:txBody>
      </p:sp>
    </p:spTree>
    <p:extLst>
      <p:ext uri="{BB962C8B-B14F-4D97-AF65-F5344CB8AC3E}">
        <p14:creationId xmlns:p14="http://schemas.microsoft.com/office/powerpoint/2010/main" val="2516338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424362"/>
            <a:ext cx="7772400" cy="1609344"/>
          </a:xfrm>
        </p:spPr>
        <p:txBody>
          <a:bodyPr/>
          <a:lstStyle/>
          <a:p>
            <a:r>
              <a:rPr lang="en-US" dirty="0"/>
              <a:t>Motivation: FTR and Firm Disclosure</a:t>
            </a:r>
          </a:p>
        </p:txBody>
      </p:sp>
      <p:sp>
        <p:nvSpPr>
          <p:cNvPr id="3" name="Content Placeholder 2"/>
          <p:cNvSpPr>
            <a:spLocks noGrp="1"/>
          </p:cNvSpPr>
          <p:nvPr>
            <p:ph idx="1"/>
          </p:nvPr>
        </p:nvSpPr>
        <p:spPr>
          <a:xfrm>
            <a:off x="1996889" y="1556792"/>
            <a:ext cx="8229600" cy="4752528"/>
          </a:xfrm>
        </p:spPr>
        <p:txBody>
          <a:bodyPr>
            <a:normAutofit fontScale="85000" lnSpcReduction="10000"/>
          </a:bodyPr>
          <a:lstStyle/>
          <a:p>
            <a:endParaRPr lang="en-US" sz="1400" dirty="0"/>
          </a:p>
          <a:p>
            <a:endParaRPr lang="en-US" sz="1400" dirty="0"/>
          </a:p>
          <a:p>
            <a:r>
              <a:rPr lang="en-US" dirty="0"/>
              <a:t>We further ask this question: </a:t>
            </a:r>
            <a:r>
              <a:rPr lang="en-US" b="1" dirty="0"/>
              <a:t>When investors are more future-oriented, how would they influence firm disclosure?</a:t>
            </a:r>
            <a:endParaRPr lang="en-US" sz="1400" b="1" dirty="0"/>
          </a:p>
          <a:p>
            <a:pPr lvl="1"/>
            <a:r>
              <a:rPr lang="en-US" dirty="0"/>
              <a:t>Valuation purpose: weak-FTR speakers: (a) discount future payoffs less than strong-FTR speakers because they perceive the future as closer, and (b) value future payoffs more because they hold less precise beliefs about the timing of future payoffs than do their strong-FTR counterparts. </a:t>
            </a:r>
          </a:p>
          <a:p>
            <a:pPr lvl="1"/>
            <a:r>
              <a:rPr lang="en-US" dirty="0"/>
              <a:t>Monitoring purpose: investors in weak-FTR countries are expected to demand more management forecasts than their counterparts in strong-FTR countries to monitor managers and assess their ability to respond to future uncertainties. Since weak-FTR speakers view the future as more imminent, they care more about managers’ ability to anticipate and respond to future changes in firms’ economic environment.</a:t>
            </a:r>
          </a:p>
        </p:txBody>
      </p:sp>
      <p:sp>
        <p:nvSpPr>
          <p:cNvPr id="4" name="Date Placeholder 3"/>
          <p:cNvSpPr>
            <a:spLocks noGrp="1"/>
          </p:cNvSpPr>
          <p:nvPr>
            <p:ph type="dt" sz="half" idx="10"/>
          </p:nvPr>
        </p:nvSpPr>
        <p:spPr/>
        <p:txBody>
          <a:bodyPr/>
          <a:lstStyle/>
          <a:p>
            <a:fld id="{7D57A9B4-9D9D-4701-B159-31FC7A8F05CF}" type="datetime1">
              <a:rPr lang="zh-TW" altLang="en-US" smtClean="0"/>
              <a:t>2026/9/16</a:t>
            </a:fld>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37</a:t>
            </a:fld>
            <a:endParaRPr lang="zh-TW" altLang="en-US"/>
          </a:p>
        </p:txBody>
      </p:sp>
    </p:spTree>
    <p:extLst>
      <p:ext uri="{BB962C8B-B14F-4D97-AF65-F5344CB8AC3E}">
        <p14:creationId xmlns:p14="http://schemas.microsoft.com/office/powerpoint/2010/main" val="125325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44624"/>
            <a:ext cx="7772400" cy="1609344"/>
          </a:xfrm>
        </p:spPr>
        <p:txBody>
          <a:bodyPr/>
          <a:lstStyle/>
          <a:p>
            <a:r>
              <a:rPr lang="en-US" dirty="0"/>
              <a:t>Hypothesis 1</a:t>
            </a:r>
          </a:p>
        </p:txBody>
      </p:sp>
      <p:sp>
        <p:nvSpPr>
          <p:cNvPr id="3" name="Content Placeholder 2"/>
          <p:cNvSpPr>
            <a:spLocks noGrp="1"/>
          </p:cNvSpPr>
          <p:nvPr>
            <p:ph idx="1"/>
          </p:nvPr>
        </p:nvSpPr>
        <p:spPr>
          <a:xfrm>
            <a:off x="1981200" y="1340768"/>
            <a:ext cx="8435280" cy="4896544"/>
          </a:xfrm>
        </p:spPr>
        <p:txBody>
          <a:bodyPr>
            <a:noAutofit/>
          </a:bodyPr>
          <a:lstStyle/>
          <a:p>
            <a:r>
              <a:rPr lang="en-US" i="1" dirty="0"/>
              <a:t>All else being equal, firms in countries with weak-FTR languages exhibit a higher propensity and frequency in issuing management earnings forecasts, compared to those in countries with strong-FTR languages. </a:t>
            </a:r>
            <a:endParaRPr lang="en-US" sz="2200" dirty="0"/>
          </a:p>
        </p:txBody>
      </p:sp>
      <p:sp>
        <p:nvSpPr>
          <p:cNvPr id="4" name="Date Placeholder 3"/>
          <p:cNvSpPr>
            <a:spLocks noGrp="1"/>
          </p:cNvSpPr>
          <p:nvPr>
            <p:ph type="dt" sz="half" idx="10"/>
          </p:nvPr>
        </p:nvSpPr>
        <p:spPr/>
        <p:txBody>
          <a:bodyPr/>
          <a:lstStyle/>
          <a:p>
            <a:fld id="{0D19D815-E7F3-409D-861D-3FF5614A0024}" type="datetime1">
              <a:rPr lang="zh-TW" altLang="en-US" smtClean="0"/>
              <a:t>2026/9/16</a:t>
            </a:fld>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38</a:t>
            </a:fld>
            <a:endParaRPr lang="zh-TW" altLang="en-US"/>
          </a:p>
        </p:txBody>
      </p:sp>
    </p:spTree>
    <p:extLst>
      <p:ext uri="{BB962C8B-B14F-4D97-AF65-F5344CB8AC3E}">
        <p14:creationId xmlns:p14="http://schemas.microsoft.com/office/powerpoint/2010/main" val="16547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9772A-67F0-4C0F-8169-75E76E5F7BF1}"/>
              </a:ext>
            </a:extLst>
          </p:cNvPr>
          <p:cNvSpPr>
            <a:spLocks noGrp="1"/>
          </p:cNvSpPr>
          <p:nvPr>
            <p:ph type="title"/>
          </p:nvPr>
        </p:nvSpPr>
        <p:spPr>
          <a:xfrm>
            <a:off x="1981200" y="0"/>
            <a:ext cx="8229600" cy="1143000"/>
          </a:xfrm>
        </p:spPr>
        <p:txBody>
          <a:bodyPr/>
          <a:lstStyle/>
          <a:p>
            <a:r>
              <a:rPr lang="en-US" dirty="0"/>
              <a:t>Hypothesis 2</a:t>
            </a:r>
          </a:p>
        </p:txBody>
      </p:sp>
      <p:sp>
        <p:nvSpPr>
          <p:cNvPr id="3" name="Content Placeholder 2">
            <a:extLst>
              <a:ext uri="{FF2B5EF4-FFF2-40B4-BE49-F238E27FC236}">
                <a16:creationId xmlns:a16="http://schemas.microsoft.com/office/drawing/2014/main" id="{048EBB23-70DD-48B8-928B-277AF2A675EE}"/>
              </a:ext>
            </a:extLst>
          </p:cNvPr>
          <p:cNvSpPr>
            <a:spLocks noGrp="1"/>
          </p:cNvSpPr>
          <p:nvPr>
            <p:ph idx="1"/>
          </p:nvPr>
        </p:nvSpPr>
        <p:spPr>
          <a:xfrm>
            <a:off x="1752600" y="1235706"/>
            <a:ext cx="8229600" cy="4525963"/>
          </a:xfrm>
        </p:spPr>
        <p:txBody>
          <a:bodyPr>
            <a:normAutofit lnSpcReduction="10000"/>
          </a:bodyPr>
          <a:lstStyle/>
          <a:p>
            <a:r>
              <a:rPr lang="en-US" sz="2400" dirty="0"/>
              <a:t>Investors in weak-FTR countries consider the same long-horizon future as more imminent than those in strong-FTR countries, they naturally want to know more about earnings to be announced in a longer horizon, compared to their counterparts in strong-FTR countries. Meanwhile, investors in weak-FTR countries are also more concerned about managers’ ability to deal with uncertainties in the longer horizon compared to those in strong-FTR countries.</a:t>
            </a:r>
          </a:p>
          <a:p>
            <a:endParaRPr lang="en-US" sz="2400" dirty="0"/>
          </a:p>
          <a:p>
            <a:r>
              <a:rPr lang="en-US" sz="2200" i="1" dirty="0"/>
              <a:t>All else being equal, forecasting firms in countries with weak-FTR languages issue more long-horizon management earnings forecasts than their counterparts in countries with strong-FTR languages. </a:t>
            </a:r>
            <a:endParaRPr lang="en-US" sz="2200" dirty="0"/>
          </a:p>
        </p:txBody>
      </p:sp>
      <p:sp>
        <p:nvSpPr>
          <p:cNvPr id="4" name="Date Placeholder 3">
            <a:extLst>
              <a:ext uri="{FF2B5EF4-FFF2-40B4-BE49-F238E27FC236}">
                <a16:creationId xmlns:a16="http://schemas.microsoft.com/office/drawing/2014/main" id="{B9355F30-D0AE-4155-B5B9-A805EA94D2F0}"/>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9/16/2026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737E4EA6-FCA1-4ABD-8B5A-67DE0005152C}"/>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39</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256877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0112" y="0"/>
            <a:ext cx="7772400" cy="936104"/>
          </a:xfrm>
        </p:spPr>
        <p:txBody>
          <a:bodyPr/>
          <a:lstStyle/>
          <a:p>
            <a:r>
              <a:rPr lang="en-US" dirty="0"/>
              <a:t>Data</a:t>
            </a:r>
          </a:p>
        </p:txBody>
      </p:sp>
      <p:sp>
        <p:nvSpPr>
          <p:cNvPr id="3" name="Content Placeholder 2"/>
          <p:cNvSpPr>
            <a:spLocks noGrp="1"/>
          </p:cNvSpPr>
          <p:nvPr>
            <p:ph idx="1"/>
          </p:nvPr>
        </p:nvSpPr>
        <p:spPr>
          <a:xfrm>
            <a:off x="2006748" y="764704"/>
            <a:ext cx="8229600" cy="4752528"/>
          </a:xfrm>
        </p:spPr>
        <p:txBody>
          <a:bodyPr>
            <a:noAutofit/>
          </a:bodyPr>
          <a:lstStyle/>
          <a:p>
            <a:r>
              <a:rPr lang="en-US" sz="2200" dirty="0"/>
              <a:t>We collect international firm-level management forecast data for the period of 2004-2014 from Standard &amp; Poor’s Capital IQ. </a:t>
            </a:r>
          </a:p>
          <a:p>
            <a:endParaRPr lang="en-US" sz="1200" dirty="0"/>
          </a:p>
          <a:p>
            <a:r>
              <a:rPr lang="en-US" sz="2200" dirty="0"/>
              <a:t>We closely follow Chen (2013) and collect the data of dominant language in each country and the classification of each language as weak- or strong-FTR language.</a:t>
            </a:r>
          </a:p>
          <a:p>
            <a:endParaRPr lang="en-US" sz="1200" dirty="0"/>
          </a:p>
          <a:p>
            <a:r>
              <a:rPr lang="en-US" sz="2200" dirty="0"/>
              <a:t>We collect the data of country-level variables from various sources.</a:t>
            </a:r>
          </a:p>
          <a:p>
            <a:endParaRPr lang="en-US" sz="1200" dirty="0"/>
          </a:p>
          <a:p>
            <a:r>
              <a:rPr lang="en-US" sz="2200" dirty="0"/>
              <a:t>Control variables are from </a:t>
            </a:r>
            <a:r>
              <a:rPr lang="en-US" sz="2200" dirty="0" err="1"/>
              <a:t>Compustat</a:t>
            </a:r>
            <a:r>
              <a:rPr lang="en-US" sz="2200" dirty="0"/>
              <a:t> Global, IBES, and </a:t>
            </a:r>
            <a:r>
              <a:rPr lang="en-US" sz="2200" dirty="0" err="1"/>
              <a:t>FactSet</a:t>
            </a:r>
            <a:r>
              <a:rPr lang="en-US" sz="2200" dirty="0"/>
              <a:t>.</a:t>
            </a:r>
          </a:p>
          <a:p>
            <a:endParaRPr lang="en-US" sz="1200" dirty="0"/>
          </a:p>
          <a:p>
            <a:r>
              <a:rPr lang="en-US" sz="2200" dirty="0"/>
              <a:t>Our final sample consists of </a:t>
            </a:r>
            <a:r>
              <a:rPr lang="en-US" sz="2000" dirty="0"/>
              <a:t>139,825</a:t>
            </a:r>
            <a:r>
              <a:rPr lang="en-US" sz="2200" dirty="0"/>
              <a:t> firm-year observations from 36 countries.</a:t>
            </a:r>
          </a:p>
        </p:txBody>
      </p:sp>
      <p:sp>
        <p:nvSpPr>
          <p:cNvPr id="4" name="Date Placeholder 3"/>
          <p:cNvSpPr>
            <a:spLocks noGrp="1"/>
          </p:cNvSpPr>
          <p:nvPr>
            <p:ph type="dt" sz="half" idx="10"/>
          </p:nvPr>
        </p:nvSpPr>
        <p:spPr/>
        <p:txBody>
          <a:bodyPr/>
          <a:lstStyle/>
          <a:p>
            <a:fld id="{585898FC-E930-437D-AF6C-789449F5ECD0}" type="datetime1">
              <a:rPr lang="zh-TW" altLang="en-US" smtClean="0"/>
              <a:t>2026/9/16</a:t>
            </a:fld>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40</a:t>
            </a:fld>
            <a:endParaRPr lang="zh-TW" altLang="en-US"/>
          </a:p>
        </p:txBody>
      </p:sp>
    </p:spTree>
    <p:extLst>
      <p:ext uri="{BB962C8B-B14F-4D97-AF65-F5344CB8AC3E}">
        <p14:creationId xmlns:p14="http://schemas.microsoft.com/office/powerpoint/2010/main" val="30773232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0"/>
            <a:ext cx="8229600" cy="1143000"/>
          </a:xfrm>
        </p:spPr>
        <p:txBody>
          <a:bodyPr/>
          <a:lstStyle/>
          <a:p>
            <a:r>
              <a:rPr lang="en-US" dirty="0"/>
              <a:t>Main Variables</a:t>
            </a:r>
          </a:p>
        </p:txBody>
      </p:sp>
      <p:sp>
        <p:nvSpPr>
          <p:cNvPr id="3" name="Content Placeholder 2"/>
          <p:cNvSpPr>
            <a:spLocks noGrp="1"/>
          </p:cNvSpPr>
          <p:nvPr>
            <p:ph idx="1"/>
          </p:nvPr>
        </p:nvSpPr>
        <p:spPr>
          <a:xfrm>
            <a:off x="1996344" y="908720"/>
            <a:ext cx="8229600" cy="3124944"/>
          </a:xfrm>
        </p:spPr>
        <p:txBody>
          <a:bodyPr>
            <a:normAutofit fontScale="85000" lnSpcReduction="20000"/>
          </a:bodyPr>
          <a:lstStyle/>
          <a:p>
            <a:r>
              <a:rPr lang="en-US" sz="2400" dirty="0"/>
              <a:t>MF_PROP (Management Forecast Propensity): an indicator variable equal to 1 if a firm issues at least one management forecast in a given year and 0 otherwise. </a:t>
            </a:r>
          </a:p>
          <a:p>
            <a:r>
              <a:rPr lang="en-US" sz="2400" dirty="0"/>
              <a:t>MF_FREQ (Management Forecast Frequency): total number of management forecasts issued by a firm in a given year. </a:t>
            </a:r>
          </a:p>
          <a:p>
            <a:r>
              <a:rPr lang="en-US" sz="2400" dirty="0" err="1"/>
              <a:t>MF_LongHorizon</a:t>
            </a:r>
            <a:r>
              <a:rPr lang="en-US" sz="2400" dirty="0"/>
              <a:t>: Long-horizon forecasts, measured as the number of annual forecasts which are issued before the beginning of fourth quarter by a firm in a given year. </a:t>
            </a:r>
          </a:p>
          <a:p>
            <a:pPr lvl="0"/>
            <a:r>
              <a:rPr lang="en-US" sz="2400" dirty="0" err="1"/>
              <a:t>Weak_FTR</a:t>
            </a:r>
            <a:r>
              <a:rPr lang="en-US" sz="2400" dirty="0"/>
              <a:t>: an indicator variable equals one if the dominant language or office language in one country is weak-FTR language, and zero otherwise. </a:t>
            </a:r>
          </a:p>
        </p:txBody>
      </p:sp>
      <p:sp>
        <p:nvSpPr>
          <p:cNvPr id="4" name="Date Placeholder 3"/>
          <p:cNvSpPr>
            <a:spLocks noGrp="1"/>
          </p:cNvSpPr>
          <p:nvPr>
            <p:ph type="dt" sz="half" idx="10"/>
          </p:nvPr>
        </p:nvSpPr>
        <p:spPr/>
        <p:txBody>
          <a:bodyPr/>
          <a:lstStyle/>
          <a:p>
            <a:fld id="{96DC5A58-2F09-41F7-9153-40FD77D2BA7F}" type="datetime1">
              <a:rPr lang="zh-TW" altLang="en-US" smtClean="0"/>
              <a:t>2026/9/16</a:t>
            </a:fld>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41</a:t>
            </a:fld>
            <a:endParaRPr lang="zh-TW" altLang="en-US"/>
          </a:p>
        </p:txBody>
      </p:sp>
    </p:spTree>
    <p:extLst>
      <p:ext uri="{BB962C8B-B14F-4D97-AF65-F5344CB8AC3E}">
        <p14:creationId xmlns:p14="http://schemas.microsoft.com/office/powerpoint/2010/main" val="32605488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Baseline Regression</a:t>
            </a:r>
          </a:p>
        </p:txBody>
      </p:sp>
      <p:sp>
        <p:nvSpPr>
          <p:cNvPr id="3" name="Content Placeholder 2"/>
          <p:cNvSpPr>
            <a:spLocks noGrp="1"/>
          </p:cNvSpPr>
          <p:nvPr>
            <p:ph idx="1"/>
          </p:nvPr>
        </p:nvSpPr>
        <p:spPr>
          <a:xfrm>
            <a:off x="838200" y="1844824"/>
            <a:ext cx="9169146" cy="4050792"/>
          </a:xfrm>
        </p:spPr>
        <p:txBody>
          <a:bodyPr>
            <a:normAutofit/>
          </a:bodyPr>
          <a:lstStyle/>
          <a:p>
            <a:r>
              <a:rPr lang="en-US" dirty="0"/>
              <a:t>Baseline Regression</a:t>
            </a:r>
          </a:p>
          <a:p>
            <a:pPr lvl="1"/>
            <a:r>
              <a:rPr lang="en-US" b="1" dirty="0"/>
              <a:t>Based on our hypothesis, we expect to find a positive effect of Weak FTR on MF.</a:t>
            </a:r>
          </a:p>
          <a:p>
            <a:pPr lvl="1"/>
            <a:r>
              <a:rPr lang="en-US" dirty="0"/>
              <a:t>The controls variables are drawn on the extant literature.</a:t>
            </a:r>
          </a:p>
          <a:p>
            <a:pPr lvl="1"/>
            <a:r>
              <a:rPr lang="en-US" dirty="0"/>
              <a:t>We use industry fixed effects to capture firms’ litigation risk and industry level characteristics.</a:t>
            </a:r>
          </a:p>
          <a:p>
            <a:pPr lvl="1"/>
            <a:r>
              <a:rPr lang="en-US" dirty="0"/>
              <a:t>We control for year fixed effect.</a:t>
            </a:r>
          </a:p>
          <a:p>
            <a:pPr lvl="1"/>
            <a:endParaRPr lang="en-US" dirty="0"/>
          </a:p>
          <a:p>
            <a:pPr lvl="1"/>
            <a:r>
              <a:rPr lang="en-US" dirty="0"/>
              <a:t>We run Logit regression for MF_PROP and ordered Logit regression for MF_FREQ.</a:t>
            </a:r>
          </a:p>
        </p:txBody>
      </p:sp>
      <p:sp>
        <p:nvSpPr>
          <p:cNvPr id="4" name="Date Placeholder 3"/>
          <p:cNvSpPr>
            <a:spLocks noGrp="1"/>
          </p:cNvSpPr>
          <p:nvPr>
            <p:ph type="dt" sz="half" idx="10"/>
          </p:nvPr>
        </p:nvSpPr>
        <p:spPr/>
        <p:txBody>
          <a:bodyPr/>
          <a:lstStyle/>
          <a:p>
            <a:fld id="{F82A3302-CD88-4FE7-AC81-4A064DB03F3E}" type="datetime1">
              <a:rPr lang="zh-TW" altLang="en-US" smtClean="0"/>
              <a:t>2026/9/16</a:t>
            </a:fld>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42</a:t>
            </a:fld>
            <a:endParaRPr lang="zh-TW" altLang="en-US"/>
          </a:p>
        </p:txBody>
      </p:sp>
    </p:spTree>
    <p:extLst>
      <p:ext uri="{BB962C8B-B14F-4D97-AF65-F5344CB8AC3E}">
        <p14:creationId xmlns:p14="http://schemas.microsoft.com/office/powerpoint/2010/main" val="3752452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710D395-B041-4B13-B70D-1FAAEB7C440D}"/>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9/16/2026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F4D71CC0-A4D4-49FE-94B1-23A6DE18CA68}"/>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43</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C5A23E85-7446-4CAE-9722-015609D44A6B}"/>
              </a:ext>
            </a:extLst>
          </p:cNvPr>
          <p:cNvPicPr>
            <a:picLocks noChangeAspect="1"/>
          </p:cNvPicPr>
          <p:nvPr/>
        </p:nvPicPr>
        <p:blipFill>
          <a:blip r:embed="rId2"/>
          <a:stretch>
            <a:fillRect/>
          </a:stretch>
        </p:blipFill>
        <p:spPr>
          <a:xfrm>
            <a:off x="3515990" y="0"/>
            <a:ext cx="5160021" cy="6858000"/>
          </a:xfrm>
          <a:prstGeom prst="rect">
            <a:avLst/>
          </a:prstGeom>
        </p:spPr>
      </p:pic>
    </p:spTree>
    <p:extLst>
      <p:ext uri="{BB962C8B-B14F-4D97-AF65-F5344CB8AC3E}">
        <p14:creationId xmlns:p14="http://schemas.microsoft.com/office/powerpoint/2010/main" val="36338922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F4B85B1-C8C0-4C3D-B66D-7AA5DB7D595B}"/>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9/16/2026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841B5B15-D956-4A74-B3A1-DEB0CEC70724}"/>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44</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885AD98A-443D-4576-A1B1-8CB50822A6A8}"/>
              </a:ext>
            </a:extLst>
          </p:cNvPr>
          <p:cNvPicPr>
            <a:picLocks noChangeAspect="1"/>
          </p:cNvPicPr>
          <p:nvPr/>
        </p:nvPicPr>
        <p:blipFill>
          <a:blip r:embed="rId2"/>
          <a:stretch>
            <a:fillRect/>
          </a:stretch>
        </p:blipFill>
        <p:spPr>
          <a:xfrm>
            <a:off x="3011678" y="0"/>
            <a:ext cx="6168644" cy="6858000"/>
          </a:xfrm>
          <a:prstGeom prst="rect">
            <a:avLst/>
          </a:prstGeom>
        </p:spPr>
      </p:pic>
    </p:spTree>
    <p:extLst>
      <p:ext uri="{BB962C8B-B14F-4D97-AF65-F5344CB8AC3E}">
        <p14:creationId xmlns:p14="http://schemas.microsoft.com/office/powerpoint/2010/main" val="1925039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19472"/>
            <a:ext cx="8136904" cy="1609344"/>
          </a:xfrm>
        </p:spPr>
        <p:txBody>
          <a:bodyPr>
            <a:noAutofit/>
          </a:bodyPr>
          <a:lstStyle/>
          <a:p>
            <a:r>
              <a:rPr lang="en-US" dirty="0"/>
              <a:t>How to Mitigate ‘Omitted Variable’ Problem?</a:t>
            </a:r>
          </a:p>
        </p:txBody>
      </p:sp>
      <p:sp>
        <p:nvSpPr>
          <p:cNvPr id="3" name="Content Placeholder 2"/>
          <p:cNvSpPr>
            <a:spLocks noGrp="1"/>
          </p:cNvSpPr>
          <p:nvPr>
            <p:ph idx="1"/>
          </p:nvPr>
        </p:nvSpPr>
        <p:spPr>
          <a:xfrm>
            <a:off x="1989216" y="1484784"/>
            <a:ext cx="8229600" cy="5040544"/>
          </a:xfrm>
        </p:spPr>
        <p:txBody>
          <a:bodyPr>
            <a:normAutofit fontScale="92500" lnSpcReduction="20000"/>
          </a:bodyPr>
          <a:lstStyle/>
          <a:p>
            <a:r>
              <a:rPr lang="en-US" dirty="0"/>
              <a:t>Language in one country may be highly correlated with some variables (observable or unobservable), which may also affect MF.</a:t>
            </a:r>
          </a:p>
          <a:p>
            <a:pPr lvl="1"/>
            <a:r>
              <a:rPr lang="en-US" dirty="0"/>
              <a:t>For example, investor protection/stock market development/culture.</a:t>
            </a:r>
          </a:p>
          <a:p>
            <a:pPr lvl="1"/>
            <a:endParaRPr lang="en-US" sz="1200" dirty="0"/>
          </a:p>
          <a:p>
            <a:r>
              <a:rPr lang="en-US" dirty="0"/>
              <a:t>We perform three tests to mitigate this ‘omitted variable’ problem.</a:t>
            </a:r>
          </a:p>
          <a:p>
            <a:pPr lvl="1"/>
            <a:r>
              <a:rPr lang="en-US" dirty="0"/>
              <a:t>Control for other country level cultural factors.</a:t>
            </a:r>
          </a:p>
          <a:p>
            <a:pPr lvl="1"/>
            <a:r>
              <a:rPr lang="en-US" dirty="0"/>
              <a:t>Foreign institutional ownership (FIO) from weak-FTR countries</a:t>
            </a:r>
          </a:p>
          <a:p>
            <a:pPr lvl="2"/>
            <a:r>
              <a:rPr lang="en-US" dirty="0"/>
              <a:t>In subsample of countries with strong FTR languages (no variations in country-level FTR)</a:t>
            </a:r>
          </a:p>
          <a:p>
            <a:pPr lvl="2"/>
            <a:r>
              <a:rPr lang="en-US" dirty="0"/>
              <a:t>Firm-level difference in FTR arising from FIO can still explain MF.</a:t>
            </a:r>
          </a:p>
          <a:p>
            <a:pPr lvl="1"/>
            <a:r>
              <a:rPr lang="en-US" dirty="0"/>
              <a:t>Firms cross-listed in Germany</a:t>
            </a:r>
          </a:p>
          <a:p>
            <a:pPr lvl="2"/>
            <a:r>
              <a:rPr lang="en-US" dirty="0"/>
              <a:t>Firms from strong-FTR countries increase their MF, while firms from weak-FTR countries do not. </a:t>
            </a:r>
          </a:p>
        </p:txBody>
      </p:sp>
      <p:sp>
        <p:nvSpPr>
          <p:cNvPr id="4" name="Date Placeholder 3"/>
          <p:cNvSpPr>
            <a:spLocks noGrp="1"/>
          </p:cNvSpPr>
          <p:nvPr>
            <p:ph type="dt" sz="half" idx="10"/>
          </p:nvPr>
        </p:nvSpPr>
        <p:spPr/>
        <p:txBody>
          <a:bodyPr/>
          <a:lstStyle/>
          <a:p>
            <a:fld id="{7269AFE4-A5FE-4167-9396-A3C9998C0F45}" type="datetime1">
              <a:rPr lang="zh-TW" altLang="en-US" smtClean="0"/>
              <a:t>2026/9/16</a:t>
            </a:fld>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45</a:t>
            </a:fld>
            <a:endParaRPr lang="zh-TW" altLang="en-US"/>
          </a:p>
        </p:txBody>
      </p:sp>
    </p:spTree>
    <p:extLst>
      <p:ext uri="{BB962C8B-B14F-4D97-AF65-F5344CB8AC3E}">
        <p14:creationId xmlns:p14="http://schemas.microsoft.com/office/powerpoint/2010/main" val="6899468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810843-52CB-4802-BDB3-B76805E6DDDC}"/>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9/16/2026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894DDCE4-8B36-47E9-BFE3-569575265EE9}"/>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46</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7" name="Picture 6">
            <a:extLst>
              <a:ext uri="{FF2B5EF4-FFF2-40B4-BE49-F238E27FC236}">
                <a16:creationId xmlns:a16="http://schemas.microsoft.com/office/drawing/2014/main" id="{4C8E8848-0DC0-4BF3-AE00-C218616E249E}"/>
              </a:ext>
            </a:extLst>
          </p:cNvPr>
          <p:cNvPicPr>
            <a:picLocks noChangeAspect="1"/>
          </p:cNvPicPr>
          <p:nvPr/>
        </p:nvPicPr>
        <p:blipFill>
          <a:blip r:embed="rId2"/>
          <a:stretch>
            <a:fillRect/>
          </a:stretch>
        </p:blipFill>
        <p:spPr>
          <a:xfrm>
            <a:off x="1487488" y="273319"/>
            <a:ext cx="9144000" cy="2423577"/>
          </a:xfrm>
          <a:prstGeom prst="rect">
            <a:avLst/>
          </a:prstGeom>
        </p:spPr>
      </p:pic>
      <p:pic>
        <p:nvPicPr>
          <p:cNvPr id="8" name="Picture 7">
            <a:extLst>
              <a:ext uri="{FF2B5EF4-FFF2-40B4-BE49-F238E27FC236}">
                <a16:creationId xmlns:a16="http://schemas.microsoft.com/office/drawing/2014/main" id="{8287C3D1-E54C-49CA-8F1C-523CFF4AEE9D}"/>
              </a:ext>
            </a:extLst>
          </p:cNvPr>
          <p:cNvPicPr>
            <a:picLocks noChangeAspect="1"/>
          </p:cNvPicPr>
          <p:nvPr/>
        </p:nvPicPr>
        <p:blipFill>
          <a:blip r:embed="rId3"/>
          <a:stretch>
            <a:fillRect/>
          </a:stretch>
        </p:blipFill>
        <p:spPr>
          <a:xfrm>
            <a:off x="1487488" y="2974503"/>
            <a:ext cx="9144000" cy="1778821"/>
          </a:xfrm>
          <a:prstGeom prst="rect">
            <a:avLst/>
          </a:prstGeom>
        </p:spPr>
      </p:pic>
    </p:spTree>
    <p:extLst>
      <p:ext uri="{BB962C8B-B14F-4D97-AF65-F5344CB8AC3E}">
        <p14:creationId xmlns:p14="http://schemas.microsoft.com/office/powerpoint/2010/main" val="30351567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64513D0-DE44-40B6-A900-3C00EFEEBBB5}"/>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9/16/2026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8CBD0FC7-FF79-4D38-8E38-DBC96CD752E5}"/>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47</a:t>
            </a:fld>
            <a:endParaRPr lang="en-US" dirty="0">
              <a:latin typeface="Calibri" panose="020F0502020204030204" pitchFamily="34" charset="0"/>
              <a:ea typeface="PMingLiU"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83C8B8F0-0BA9-44F8-9BFD-30A7C0DB60AF}"/>
              </a:ext>
            </a:extLst>
          </p:cNvPr>
          <p:cNvPicPr>
            <a:picLocks noChangeAspect="1"/>
          </p:cNvPicPr>
          <p:nvPr/>
        </p:nvPicPr>
        <p:blipFill>
          <a:blip r:embed="rId2"/>
          <a:stretch>
            <a:fillRect/>
          </a:stretch>
        </p:blipFill>
        <p:spPr>
          <a:xfrm>
            <a:off x="1524000" y="2134590"/>
            <a:ext cx="9144000" cy="2588820"/>
          </a:xfrm>
          <a:prstGeom prst="rect">
            <a:avLst/>
          </a:prstGeom>
        </p:spPr>
      </p:pic>
    </p:spTree>
    <p:extLst>
      <p:ext uri="{BB962C8B-B14F-4D97-AF65-F5344CB8AC3E}">
        <p14:creationId xmlns:p14="http://schemas.microsoft.com/office/powerpoint/2010/main" val="3584404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Robustness Tests</a:t>
            </a:r>
          </a:p>
        </p:txBody>
      </p:sp>
      <p:sp>
        <p:nvSpPr>
          <p:cNvPr id="3" name="Content Placeholder 2"/>
          <p:cNvSpPr>
            <a:spLocks noGrp="1"/>
          </p:cNvSpPr>
          <p:nvPr>
            <p:ph idx="1"/>
          </p:nvPr>
        </p:nvSpPr>
        <p:spPr/>
        <p:txBody>
          <a:bodyPr>
            <a:normAutofit/>
          </a:bodyPr>
          <a:lstStyle/>
          <a:p>
            <a:r>
              <a:rPr lang="en-US" dirty="0"/>
              <a:t>Robustness Tests</a:t>
            </a:r>
          </a:p>
          <a:p>
            <a:pPr lvl="1"/>
            <a:r>
              <a:rPr lang="en-US" dirty="0"/>
              <a:t>Alternative measures of FTR</a:t>
            </a:r>
          </a:p>
          <a:p>
            <a:pPr lvl="2"/>
            <a:r>
              <a:rPr lang="en-US" dirty="0"/>
              <a:t>“</a:t>
            </a:r>
            <a:r>
              <a:rPr lang="en-US" dirty="0" err="1"/>
              <a:t>Verb_ratio</a:t>
            </a:r>
            <a:r>
              <a:rPr lang="en-US" dirty="0"/>
              <a:t>” is the number of grammatically future-marked verbs divided by the total number of future-referring verbs. </a:t>
            </a:r>
          </a:p>
          <a:p>
            <a:pPr lvl="2"/>
            <a:r>
              <a:rPr lang="en-US" dirty="0"/>
              <a:t>“</a:t>
            </a:r>
            <a:r>
              <a:rPr lang="en-US" dirty="0" err="1"/>
              <a:t>Sentence_ratio</a:t>
            </a:r>
            <a:r>
              <a:rPr lang="en-US" dirty="0"/>
              <a:t>” measures what share of sentences regarding future contains a grammatical future marker.</a:t>
            </a:r>
          </a:p>
          <a:p>
            <a:pPr marL="914400" lvl="2" indent="0">
              <a:buNone/>
            </a:pPr>
            <a:endParaRPr lang="en-US" dirty="0"/>
          </a:p>
          <a:p>
            <a:pPr lvl="1"/>
            <a:r>
              <a:rPr lang="en-US" dirty="0"/>
              <a:t>Subsample analyses</a:t>
            </a:r>
          </a:p>
        </p:txBody>
      </p:sp>
      <p:sp>
        <p:nvSpPr>
          <p:cNvPr id="4" name="Date Placeholder 3"/>
          <p:cNvSpPr>
            <a:spLocks noGrp="1"/>
          </p:cNvSpPr>
          <p:nvPr>
            <p:ph type="dt" sz="half" idx="10"/>
          </p:nvPr>
        </p:nvSpPr>
        <p:spPr/>
        <p:txBody>
          <a:bodyPr/>
          <a:lstStyle/>
          <a:p>
            <a:fld id="{6736F361-F324-401E-939C-268BDF3C6368}" type="datetime1">
              <a:rPr lang="zh-TW" altLang="en-US" smtClean="0"/>
              <a:t>2026/9/16</a:t>
            </a:fld>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48</a:t>
            </a:fld>
            <a:endParaRPr lang="zh-TW" altLang="en-US"/>
          </a:p>
        </p:txBody>
      </p:sp>
    </p:spTree>
    <p:extLst>
      <p:ext uri="{BB962C8B-B14F-4D97-AF65-F5344CB8AC3E}">
        <p14:creationId xmlns:p14="http://schemas.microsoft.com/office/powerpoint/2010/main" val="28714414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BD2F6-9A87-8D2A-4E60-C7757EDE4C8A}"/>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5E943511-07B8-1CE4-6A9F-0995FDB2A008}"/>
              </a:ext>
            </a:extLst>
          </p:cNvPr>
          <p:cNvSpPr>
            <a:spLocks noGrp="1"/>
          </p:cNvSpPr>
          <p:nvPr>
            <p:ph idx="1"/>
          </p:nvPr>
        </p:nvSpPr>
        <p:spPr/>
        <p:txBody>
          <a:bodyPr/>
          <a:lstStyle/>
          <a:p>
            <a:r>
              <a:rPr lang="en-US" dirty="0"/>
              <a:t>We find robust evidence that firms in countries that speak weak-FTR languages issue more (long-horizon) management forecasts relative to firms in countries that speak strong-FTR languages. </a:t>
            </a:r>
          </a:p>
        </p:txBody>
      </p:sp>
      <p:sp>
        <p:nvSpPr>
          <p:cNvPr id="4" name="Date Placeholder 3">
            <a:extLst>
              <a:ext uri="{FF2B5EF4-FFF2-40B4-BE49-F238E27FC236}">
                <a16:creationId xmlns:a16="http://schemas.microsoft.com/office/drawing/2014/main" id="{F3A63A67-C149-0280-8883-20CE4D8ED006}"/>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9/16/2026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5CA1B77D-9A87-B93B-9125-103E8E63EB67}"/>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49</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2064866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188640"/>
            <a:ext cx="7772400" cy="1609344"/>
          </a:xfrm>
        </p:spPr>
        <p:txBody>
          <a:bodyPr/>
          <a:lstStyle/>
          <a:p>
            <a:r>
              <a:rPr lang="en-US" dirty="0"/>
              <a:t>Potential Contributions</a:t>
            </a:r>
          </a:p>
        </p:txBody>
      </p:sp>
      <p:sp>
        <p:nvSpPr>
          <p:cNvPr id="3" name="Content Placeholder 2"/>
          <p:cNvSpPr>
            <a:spLocks noGrp="1"/>
          </p:cNvSpPr>
          <p:nvPr>
            <p:ph idx="1"/>
          </p:nvPr>
        </p:nvSpPr>
        <p:spPr>
          <a:xfrm>
            <a:off x="1981200" y="1484785"/>
            <a:ext cx="8229600" cy="4525963"/>
          </a:xfrm>
        </p:spPr>
        <p:txBody>
          <a:bodyPr>
            <a:normAutofit/>
          </a:bodyPr>
          <a:lstStyle/>
          <a:p>
            <a:r>
              <a:rPr lang="en-US" dirty="0"/>
              <a:t>First, we present the first evidence on how languages investors speak influence investors’ demand for forward-looking disclosure.</a:t>
            </a:r>
          </a:p>
          <a:p>
            <a:endParaRPr lang="en-US" dirty="0"/>
          </a:p>
          <a:p>
            <a:r>
              <a:rPr lang="en-US" dirty="0"/>
              <a:t>Second, we show empirical evidence on the determinant of management forecasts around the world.</a:t>
            </a:r>
          </a:p>
        </p:txBody>
      </p:sp>
      <p:sp>
        <p:nvSpPr>
          <p:cNvPr id="4" name="Date Placeholder 3"/>
          <p:cNvSpPr>
            <a:spLocks noGrp="1"/>
          </p:cNvSpPr>
          <p:nvPr>
            <p:ph type="dt" sz="half" idx="10"/>
          </p:nvPr>
        </p:nvSpPr>
        <p:spPr/>
        <p:txBody>
          <a:bodyPr/>
          <a:lstStyle/>
          <a:p>
            <a:fld id="{3FFA7894-E391-4B17-8129-744DC99A6C48}" type="datetime1">
              <a:rPr lang="zh-TW" altLang="en-US" smtClean="0"/>
              <a:t>2026/9/16</a:t>
            </a:fld>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t>50</a:t>
            </a:fld>
            <a:endParaRPr lang="zh-TW" altLang="en-US"/>
          </a:p>
        </p:txBody>
      </p:sp>
    </p:spTree>
    <p:extLst>
      <p:ext uri="{BB962C8B-B14F-4D97-AF65-F5344CB8AC3E}">
        <p14:creationId xmlns:p14="http://schemas.microsoft.com/office/powerpoint/2010/main" val="37566378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0C3D55-AA85-8738-C0C5-45819DDDFE56}"/>
              </a:ext>
            </a:extLst>
          </p:cNvPr>
          <p:cNvSpPr>
            <a:spLocks noGrp="1"/>
          </p:cNvSpPr>
          <p:nvPr>
            <p:ph idx="1"/>
          </p:nvPr>
        </p:nvSpPr>
        <p:spPr/>
        <p:txBody>
          <a:bodyPr/>
          <a:lstStyle/>
          <a:p>
            <a:r>
              <a:rPr lang="en-US" dirty="0"/>
              <a:t>Week 2 homework question: Proprietary cost of disclosure is often defined as the economic losses incurred when product market competitors exploit the disclosed information to the disadvantage of the disclosing firm. What other sources could give rise to the proprietary cost of disclosure? </a:t>
            </a:r>
          </a:p>
        </p:txBody>
      </p:sp>
      <p:sp>
        <p:nvSpPr>
          <p:cNvPr id="4" name="Date Placeholder 3">
            <a:extLst>
              <a:ext uri="{FF2B5EF4-FFF2-40B4-BE49-F238E27FC236}">
                <a16:creationId xmlns:a16="http://schemas.microsoft.com/office/drawing/2014/main" id="{D54E5C6F-316E-EC90-4C7F-59EB8A958ACE}"/>
              </a:ext>
            </a:extLst>
          </p:cNvPr>
          <p:cNvSpPr>
            <a:spLocks noGrp="1"/>
          </p:cNvSpPr>
          <p:nvPr>
            <p:ph type="dt" sz="half" idx="10"/>
          </p:nvPr>
        </p:nvSpPr>
        <p:spPr/>
        <p:txBody>
          <a:bodyPr/>
          <a:lstStyle/>
          <a:p>
            <a:fld id="{5F095013-FAFA-4996-A6F8-1F75D307863F}" type="datetime1">
              <a:rPr lang="zh-CN" altLang="en-US" smtClean="0"/>
              <a:t>2026/9/16</a:t>
            </a:fld>
            <a:endParaRPr lang="zh-CN" altLang="en-US"/>
          </a:p>
        </p:txBody>
      </p:sp>
      <p:sp>
        <p:nvSpPr>
          <p:cNvPr id="5" name="Slide Number Placeholder 4">
            <a:extLst>
              <a:ext uri="{FF2B5EF4-FFF2-40B4-BE49-F238E27FC236}">
                <a16:creationId xmlns:a16="http://schemas.microsoft.com/office/drawing/2014/main" id="{21A55532-CA8F-A549-A2AB-2B71C436BC6F}"/>
              </a:ext>
            </a:extLst>
          </p:cNvPr>
          <p:cNvSpPr>
            <a:spLocks noGrp="1"/>
          </p:cNvSpPr>
          <p:nvPr>
            <p:ph type="sldNum" sz="quarter" idx="12"/>
          </p:nvPr>
        </p:nvSpPr>
        <p:spPr/>
        <p:txBody>
          <a:bodyPr/>
          <a:lstStyle/>
          <a:p>
            <a:fld id="{1778BC13-B753-4634-A5F7-9F4F7C9ECC5F}" type="slidenum">
              <a:rPr lang="zh-CN" altLang="en-US" smtClean="0"/>
              <a:t>51</a:t>
            </a:fld>
            <a:endParaRPr lang="zh-CN" altLang="en-US"/>
          </a:p>
        </p:txBody>
      </p:sp>
    </p:spTree>
    <p:extLst>
      <p:ext uri="{BB962C8B-B14F-4D97-AF65-F5344CB8AC3E}">
        <p14:creationId xmlns:p14="http://schemas.microsoft.com/office/powerpoint/2010/main" val="229144554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7860</TotalTime>
  <Words>3677</Words>
  <Application>Microsoft Office PowerPoint</Application>
  <PresentationFormat>Widescreen</PresentationFormat>
  <Paragraphs>286</Paragraphs>
  <Slides>51</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等线</vt:lpstr>
      <vt:lpstr>等线 Light</vt:lpstr>
      <vt:lpstr>NewBaskerville</vt:lpstr>
      <vt:lpstr>PMingLiU</vt:lpstr>
      <vt:lpstr>Arial</vt:lpstr>
      <vt:lpstr>Calibri</vt:lpstr>
      <vt:lpstr>Century</vt:lpstr>
      <vt:lpstr>Century Schoolbook</vt:lpstr>
      <vt:lpstr>Times New Roman</vt:lpstr>
      <vt:lpstr>Wingdings</vt:lpstr>
      <vt:lpstr>Office 主题​​</vt:lpstr>
      <vt:lpstr>PowerPoint Presentation</vt:lpstr>
      <vt:lpstr>Homework: Why is voluntary disclosure not cheap talk? </vt:lpstr>
      <vt:lpstr>PowerPoint Presentation</vt:lpstr>
      <vt:lpstr>Hirst, D. E., Koonce, L., &amp; Venkataraman, S. (2007). How disaggregation enhances the credibility of management earnings forecasts (JAR) </vt:lpstr>
      <vt:lpstr>PowerPoint Presentation</vt:lpstr>
      <vt:lpstr>Lee, S., Matsunaga, S. R., &amp; Park, C. W. (2012). Management forecast accuracy and CEO turnover (TAR)</vt:lpstr>
      <vt:lpstr>(Dis)incentives for Voluntary Disclosure</vt:lpstr>
      <vt:lpstr>(Dis)incentives for Voluntary Disclosure</vt:lpstr>
      <vt:lpstr>(Dis)incentives: Information Demand</vt:lpstr>
      <vt:lpstr>Boone, A. L., &amp; White, J. T. (2015). The effect of institutional ownership on firm transparency and information production. Journal of financial economics, 117(3), 508-533.</vt:lpstr>
      <vt:lpstr>PowerPoint Presentation</vt:lpstr>
      <vt:lpstr>(Dis)incentives: Career Concern</vt:lpstr>
      <vt:lpstr>Kothari, S.P., Shu, S., Wysocki, P.D., 2009. Do managers with hold bad news? Journal of Accounting Research 47(1): 241–276.</vt:lpstr>
      <vt:lpstr>PowerPoint Presentation</vt:lpstr>
      <vt:lpstr>PowerPoint Presentation</vt:lpstr>
      <vt:lpstr>Dis(incentives): Litigation Risk</vt:lpstr>
      <vt:lpstr>Bourveau, T., Y. Lou, and R. Wang. 2018. Shareholder litigation and corporate disclosure: evidence from derivative law suits. Journal of Accounting and Research 56 (3): 797-842.</vt:lpstr>
      <vt:lpstr>PowerPoint Presentation</vt:lpstr>
      <vt:lpstr>(Dis)incentive: Proprietary Cost</vt:lpstr>
      <vt:lpstr>Ellis, J. A., Fee, C. E., &amp; Thomas, S. E. (2012). Proprietary costs and the disclosure of information about customers. Journal of Accounting Research, 50(3), 685-727. </vt:lpstr>
      <vt:lpstr>PowerPoint Presentation</vt:lpstr>
      <vt:lpstr>Kim, Y., Su, L., Wang, Z., &amp; Wu, H. (2021). The effect of trade secrets law on stock price synchronicity: Evidence from the inevitable disclosure doctrine (TAR)</vt:lpstr>
      <vt:lpstr>Kim, Y., Su, L., Wang, Z., &amp; Wu, H. (2021). The effect of trade secrets law on stock price synchronicity: Evidence from the inevitable disclosure doctrine (TAR)</vt:lpstr>
      <vt:lpstr>Kim, Y., Su, L., Wang, Z., &amp; Wu, H. (2021). The effect of trade secrets law on stock price synchronicity: Evidence from the inevitable disclosure doctrine (TAR)</vt:lpstr>
      <vt:lpstr>PowerPoint Presentation</vt:lpstr>
      <vt:lpstr>(Dis)incentives: Management Style and Ability</vt:lpstr>
      <vt:lpstr>Bamber, L. S., Jiang, J., &amp; Wang, I. Y. (2010). What’s my style? The influence of top managers on voluntary corporate financial disclosure (TAR) </vt:lpstr>
      <vt:lpstr>Li, F., Minnis, M., Nagar, V., &amp; Rajan, M. (2014). Knowledge, compensation, and firm value: An empirical analysis of firm communication (JAR)</vt:lpstr>
      <vt:lpstr>How to do a “research project”</vt:lpstr>
      <vt:lpstr>(Self-) Assess Research Paper (Evans et al. CAR2015, Appendix)</vt:lpstr>
      <vt:lpstr>PowerPoint Presentation</vt:lpstr>
      <vt:lpstr>Languages and Management Forecasts around the World</vt:lpstr>
      <vt:lpstr>Motivation: Language Shapes Thoughts</vt:lpstr>
      <vt:lpstr>A 2016 Movie: Arrival</vt:lpstr>
      <vt:lpstr>Motivation: Language Shapes Thoughts</vt:lpstr>
      <vt:lpstr>Motivation: Language Shapes Thoughts (Cont.)</vt:lpstr>
      <vt:lpstr>Motivation: FTR and Firm Disclosure</vt:lpstr>
      <vt:lpstr>Hypothesis 1</vt:lpstr>
      <vt:lpstr>Hypothesis 2</vt:lpstr>
      <vt:lpstr>Data</vt:lpstr>
      <vt:lpstr>Main Variables</vt:lpstr>
      <vt:lpstr>Baseline Regression</vt:lpstr>
      <vt:lpstr>PowerPoint Presentation</vt:lpstr>
      <vt:lpstr>PowerPoint Presentation</vt:lpstr>
      <vt:lpstr>How to Mitigate ‘Omitted Variable’ Problem?</vt:lpstr>
      <vt:lpstr>PowerPoint Presentation</vt:lpstr>
      <vt:lpstr>PowerPoint Presentation</vt:lpstr>
      <vt:lpstr>Robustness Tests</vt:lpstr>
      <vt:lpstr>Conclusions</vt:lpstr>
      <vt:lpstr>Potential Contributions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Gaole</dc:creator>
  <cp:lastModifiedBy>Prof. WANG Zheng</cp:lastModifiedBy>
  <cp:revision>332</cp:revision>
  <dcterms:created xsi:type="dcterms:W3CDTF">2023-10-03T09:09:50Z</dcterms:created>
  <dcterms:modified xsi:type="dcterms:W3CDTF">2026-09-16T08:33:22Z</dcterms:modified>
</cp:coreProperties>
</file>